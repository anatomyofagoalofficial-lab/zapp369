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BF4E2"/>
                </a:solidFill>
                <a:latin typeface="Cambria"/>
              </a:defRPr>
            </a:pPr>
            <a:r>
              <a:rPr sz="1400" b="0" i="0" u="none" strike="noStrike">
                <a:solidFill>
                  <a:srgbClr val="FBF4E2"/>
                </a:solidFill>
                <a:latin typeface="Cambria"/>
              </a:rPr>
              <a:t>The floor, built from sales alone</a:t>
            </a:r>
          </a:p>
        </c:rich>
      </c:tx>
      <c:layout/>
      <c:overlay val="0"/>
    </c:title>
    <c:autoTitleDeleted val="0"/>
    <c:plotArea>
      <c:layout/>
      <c:lineChart>
        <c:varyColors val="0"/>
        <c:ser>
          <c:idx val="0"/>
          <c:order val="0"/>
          <c:tx>
            <c:strRef>
              <c:f>Sheet1!$B$1</c:f>
              <c:strCache>
                <c:ptCount val="1"/>
                <c:pt idx="0">
                  <c:v>Value behind one coin</c:v>
                </c:pt>
              </c:strCache>
            </c:strRef>
          </c:tx>
          <c:spPr>
            <a:solidFill>
              <a:srgbClr val="C8960A"/>
            </a:solidFill>
            <a:ln w="38100" cap="flat">
              <a:solidFill>
                <a:srgbClr val="C8960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8960A"/>
              </a:solidFill>
              <a:ln w="9525" cap="flat">
                <a:solidFill>
                  <a:srgbClr val="C8960A"/>
                </a:solidFill>
                <a:prstDash val="solid"/>
                <a:round/>
              </a:ln>
              <a:effectLst/>
            </c:spPr>
          </c:marker>
          <c:cat>
            <c:multiLvlStrRef>
              <c:f>Sheet1!$A$2:$A$5</c:f>
              <c:multiLvlStrCache>
                <c:ptCount val="4"/>
                <c:lvl>
                  <c:pt idx="0">
                    <c:v>Today</c:v>
                  </c:pt>
                  <c:pt idx="1">
                    <c:v>Month 6</c:v>
                  </c:pt>
                  <c:pt idx="2">
                    <c:v>Month 12</c:v>
                  </c:pt>
                  <c:pt idx="3">
                    <c:v>Month 24</c:v>
                  </c:pt>
                </c:lvl>
              </c:multiLvlStrCache>
            </c:multiLvlStrRef>
          </c:cat>
          <c:val>
            <c:numRef>
              <c:f>Sheet1!$B$2:$B$5</c:f>
              <c:numCache>
                <c:formatCode>General</c:formatCode>
                <c:ptCount val="4"/>
                <c:pt idx="0">
                  <c:v>0</c:v>
                </c:pt>
                <c:pt idx="1">
                  <c:v>0.0000074</c:v>
                </c:pt>
                <c:pt idx="2">
                  <c:v>0.0000152</c:v>
                </c:pt>
                <c:pt idx="3">
                  <c:v>0.0000322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B8A6B"/>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3A2C1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B8A6B"/>
                </a:solidFill>
                <a:latin typeface="Calibri"/>
              </a:defRPr>
            </a:pPr>
            <a:endParaRPr lang="en-US"/>
          </a:p>
        </c:txPr>
        <c:crossAx val="2094734554"/>
        <c:crosses val="autoZero"/>
        <c:crossBetween val="between"/>
      </c:valAx>
      <c:spPr>
        <a:solidFill>
          <a:srgbClr val="17110A"/>
        </a:solidFill>
        <a:ln>
          <a:noFill/>
        </a:ln>
        <a:effectLst/>
      </c:spPr>
    </c:plotArea>
    <c:plotVisOnly val="1"/>
    <c:dispBlanksAs val="span"/>
  </c:chart>
  <c:spPr>
    <a:solidFill>
      <a:srgbClr val="17110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and a half months from launch. Everything in this deck is live or it is not in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idea, not the token. The thesis origin separates this from a meme with no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credibility slide. Every number here can be checked by a stranger in under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hide the size. Being early and honest is more persuasive than pretending to be big.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early, and without flinching. Anyone doing real diligence will find the chart. Being the one who tells them first is worth more than the numbers you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are illustrative examples of how the maths behaves, not a forecast and not a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 percent to people is what stops the model being a Ponzi. Say that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values slide, and the one to slow down on. Everything else is evidence for these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 is a genuine differentiator. Most projects rent Rose. This one is written for ZAPP.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achievement of the last month. The roadmap has been updated to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sports items are drafted until a manufacturer is signed. Sneakers were cut, they need 500 pairs minimum.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with no fund and no backer. Say that out loud, it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that Jupiter verification and CMC are applications, not achievements.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close on the creed and the disclaimer. Never close on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1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394960" y="1051560"/>
            <a:ext cx="1371600" cy="1371600"/>
          </a:xfrm>
          <a:prstGeom prst="rect">
            <a:avLst/>
          </a:prstGeom>
        </p:spPr>
      </p:pic>
      <p:sp>
        <p:nvSpPr>
          <p:cNvPr id="3" name="Text 0"/>
          <p:cNvSpPr/>
          <p:nvPr/>
        </p:nvSpPr>
        <p:spPr>
          <a:xfrm>
            <a:off x="640080" y="2651760"/>
            <a:ext cx="10881360" cy="1005840"/>
          </a:xfrm>
          <a:prstGeom prst="rect">
            <a:avLst/>
          </a:prstGeom>
          <a:noFill/>
          <a:ln/>
        </p:spPr>
        <p:txBody>
          <a:bodyPr wrap="square" lIns="0" tIns="0" rIns="0" bIns="0" rtlCol="0" anchor="ctr"/>
          <a:lstStyle/>
          <a:p>
            <a:pPr algn="ctr" indent="0" marL="0">
              <a:buNone/>
            </a:pPr>
            <a:r>
              <a:rPr lang="en-US" sz="6000" b="1" dirty="0">
                <a:solidFill>
                  <a:srgbClr val="FBF4E2"/>
                </a:solidFill>
                <a:latin typeface="Cambria" pitchFamily="34" charset="0"/>
                <a:ea typeface="Cambria" pitchFamily="34" charset="-122"/>
                <a:cs typeface="Cambria" pitchFamily="34" charset="-120"/>
              </a:rPr>
              <a:t>⚡ZAPP</a:t>
            </a:r>
            <a:endParaRPr lang="en-US" sz="6000" dirty="0"/>
          </a:p>
        </p:txBody>
      </p:sp>
      <p:sp>
        <p:nvSpPr>
          <p:cNvPr id="4" name="Text 1"/>
          <p:cNvSpPr/>
          <p:nvPr/>
        </p:nvSpPr>
        <p:spPr>
          <a:xfrm>
            <a:off x="640080" y="3703320"/>
            <a:ext cx="10881360" cy="411480"/>
          </a:xfrm>
          <a:prstGeom prst="rect">
            <a:avLst/>
          </a:prstGeom>
          <a:noFill/>
          <a:ln/>
        </p:spPr>
        <p:txBody>
          <a:bodyPr wrap="square" lIns="0" tIns="0" rIns="0" bIns="0" rtlCol="0" anchor="ctr"/>
          <a:lstStyle/>
          <a:p>
            <a:pPr algn="ctr" indent="0" marL="0">
              <a:buNone/>
            </a:pPr>
            <a:r>
              <a:rPr lang="en-US" sz="2100" dirty="0">
                <a:solidFill>
                  <a:srgbClr val="C8960A"/>
                </a:solidFill>
                <a:latin typeface="Cambria" pitchFamily="34" charset="0"/>
                <a:ea typeface="Cambria" pitchFamily="34" charset="-122"/>
                <a:cs typeface="Cambria" pitchFamily="34" charset="-120"/>
              </a:rPr>
              <a:t>Tesla's Revolution · on Solana</a:t>
            </a:r>
            <a:endParaRPr lang="en-US" sz="2100" dirty="0"/>
          </a:p>
        </p:txBody>
      </p:sp>
      <p:sp>
        <p:nvSpPr>
          <p:cNvPr id="5" name="Text 2"/>
          <p:cNvSpPr/>
          <p:nvPr/>
        </p:nvSpPr>
        <p:spPr>
          <a:xfrm>
            <a:off x="640080" y="4160520"/>
            <a:ext cx="10881360" cy="365760"/>
          </a:xfrm>
          <a:prstGeom prst="rect">
            <a:avLst/>
          </a:prstGeom>
          <a:noFill/>
          <a:ln/>
        </p:spPr>
        <p:txBody>
          <a:bodyPr wrap="square" lIns="0" tIns="0" rIns="0" bIns="0" rtlCol="0" anchor="ctr"/>
          <a:lstStyle/>
          <a:p>
            <a:pPr algn="ctr" indent="0" marL="0">
              <a:buNone/>
            </a:pPr>
            <a:r>
              <a:rPr lang="en-US" sz="1500" dirty="0">
                <a:solidFill>
                  <a:srgbClr val="9B8A6B"/>
                </a:solidFill>
                <a:latin typeface="Calibri" pitchFamily="34" charset="0"/>
                <a:ea typeface="Calibri" pitchFamily="34" charset="-122"/>
                <a:cs typeface="Calibri" pitchFamily="34" charset="-120"/>
              </a:rPr>
              <a:t>Free Energy = Free Money  ∞</a:t>
            </a:r>
            <a:endParaRPr lang="en-US" sz="1500" dirty="0"/>
          </a:p>
        </p:txBody>
      </p:sp>
      <p:sp>
        <p:nvSpPr>
          <p:cNvPr id="6" name="Text 3"/>
          <p:cNvSpPr/>
          <p:nvPr/>
        </p:nvSpPr>
        <p:spPr>
          <a:xfrm>
            <a:off x="640080" y="5760720"/>
            <a:ext cx="10881360" cy="274320"/>
          </a:xfrm>
          <a:prstGeom prst="rect">
            <a:avLst/>
          </a:prstGeom>
          <a:noFill/>
          <a:ln/>
        </p:spPr>
        <p:txBody>
          <a:bodyPr wrap="square" lIns="0" tIns="0" rIns="0" bIns="0" rtlCol="0" anchor="ctr"/>
          <a:lstStyle/>
          <a:p>
            <a:pPr algn="ctr" indent="0" marL="0">
              <a:buNone/>
            </a:pPr>
            <a:r>
              <a:rPr lang="en-US" sz="1100" dirty="0">
                <a:solidFill>
                  <a:srgbClr val="5E4C2E"/>
                </a:solidFill>
                <a:latin typeface="Calibri" pitchFamily="34" charset="0"/>
                <a:ea typeface="Calibri" pitchFamily="34" charset="-122"/>
                <a:cs typeface="Calibri" pitchFamily="34" charset="-120"/>
              </a:rPr>
              <a:t>zapp369.energy   ·   zapp369.com   ·   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110A"/>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250" kern="0" dirty="0">
                <a:solidFill>
                  <a:srgbClr val="C8960A"/>
                </a:solidFill>
                <a:latin typeface="Calibri" pitchFamily="34" charset="0"/>
                <a:ea typeface="Calibri" pitchFamily="34" charset="-122"/>
                <a:cs typeface="Calibri" pitchFamily="34" charset="-120"/>
              </a:rPr>
              <a:t>THE ONE IDEA</a:t>
            </a:r>
            <a:endParaRPr lang="en-US" sz="110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indent="0" marL="0">
              <a:buNone/>
            </a:pPr>
            <a:r>
              <a:rPr lang="en-US" sz="3400" b="1" dirty="0">
                <a:solidFill>
                  <a:srgbClr val="FBF4E2"/>
                </a:solidFill>
                <a:latin typeface="Cambria" pitchFamily="34" charset="0"/>
                <a:ea typeface="Cambria" pitchFamily="34" charset="-122"/>
                <a:cs typeface="Cambria" pitchFamily="34" charset="-120"/>
              </a:rPr>
              <a:t>Money is energy. Energy travels at the speed of light.</a:t>
            </a:r>
            <a:endParaRPr lang="en-US" sz="3400" dirty="0"/>
          </a:p>
        </p:txBody>
      </p:sp>
      <p:sp>
        <p:nvSpPr>
          <p:cNvPr id="4" name="Text 2"/>
          <p:cNvSpPr/>
          <p:nvPr/>
        </p:nvSpPr>
        <p:spPr>
          <a:xfrm>
            <a:off x="640080" y="1691640"/>
            <a:ext cx="6675120" cy="411480"/>
          </a:xfrm>
          <a:prstGeom prst="rect">
            <a:avLst/>
          </a:prstGeom>
          <a:noFill/>
          <a:ln/>
        </p:spPr>
        <p:txBody>
          <a:bodyPr wrap="square" lIns="0" tIns="0" rIns="0" bIns="0" rtlCol="0" anchor="ctr"/>
          <a:lstStyle/>
          <a:p>
            <a:pPr indent="0" marL="0">
              <a:buNone/>
            </a:pPr>
            <a:r>
              <a:rPr lang="en-US" sz="1600" dirty="0">
                <a:solidFill>
                  <a:srgbClr val="FBF4E2"/>
                </a:solidFill>
                <a:latin typeface="Calibri" pitchFamily="34" charset="0"/>
                <a:ea typeface="Calibri" pitchFamily="34" charset="-122"/>
                <a:cs typeface="Calibri" pitchFamily="34" charset="-120"/>
              </a:rPr>
              <a:t>So why does it still take days to reach Africa, Asia, the Americas?</a:t>
            </a:r>
            <a:endParaRPr lang="en-US" sz="1600" dirty="0"/>
          </a:p>
        </p:txBody>
      </p:sp>
      <p:sp>
        <p:nvSpPr>
          <p:cNvPr id="5" name="Text 3"/>
          <p:cNvSpPr/>
          <p:nvPr/>
        </p:nvSpPr>
        <p:spPr>
          <a:xfrm>
            <a:off x="640080" y="2286000"/>
            <a:ext cx="6675120" cy="219456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9B8A6B"/>
                </a:solidFill>
                <a:latin typeface="Calibri" pitchFamily="34" charset="0"/>
                <a:ea typeface="Calibri" pitchFamily="34" charset="-122"/>
                <a:cs typeface="Calibri" pitchFamily="34" charset="-120"/>
              </a:rPr>
              <a:t>⚡ZAPP is built on one idea. Free energy should mean free money.</a:t>
            </a:r>
            <a:endParaRPr lang="en-US" sz="1350" dirty="0"/>
          </a:p>
          <a:p>
            <a:pPr marL="342900" indent="-342900">
              <a:spcAft>
                <a:spcPts val="1000"/>
              </a:spcAft>
              <a:buSzPct val="100000"/>
              <a:buChar char="•"/>
            </a:pPr>
            <a:r>
              <a:rPr lang="en-US" sz="1350" dirty="0">
                <a:solidFill>
                  <a:srgbClr val="9B8A6B"/>
                </a:solidFill>
                <a:latin typeface="Calibri" pitchFamily="34" charset="0"/>
                <a:ea typeface="Calibri" pitchFamily="34" charset="-122"/>
                <a:cs typeface="Calibri" pitchFamily="34" charset="-120"/>
              </a:rPr>
              <a:t>No banks. No borders. Zapped instantly to anyone, anywhere on Earth.</a:t>
            </a:r>
            <a:endParaRPr lang="en-US" sz="1350" dirty="0"/>
          </a:p>
          <a:p>
            <a:pPr marL="342900" indent="-342900">
              <a:spcAft>
                <a:spcPts val="1000"/>
              </a:spcAft>
              <a:buSzPct val="100000"/>
              <a:buChar char="•"/>
            </a:pPr>
            <a:r>
              <a:rPr lang="en-US" sz="1350" dirty="0">
                <a:solidFill>
                  <a:srgbClr val="9B8A6B"/>
                </a:solidFill>
                <a:latin typeface="Calibri" pitchFamily="34" charset="0"/>
                <a:ea typeface="Calibri" pitchFamily="34" charset="-122"/>
                <a:cs typeface="Calibri" pitchFamily="34" charset="-120"/>
              </a:rPr>
              <a:t>Tesla understood this a century ago. The code was always there.</a:t>
            </a:r>
            <a:endParaRPr lang="en-US" sz="1350" dirty="0"/>
          </a:p>
          <a:p>
            <a:pPr marL="342900" indent="-342900">
              <a:spcAft>
                <a:spcPts val="1000"/>
              </a:spcAft>
              <a:buSzPct val="100000"/>
              <a:buChar char="•"/>
            </a:pPr>
            <a:r>
              <a:rPr lang="en-US" sz="1350" dirty="0">
                <a:solidFill>
                  <a:srgbClr val="9B8A6B"/>
                </a:solidFill>
                <a:latin typeface="Calibri" pitchFamily="34" charset="0"/>
                <a:ea typeface="Calibri" pitchFamily="34" charset="-122"/>
                <a:cs typeface="Calibri" pitchFamily="34" charset="-120"/>
              </a:rPr>
              <a:t>People arrive for the meme and the mascot. Underneath sits a real machine.</a:t>
            </a:r>
            <a:endParaRPr lang="en-US" sz="1350" dirty="0"/>
          </a:p>
        </p:txBody>
      </p:sp>
      <p:sp>
        <p:nvSpPr>
          <p:cNvPr id="6" name="Shape 4"/>
          <p:cNvSpPr/>
          <p:nvPr/>
        </p:nvSpPr>
        <p:spPr>
          <a:xfrm>
            <a:off x="7635240" y="1645920"/>
            <a:ext cx="3886200" cy="3291840"/>
          </a:xfrm>
          <a:prstGeom prst="roundRect">
            <a:avLst>
              <a:gd name="adj" fmla="val 2778"/>
            </a:avLst>
          </a:prstGeom>
          <a:solidFill>
            <a:srgbClr val="241A0E"/>
          </a:solidFill>
          <a:ln w="12700">
            <a:solidFill>
              <a:srgbClr val="3A2C18"/>
            </a:solidFill>
            <a:prstDash val="solid"/>
          </a:ln>
        </p:spPr>
      </p:sp>
      <p:sp>
        <p:nvSpPr>
          <p:cNvPr id="7" name="Shape 5"/>
          <p:cNvSpPr/>
          <p:nvPr/>
        </p:nvSpPr>
        <p:spPr>
          <a:xfrm>
            <a:off x="7872984" y="1883664"/>
            <a:ext cx="420624" cy="420624"/>
          </a:xfrm>
          <a:prstGeom prst="ellipse">
            <a:avLst/>
          </a:prstGeom>
          <a:solidFill>
            <a:srgbClr val="C8960A"/>
          </a:solidFill>
          <a:ln/>
        </p:spPr>
      </p:sp>
      <p:sp>
        <p:nvSpPr>
          <p:cNvPr id="8" name="Text 6"/>
          <p:cNvSpPr/>
          <p:nvPr/>
        </p:nvSpPr>
        <p:spPr>
          <a:xfrm>
            <a:off x="7872984" y="188366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01</a:t>
            </a:r>
            <a:endParaRPr lang="en-US" sz="1400" dirty="0"/>
          </a:p>
        </p:txBody>
      </p:sp>
      <p:sp>
        <p:nvSpPr>
          <p:cNvPr id="9" name="Text 7"/>
          <p:cNvSpPr/>
          <p:nvPr/>
        </p:nvSpPr>
        <p:spPr>
          <a:xfrm>
            <a:off x="7872984" y="2377440"/>
            <a:ext cx="341071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Not a guess</a:t>
            </a:r>
            <a:endParaRPr lang="en-US" sz="1500" dirty="0"/>
          </a:p>
        </p:txBody>
      </p:sp>
      <p:sp>
        <p:nvSpPr>
          <p:cNvPr id="10" name="Text 8"/>
          <p:cNvSpPr/>
          <p:nvPr/>
        </p:nvSpPr>
        <p:spPr>
          <a:xfrm>
            <a:off x="7872984" y="2724912"/>
            <a:ext cx="3410712" cy="197510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This grew out of a 2023 bachelor thesis, Digital Currencies, The New Wealth of International Organizations. It argued the real purpose of crypto is not overnight millionaires but modernising money and helping people.</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⚡ZAPP is that thesis with a heartbeat, a mascot and a community.</a:t>
            </a:r>
            <a:endParaRPr lang="en-US" sz="1150" dirty="0"/>
          </a:p>
        </p:txBody>
      </p:sp>
      <p:sp>
        <p:nvSpPr>
          <p:cNvPr id="11" name="Text 9"/>
          <p:cNvSpPr/>
          <p:nvPr/>
        </p:nvSpPr>
        <p:spPr>
          <a:xfrm>
            <a:off x="640080" y="5212080"/>
            <a:ext cx="10881360" cy="365760"/>
          </a:xfrm>
          <a:prstGeom prst="rect">
            <a:avLst/>
          </a:prstGeom>
          <a:noFill/>
          <a:ln/>
        </p:spPr>
        <p:txBody>
          <a:bodyPr wrap="square" lIns="0" tIns="0" rIns="0" bIns="0" rtlCol="0" anchor="ctr"/>
          <a:lstStyle/>
          <a:p>
            <a:pPr algn="ctr" indent="0" marL="0">
              <a:buNone/>
            </a:pPr>
            <a:r>
              <a:rPr lang="en-US" sz="1400" i="1" dirty="0">
                <a:solidFill>
                  <a:srgbClr val="C8960A"/>
                </a:solidFill>
                <a:latin typeface="Cambria" pitchFamily="34" charset="0"/>
                <a:ea typeface="Cambria" pitchFamily="34" charset="-122"/>
                <a:cs typeface="Cambria" pitchFamily="34" charset="-120"/>
              </a:rPr>
              <a:t>"If you knew the magnificence of 3, 6 and 9, you would have a key to the universe." — Nikola Tesla</a:t>
            </a:r>
            <a:endParaRPr lang="en-US" sz="1400" dirty="0"/>
          </a:p>
        </p:txBody>
      </p:sp>
      <p:sp>
        <p:nvSpPr>
          <p:cNvPr id="12" name="Text 10"/>
          <p:cNvSpPr/>
          <p:nvPr/>
        </p:nvSpPr>
        <p:spPr>
          <a:xfrm>
            <a:off x="640080" y="6382512"/>
            <a:ext cx="10881360" cy="274320"/>
          </a:xfrm>
          <a:prstGeom prst="rect">
            <a:avLst/>
          </a:prstGeom>
          <a:noFill/>
          <a:ln/>
        </p:spPr>
        <p:txBody>
          <a:bodyPr wrap="square" lIns="0" tIns="0" rIns="0" bIns="0" rtlCol="0" anchor="ctr"/>
          <a:lstStyle/>
          <a:p>
            <a:pPr algn="ctr" indent="0" marL="0">
              <a:buNone/>
            </a:pPr>
            <a:r>
              <a:rPr lang="en-US" sz="1000" dirty="0">
                <a:solidFill>
                  <a:srgbClr val="5E4C2E"/>
                </a:solidFill>
                <a:latin typeface="Calibri" pitchFamily="34" charset="0"/>
                <a:ea typeface="Calibri" pitchFamily="34" charset="-122"/>
                <a:cs typeface="Calibri" pitchFamily="34" charset="-120"/>
              </a:rPr>
              <a:t>3 · 6 · 9 · ∞</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110A"/>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250" kern="0" dirty="0">
                <a:solidFill>
                  <a:srgbClr val="C8960A"/>
                </a:solidFill>
                <a:latin typeface="Calibri" pitchFamily="34" charset="0"/>
                <a:ea typeface="Calibri" pitchFamily="34" charset="-122"/>
                <a:cs typeface="Calibri" pitchFamily="34" charset="-120"/>
              </a:rPr>
              <a:t>WHERE WE STAND · AUGUST 2026</a:t>
            </a:r>
            <a:endParaRPr lang="en-US" sz="110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indent="0" marL="0">
              <a:buNone/>
            </a:pPr>
            <a:r>
              <a:rPr lang="en-US" sz="3400" b="1" dirty="0">
                <a:solidFill>
                  <a:srgbClr val="FBF4E2"/>
                </a:solidFill>
                <a:latin typeface="Cambria" pitchFamily="34" charset="0"/>
                <a:ea typeface="Cambria" pitchFamily="34" charset="-122"/>
                <a:cs typeface="Cambria" pitchFamily="34" charset="-120"/>
              </a:rPr>
              <a:t>Everything that is already real</a:t>
            </a:r>
            <a:endParaRPr lang="en-US" sz="3400" dirty="0"/>
          </a:p>
        </p:txBody>
      </p:sp>
      <p:sp>
        <p:nvSpPr>
          <p:cNvPr id="4" name="Text 2"/>
          <p:cNvSpPr/>
          <p:nvPr/>
        </p:nvSpPr>
        <p:spPr>
          <a:xfrm>
            <a:off x="640080" y="1536192"/>
            <a:ext cx="10881360" cy="365760"/>
          </a:xfrm>
          <a:prstGeom prst="rect">
            <a:avLst/>
          </a:prstGeom>
          <a:noFill/>
          <a:ln/>
        </p:spPr>
        <p:txBody>
          <a:bodyPr wrap="square" lIns="0" tIns="0" rIns="0" bIns="0" rtlCol="0" anchor="ctr"/>
          <a:lstStyle/>
          <a:p>
            <a:pPr indent="0" marL="0">
              <a:buNone/>
            </a:pPr>
            <a:r>
              <a:rPr lang="en-US" sz="1350" dirty="0">
                <a:solidFill>
                  <a:srgbClr val="9B8A6B"/>
                </a:solidFill>
                <a:latin typeface="Calibri" pitchFamily="34" charset="0"/>
                <a:ea typeface="Calibri" pitchFamily="34" charset="-122"/>
                <a:cs typeface="Calibri" pitchFamily="34" charset="-120"/>
              </a:rPr>
              <a:t>Three and a half months from launch, with no fund and no backer. Nothing below is a projection, and none of it was lost in the bad weeks.</a:t>
            </a:r>
            <a:endParaRPr lang="en-US" sz="1350" dirty="0"/>
          </a:p>
        </p:txBody>
      </p:sp>
      <p:sp>
        <p:nvSpPr>
          <p:cNvPr id="5" name="Shape 3"/>
          <p:cNvSpPr/>
          <p:nvPr/>
        </p:nvSpPr>
        <p:spPr>
          <a:xfrm>
            <a:off x="640080" y="2103120"/>
            <a:ext cx="2583180" cy="1371600"/>
          </a:xfrm>
          <a:prstGeom prst="roundRect">
            <a:avLst>
              <a:gd name="adj" fmla="val 6667"/>
            </a:avLst>
          </a:prstGeom>
          <a:solidFill>
            <a:srgbClr val="241A0E"/>
          </a:solidFill>
          <a:ln w="12700">
            <a:solidFill>
              <a:srgbClr val="3A2C18"/>
            </a:solidFill>
            <a:prstDash val="solid"/>
          </a:ln>
        </p:spPr>
      </p:sp>
      <p:sp>
        <p:nvSpPr>
          <p:cNvPr id="6" name="Text 4"/>
          <p:cNvSpPr/>
          <p:nvPr/>
        </p:nvSpPr>
        <p:spPr>
          <a:xfrm>
            <a:off x="640080" y="2267712"/>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0%</a:t>
            </a:r>
            <a:endParaRPr lang="en-US" sz="3000" dirty="0"/>
          </a:p>
        </p:txBody>
      </p:sp>
      <p:sp>
        <p:nvSpPr>
          <p:cNvPr id="7" name="Text 5"/>
          <p:cNvSpPr/>
          <p:nvPr/>
        </p:nvSpPr>
        <p:spPr>
          <a:xfrm>
            <a:off x="749808" y="2944368"/>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tax, liquidity burned</a:t>
            </a:r>
            <a:endParaRPr lang="en-US" sz="1100" dirty="0"/>
          </a:p>
        </p:txBody>
      </p:sp>
      <p:sp>
        <p:nvSpPr>
          <p:cNvPr id="8" name="Shape 6"/>
          <p:cNvSpPr/>
          <p:nvPr/>
        </p:nvSpPr>
        <p:spPr>
          <a:xfrm>
            <a:off x="3406140" y="2103120"/>
            <a:ext cx="2583180" cy="1371600"/>
          </a:xfrm>
          <a:prstGeom prst="roundRect">
            <a:avLst>
              <a:gd name="adj" fmla="val 6667"/>
            </a:avLst>
          </a:prstGeom>
          <a:solidFill>
            <a:srgbClr val="241A0E"/>
          </a:solidFill>
          <a:ln w="12700">
            <a:solidFill>
              <a:srgbClr val="3A2C18"/>
            </a:solidFill>
            <a:prstDash val="solid"/>
          </a:ln>
        </p:spPr>
      </p:sp>
      <p:sp>
        <p:nvSpPr>
          <p:cNvPr id="9" name="Text 7"/>
          <p:cNvSpPr/>
          <p:nvPr/>
        </p:nvSpPr>
        <p:spPr>
          <a:xfrm>
            <a:off x="3406140" y="2267712"/>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3.69M</a:t>
            </a:r>
            <a:endParaRPr lang="en-US" sz="3000" dirty="0"/>
          </a:p>
        </p:txBody>
      </p:sp>
      <p:sp>
        <p:nvSpPr>
          <p:cNvPr id="10" name="Text 8"/>
          <p:cNvSpPr/>
          <p:nvPr/>
        </p:nvSpPr>
        <p:spPr>
          <a:xfrm>
            <a:off x="3515868" y="2944368"/>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⚡ZAPP in the treasury</a:t>
            </a:r>
            <a:endParaRPr lang="en-US" sz="1100" dirty="0"/>
          </a:p>
        </p:txBody>
      </p:sp>
      <p:sp>
        <p:nvSpPr>
          <p:cNvPr id="11" name="Shape 9"/>
          <p:cNvSpPr/>
          <p:nvPr/>
        </p:nvSpPr>
        <p:spPr>
          <a:xfrm>
            <a:off x="6172200" y="2103120"/>
            <a:ext cx="2583180" cy="1371600"/>
          </a:xfrm>
          <a:prstGeom prst="roundRect">
            <a:avLst>
              <a:gd name="adj" fmla="val 6667"/>
            </a:avLst>
          </a:prstGeom>
          <a:solidFill>
            <a:srgbClr val="241A0E"/>
          </a:solidFill>
          <a:ln w="12700">
            <a:solidFill>
              <a:srgbClr val="3A2C18"/>
            </a:solidFill>
            <a:prstDash val="solid"/>
          </a:ln>
        </p:spPr>
      </p:sp>
      <p:sp>
        <p:nvSpPr>
          <p:cNvPr id="12" name="Text 10"/>
          <p:cNvSpPr/>
          <p:nvPr/>
        </p:nvSpPr>
        <p:spPr>
          <a:xfrm>
            <a:off x="6172200" y="2267712"/>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6</a:t>
            </a:r>
            <a:endParaRPr lang="en-US" sz="3000" dirty="0"/>
          </a:p>
        </p:txBody>
      </p:sp>
      <p:sp>
        <p:nvSpPr>
          <p:cNvPr id="13" name="Text 11"/>
          <p:cNvSpPr/>
          <p:nvPr/>
        </p:nvSpPr>
        <p:spPr>
          <a:xfrm>
            <a:off x="6281928" y="2944368"/>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places you can find it</a:t>
            </a:r>
            <a:endParaRPr lang="en-US" sz="1100" dirty="0"/>
          </a:p>
        </p:txBody>
      </p:sp>
      <p:sp>
        <p:nvSpPr>
          <p:cNvPr id="14" name="Shape 12"/>
          <p:cNvSpPr/>
          <p:nvPr/>
        </p:nvSpPr>
        <p:spPr>
          <a:xfrm>
            <a:off x="8938260" y="2103120"/>
            <a:ext cx="2583180" cy="1371600"/>
          </a:xfrm>
          <a:prstGeom prst="roundRect">
            <a:avLst>
              <a:gd name="adj" fmla="val 6667"/>
            </a:avLst>
          </a:prstGeom>
          <a:solidFill>
            <a:srgbClr val="241A0E"/>
          </a:solidFill>
          <a:ln w="12700">
            <a:solidFill>
              <a:srgbClr val="3A2C18"/>
            </a:solidFill>
            <a:prstDash val="solid"/>
          </a:ln>
        </p:spPr>
      </p:sp>
      <p:sp>
        <p:nvSpPr>
          <p:cNvPr id="15" name="Text 13"/>
          <p:cNvSpPr/>
          <p:nvPr/>
        </p:nvSpPr>
        <p:spPr>
          <a:xfrm>
            <a:off x="8938260" y="2267712"/>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6</a:t>
            </a:r>
            <a:endParaRPr lang="en-US" sz="3000" dirty="0"/>
          </a:p>
        </p:txBody>
      </p:sp>
      <p:sp>
        <p:nvSpPr>
          <p:cNvPr id="16" name="Text 14"/>
          <p:cNvSpPr/>
          <p:nvPr/>
        </p:nvSpPr>
        <p:spPr>
          <a:xfrm>
            <a:off x="9047988" y="2944368"/>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community channels</a:t>
            </a:r>
            <a:endParaRPr lang="en-US" sz="1100" dirty="0"/>
          </a:p>
        </p:txBody>
      </p:sp>
      <p:sp>
        <p:nvSpPr>
          <p:cNvPr id="17" name="Shape 15"/>
          <p:cNvSpPr/>
          <p:nvPr/>
        </p:nvSpPr>
        <p:spPr>
          <a:xfrm>
            <a:off x="640080" y="3703320"/>
            <a:ext cx="2583180" cy="1371600"/>
          </a:xfrm>
          <a:prstGeom prst="roundRect">
            <a:avLst>
              <a:gd name="adj" fmla="val 6667"/>
            </a:avLst>
          </a:prstGeom>
          <a:solidFill>
            <a:srgbClr val="241A0E"/>
          </a:solidFill>
          <a:ln w="12700">
            <a:solidFill>
              <a:srgbClr val="3A2C18"/>
            </a:solidFill>
            <a:prstDash val="solid"/>
          </a:ln>
        </p:spPr>
      </p:sp>
      <p:sp>
        <p:nvSpPr>
          <p:cNvPr id="18" name="Text 16"/>
          <p:cNvSpPr/>
          <p:nvPr/>
        </p:nvSpPr>
        <p:spPr>
          <a:xfrm>
            <a:off x="640080" y="3867912"/>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1M+</a:t>
            </a:r>
            <a:endParaRPr lang="en-US" sz="3000" dirty="0"/>
          </a:p>
        </p:txBody>
      </p:sp>
      <p:sp>
        <p:nvSpPr>
          <p:cNvPr id="19" name="Text 17"/>
          <p:cNvSpPr/>
          <p:nvPr/>
        </p:nvSpPr>
        <p:spPr>
          <a:xfrm>
            <a:off x="749808" y="4544568"/>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views on TikTok</a:t>
            </a:r>
            <a:endParaRPr lang="en-US" sz="1100" dirty="0"/>
          </a:p>
        </p:txBody>
      </p:sp>
      <p:sp>
        <p:nvSpPr>
          <p:cNvPr id="20" name="Shape 18"/>
          <p:cNvSpPr/>
          <p:nvPr/>
        </p:nvSpPr>
        <p:spPr>
          <a:xfrm>
            <a:off x="3406140" y="3703320"/>
            <a:ext cx="2583180" cy="1371600"/>
          </a:xfrm>
          <a:prstGeom prst="roundRect">
            <a:avLst>
              <a:gd name="adj" fmla="val 6667"/>
            </a:avLst>
          </a:prstGeom>
          <a:solidFill>
            <a:srgbClr val="241A0E"/>
          </a:solidFill>
          <a:ln w="12700">
            <a:solidFill>
              <a:srgbClr val="3A2C18"/>
            </a:solidFill>
            <a:prstDash val="solid"/>
          </a:ln>
        </p:spPr>
      </p:sp>
      <p:sp>
        <p:nvSpPr>
          <p:cNvPr id="21" name="Text 19"/>
          <p:cNvSpPr/>
          <p:nvPr/>
        </p:nvSpPr>
        <p:spPr>
          <a:xfrm>
            <a:off x="3406140" y="3867912"/>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198</a:t>
            </a:r>
            <a:endParaRPr lang="en-US" sz="3000" dirty="0"/>
          </a:p>
        </p:txBody>
      </p:sp>
      <p:sp>
        <p:nvSpPr>
          <p:cNvPr id="22" name="Text 20"/>
          <p:cNvSpPr/>
          <p:nvPr/>
        </p:nvSpPr>
        <p:spPr>
          <a:xfrm>
            <a:off x="3515868" y="4544568"/>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bot commands running</a:t>
            </a:r>
            <a:endParaRPr lang="en-US" sz="1100" dirty="0"/>
          </a:p>
        </p:txBody>
      </p:sp>
      <p:sp>
        <p:nvSpPr>
          <p:cNvPr id="23" name="Shape 21"/>
          <p:cNvSpPr/>
          <p:nvPr/>
        </p:nvSpPr>
        <p:spPr>
          <a:xfrm>
            <a:off x="6172200" y="3703320"/>
            <a:ext cx="2583180" cy="1371600"/>
          </a:xfrm>
          <a:prstGeom prst="roundRect">
            <a:avLst>
              <a:gd name="adj" fmla="val 6667"/>
            </a:avLst>
          </a:prstGeom>
          <a:solidFill>
            <a:srgbClr val="241A0E"/>
          </a:solidFill>
          <a:ln w="12700">
            <a:solidFill>
              <a:srgbClr val="3A2C18"/>
            </a:solidFill>
            <a:prstDash val="solid"/>
          </a:ln>
        </p:spPr>
      </p:sp>
      <p:sp>
        <p:nvSpPr>
          <p:cNvPr id="24" name="Text 22"/>
          <p:cNvSpPr/>
          <p:nvPr/>
        </p:nvSpPr>
        <p:spPr>
          <a:xfrm>
            <a:off x="6172200" y="3867912"/>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39</a:t>
            </a:r>
            <a:endParaRPr lang="en-US" sz="3000" dirty="0"/>
          </a:p>
        </p:txBody>
      </p:sp>
      <p:sp>
        <p:nvSpPr>
          <p:cNvPr id="25" name="Text 23"/>
          <p:cNvSpPr/>
          <p:nvPr/>
        </p:nvSpPr>
        <p:spPr>
          <a:xfrm>
            <a:off x="6281928" y="4544568"/>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products live in the store</a:t>
            </a:r>
            <a:endParaRPr lang="en-US" sz="1100" dirty="0"/>
          </a:p>
        </p:txBody>
      </p:sp>
      <p:sp>
        <p:nvSpPr>
          <p:cNvPr id="26" name="Shape 24"/>
          <p:cNvSpPr/>
          <p:nvPr/>
        </p:nvSpPr>
        <p:spPr>
          <a:xfrm>
            <a:off x="8938260" y="3703320"/>
            <a:ext cx="2583180" cy="1371600"/>
          </a:xfrm>
          <a:prstGeom prst="roundRect">
            <a:avLst>
              <a:gd name="adj" fmla="val 6667"/>
            </a:avLst>
          </a:prstGeom>
          <a:solidFill>
            <a:srgbClr val="241A0E"/>
          </a:solidFill>
          <a:ln w="12700">
            <a:solidFill>
              <a:srgbClr val="3A2C18"/>
            </a:solidFill>
            <a:prstDash val="solid"/>
          </a:ln>
        </p:spPr>
      </p:sp>
      <p:sp>
        <p:nvSpPr>
          <p:cNvPr id="27" name="Text 25"/>
          <p:cNvSpPr/>
          <p:nvPr/>
        </p:nvSpPr>
        <p:spPr>
          <a:xfrm>
            <a:off x="8938260" y="3867912"/>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28</a:t>
            </a:r>
            <a:endParaRPr lang="en-US" sz="3000" dirty="0"/>
          </a:p>
        </p:txBody>
      </p:sp>
      <p:sp>
        <p:nvSpPr>
          <p:cNvPr id="28" name="Text 26"/>
          <p:cNvSpPr/>
          <p:nvPr/>
        </p:nvSpPr>
        <p:spPr>
          <a:xfrm>
            <a:off x="9047988" y="4544568"/>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countries we ship to</a:t>
            </a:r>
            <a:endParaRPr lang="en-US" sz="1100" dirty="0"/>
          </a:p>
        </p:txBody>
      </p:sp>
      <p:sp>
        <p:nvSpPr>
          <p:cNvPr id="29" name="Text 27"/>
          <p:cNvSpPr/>
          <p:nvPr/>
        </p:nvSpPr>
        <p:spPr>
          <a:xfrm>
            <a:off x="640080" y="5349240"/>
            <a:ext cx="10881360" cy="365760"/>
          </a:xfrm>
          <a:prstGeom prst="rect">
            <a:avLst/>
          </a:prstGeom>
          <a:noFill/>
          <a:ln/>
        </p:spPr>
        <p:txBody>
          <a:bodyPr wrap="square" lIns="0" tIns="0" rIns="0" bIns="0" rtlCol="0" anchor="ctr"/>
          <a:lstStyle/>
          <a:p>
            <a:pPr algn="ctr" indent="0" marL="0">
              <a:buNone/>
            </a:pPr>
            <a:r>
              <a:rPr lang="en-US" sz="1300" dirty="0">
                <a:solidFill>
                  <a:srgbClr val="FBF4E2"/>
                </a:solidFill>
                <a:latin typeface="Calibri" pitchFamily="34" charset="0"/>
                <a:ea typeface="Calibri" pitchFamily="34" charset="-122"/>
                <a:cs typeface="Calibri" pitchFamily="34" charset="-120"/>
              </a:rPr>
              <a:t>CoinGecko  ·  DexScreener  ·  DexTools  ·  GeckoTerminal  ·  RugCheck  ·  Jupiter  ·  and Ledger, because it is Solana</a:t>
            </a:r>
            <a:endParaRPr lang="en-US" sz="1300" dirty="0"/>
          </a:p>
        </p:txBody>
      </p:sp>
      <p:sp>
        <p:nvSpPr>
          <p:cNvPr id="30" name="Text 28"/>
          <p:cNvSpPr/>
          <p:nvPr/>
        </p:nvSpPr>
        <p:spPr>
          <a:xfrm>
            <a:off x="640080" y="6382512"/>
            <a:ext cx="10881360" cy="274320"/>
          </a:xfrm>
          <a:prstGeom prst="rect">
            <a:avLst/>
          </a:prstGeom>
          <a:noFill/>
          <a:ln/>
        </p:spPr>
        <p:txBody>
          <a:bodyPr wrap="square" lIns="0" tIns="0" rIns="0" bIns="0" rtlCol="0" anchor="ctr"/>
          <a:lstStyle/>
          <a:p>
            <a:pPr algn="ctr" indent="0" marL="0">
              <a:buNone/>
            </a:pPr>
            <a:r>
              <a:rPr lang="en-US" sz="1000" dirty="0">
                <a:solidFill>
                  <a:srgbClr val="5E4C2E"/>
                </a:solidFill>
                <a:latin typeface="Calibri" pitchFamily="34" charset="0"/>
                <a:ea typeface="Calibri" pitchFamily="34" charset="-122"/>
                <a:cs typeface="Calibri" pitchFamily="34" charset="-120"/>
              </a:rPr>
              <a:t>3 · 6 · 9 · ∞</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110A"/>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250" kern="0" dirty="0">
                <a:solidFill>
                  <a:srgbClr val="C8960A"/>
                </a:solidFill>
                <a:latin typeface="Calibri" pitchFamily="34" charset="0"/>
                <a:ea typeface="Calibri" pitchFamily="34" charset="-122"/>
                <a:cs typeface="Calibri" pitchFamily="34" charset="-120"/>
              </a:rPr>
              <a:t>VERIFIABLE, NOT CLAIMED</a:t>
            </a:r>
            <a:endParaRPr lang="en-US" sz="110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indent="0" marL="0">
              <a:buNone/>
            </a:pPr>
            <a:r>
              <a:rPr lang="en-US" sz="3400" b="1" dirty="0">
                <a:solidFill>
                  <a:srgbClr val="FBF4E2"/>
                </a:solidFill>
                <a:latin typeface="Cambria" pitchFamily="34" charset="0"/>
                <a:ea typeface="Cambria" pitchFamily="34" charset="-122"/>
                <a:cs typeface="Cambria" pitchFamily="34" charset="-120"/>
              </a:rPr>
              <a:t>The token, in the open</a:t>
            </a:r>
            <a:endParaRPr lang="en-US" sz="3400" dirty="0"/>
          </a:p>
        </p:txBody>
      </p:sp>
      <p:sp>
        <p:nvSpPr>
          <p:cNvPr id="4" name="Shape 2"/>
          <p:cNvSpPr/>
          <p:nvPr/>
        </p:nvSpPr>
        <p:spPr>
          <a:xfrm>
            <a:off x="640080" y="1645920"/>
            <a:ext cx="2583180" cy="1371600"/>
          </a:xfrm>
          <a:prstGeom prst="roundRect">
            <a:avLst>
              <a:gd name="adj" fmla="val 6667"/>
            </a:avLst>
          </a:prstGeom>
          <a:solidFill>
            <a:srgbClr val="241A0E"/>
          </a:solidFill>
          <a:ln w="12700">
            <a:solidFill>
              <a:srgbClr val="3A2C18"/>
            </a:solidFill>
            <a:prstDash val="solid"/>
          </a:ln>
        </p:spPr>
      </p:sp>
      <p:sp>
        <p:nvSpPr>
          <p:cNvPr id="5" name="Text 3"/>
          <p:cNvSpPr/>
          <p:nvPr/>
        </p:nvSpPr>
        <p:spPr>
          <a:xfrm>
            <a:off x="640080" y="1810512"/>
            <a:ext cx="2583180" cy="658368"/>
          </a:xfrm>
          <a:prstGeom prst="rect">
            <a:avLst/>
          </a:prstGeom>
          <a:noFill/>
          <a:ln/>
        </p:spPr>
        <p:txBody>
          <a:bodyPr wrap="square" lIns="0" tIns="0" rIns="0" bIns="0" rtlCol="0" anchor="ctr"/>
          <a:lstStyle/>
          <a:p>
            <a:pPr algn="ctr" indent="0" marL="0">
              <a:buNone/>
            </a:pPr>
            <a:r>
              <a:rPr lang="en-US" sz="2200" b="1" dirty="0">
                <a:solidFill>
                  <a:srgbClr val="C8960A"/>
                </a:solidFill>
                <a:latin typeface="Cambria" pitchFamily="34" charset="0"/>
                <a:ea typeface="Cambria" pitchFamily="34" charset="-122"/>
                <a:cs typeface="Cambria" pitchFamily="34" charset="-120"/>
              </a:rPr>
              <a:t>$0.000110</a:t>
            </a:r>
            <a:endParaRPr lang="en-US" sz="2200" dirty="0"/>
          </a:p>
        </p:txBody>
      </p:sp>
      <p:sp>
        <p:nvSpPr>
          <p:cNvPr id="6" name="Text 4"/>
          <p:cNvSpPr/>
          <p:nvPr/>
        </p:nvSpPr>
        <p:spPr>
          <a:xfrm>
            <a:off x="749808" y="2487168"/>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price today</a:t>
            </a:r>
            <a:endParaRPr lang="en-US" sz="1100" dirty="0"/>
          </a:p>
        </p:txBody>
      </p:sp>
      <p:sp>
        <p:nvSpPr>
          <p:cNvPr id="7" name="Shape 5"/>
          <p:cNvSpPr/>
          <p:nvPr/>
        </p:nvSpPr>
        <p:spPr>
          <a:xfrm>
            <a:off x="3406140" y="1645920"/>
            <a:ext cx="2583180" cy="1371600"/>
          </a:xfrm>
          <a:prstGeom prst="roundRect">
            <a:avLst>
              <a:gd name="adj" fmla="val 6667"/>
            </a:avLst>
          </a:prstGeom>
          <a:solidFill>
            <a:srgbClr val="241A0E"/>
          </a:solidFill>
          <a:ln w="12700">
            <a:solidFill>
              <a:srgbClr val="3A2C18"/>
            </a:solidFill>
            <a:prstDash val="solid"/>
          </a:ln>
        </p:spPr>
      </p:sp>
      <p:sp>
        <p:nvSpPr>
          <p:cNvPr id="8" name="Text 6"/>
          <p:cNvSpPr/>
          <p:nvPr/>
        </p:nvSpPr>
        <p:spPr>
          <a:xfrm>
            <a:off x="3406140" y="1810512"/>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$110K</a:t>
            </a:r>
            <a:endParaRPr lang="en-US" sz="3000" dirty="0"/>
          </a:p>
        </p:txBody>
      </p:sp>
      <p:sp>
        <p:nvSpPr>
          <p:cNvPr id="9" name="Text 7"/>
          <p:cNvSpPr/>
          <p:nvPr/>
        </p:nvSpPr>
        <p:spPr>
          <a:xfrm>
            <a:off x="3515868" y="2487168"/>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market cap</a:t>
            </a:r>
            <a:endParaRPr lang="en-US" sz="1100" dirty="0"/>
          </a:p>
        </p:txBody>
      </p:sp>
      <p:sp>
        <p:nvSpPr>
          <p:cNvPr id="10" name="Shape 8"/>
          <p:cNvSpPr/>
          <p:nvPr/>
        </p:nvSpPr>
        <p:spPr>
          <a:xfrm>
            <a:off x="6172200" y="1645920"/>
            <a:ext cx="2583180" cy="1371600"/>
          </a:xfrm>
          <a:prstGeom prst="roundRect">
            <a:avLst>
              <a:gd name="adj" fmla="val 6667"/>
            </a:avLst>
          </a:prstGeom>
          <a:solidFill>
            <a:srgbClr val="241A0E"/>
          </a:solidFill>
          <a:ln w="12700">
            <a:solidFill>
              <a:srgbClr val="3A2C18"/>
            </a:solidFill>
            <a:prstDash val="solid"/>
          </a:ln>
        </p:spPr>
      </p:sp>
      <p:sp>
        <p:nvSpPr>
          <p:cNvPr id="11" name="Text 9"/>
          <p:cNvSpPr/>
          <p:nvPr/>
        </p:nvSpPr>
        <p:spPr>
          <a:xfrm>
            <a:off x="6172200" y="1810512"/>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$27.2K</a:t>
            </a:r>
            <a:endParaRPr lang="en-US" sz="3000" dirty="0"/>
          </a:p>
        </p:txBody>
      </p:sp>
      <p:sp>
        <p:nvSpPr>
          <p:cNvPr id="12" name="Text 10"/>
          <p:cNvSpPr/>
          <p:nvPr/>
        </p:nvSpPr>
        <p:spPr>
          <a:xfrm>
            <a:off x="6281928" y="2487168"/>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liquidity, burned</a:t>
            </a:r>
            <a:endParaRPr lang="en-US" sz="1100" dirty="0"/>
          </a:p>
        </p:txBody>
      </p:sp>
      <p:sp>
        <p:nvSpPr>
          <p:cNvPr id="13" name="Shape 11"/>
          <p:cNvSpPr/>
          <p:nvPr/>
        </p:nvSpPr>
        <p:spPr>
          <a:xfrm>
            <a:off x="8938260" y="1645920"/>
            <a:ext cx="2583180" cy="1371600"/>
          </a:xfrm>
          <a:prstGeom prst="roundRect">
            <a:avLst>
              <a:gd name="adj" fmla="val 6667"/>
            </a:avLst>
          </a:prstGeom>
          <a:solidFill>
            <a:srgbClr val="241A0E"/>
          </a:solidFill>
          <a:ln w="12700">
            <a:solidFill>
              <a:srgbClr val="3A2C18"/>
            </a:solidFill>
            <a:prstDash val="solid"/>
          </a:ln>
        </p:spPr>
      </p:sp>
      <p:sp>
        <p:nvSpPr>
          <p:cNvPr id="14" name="Text 12"/>
          <p:cNvSpPr/>
          <p:nvPr/>
        </p:nvSpPr>
        <p:spPr>
          <a:xfrm>
            <a:off x="8938260" y="1810512"/>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0%</a:t>
            </a:r>
            <a:endParaRPr lang="en-US" sz="3000" dirty="0"/>
          </a:p>
        </p:txBody>
      </p:sp>
      <p:sp>
        <p:nvSpPr>
          <p:cNvPr id="15" name="Text 13"/>
          <p:cNvSpPr/>
          <p:nvPr/>
        </p:nvSpPr>
        <p:spPr>
          <a:xfrm>
            <a:off x="9047988" y="2487168"/>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buy and sell tax</a:t>
            </a:r>
            <a:endParaRPr lang="en-US" sz="1100" dirty="0"/>
          </a:p>
        </p:txBody>
      </p:sp>
      <p:sp>
        <p:nvSpPr>
          <p:cNvPr id="16" name="Shape 14"/>
          <p:cNvSpPr/>
          <p:nvPr/>
        </p:nvSpPr>
        <p:spPr>
          <a:xfrm>
            <a:off x="640080" y="3246120"/>
            <a:ext cx="5349240" cy="2423160"/>
          </a:xfrm>
          <a:prstGeom prst="roundRect">
            <a:avLst>
              <a:gd name="adj" fmla="val 3774"/>
            </a:avLst>
          </a:prstGeom>
          <a:solidFill>
            <a:srgbClr val="241A0E"/>
          </a:solidFill>
          <a:ln w="12700">
            <a:solidFill>
              <a:srgbClr val="3A2C18"/>
            </a:solidFill>
            <a:prstDash val="solid"/>
          </a:ln>
        </p:spPr>
      </p:sp>
      <p:sp>
        <p:nvSpPr>
          <p:cNvPr id="17" name="Shape 15"/>
          <p:cNvSpPr/>
          <p:nvPr/>
        </p:nvSpPr>
        <p:spPr>
          <a:xfrm>
            <a:off x="877824" y="3483864"/>
            <a:ext cx="420624" cy="420624"/>
          </a:xfrm>
          <a:prstGeom prst="ellipse">
            <a:avLst/>
          </a:prstGeom>
          <a:solidFill>
            <a:srgbClr val="C8960A"/>
          </a:solidFill>
          <a:ln/>
        </p:spPr>
      </p:sp>
      <p:sp>
        <p:nvSpPr>
          <p:cNvPr id="18" name="Text 16"/>
          <p:cNvSpPr/>
          <p:nvPr/>
        </p:nvSpPr>
        <p:spPr>
          <a:xfrm>
            <a:off x="877824" y="348386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877824" y="3977640"/>
            <a:ext cx="48737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Why this matters</a:t>
            </a:r>
            <a:endParaRPr lang="en-US" sz="1500" dirty="0"/>
          </a:p>
        </p:txBody>
      </p:sp>
      <p:sp>
        <p:nvSpPr>
          <p:cNvPr id="20" name="Text 18"/>
          <p:cNvSpPr/>
          <p:nvPr/>
        </p:nvSpPr>
        <p:spPr>
          <a:xfrm>
            <a:off x="877824" y="4325112"/>
            <a:ext cx="4873752" cy="110642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Liquidity is burned, so it can never be pulled. Tax is zero, so the contract takes nothing from anyone who trades it.</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You do not have to trust us on either. Both are on chain and both can be checked right now, without asking our permission.</a:t>
            </a:r>
            <a:endParaRPr lang="en-US" sz="1150" dirty="0"/>
          </a:p>
        </p:txBody>
      </p:sp>
      <p:sp>
        <p:nvSpPr>
          <p:cNvPr id="21" name="Shape 19"/>
          <p:cNvSpPr/>
          <p:nvPr/>
        </p:nvSpPr>
        <p:spPr>
          <a:xfrm>
            <a:off x="6172200" y="3246120"/>
            <a:ext cx="5349240" cy="2423160"/>
          </a:xfrm>
          <a:prstGeom prst="roundRect">
            <a:avLst>
              <a:gd name="adj" fmla="val 3774"/>
            </a:avLst>
          </a:prstGeom>
          <a:solidFill>
            <a:srgbClr val="241A0E"/>
          </a:solidFill>
          <a:ln w="12700">
            <a:solidFill>
              <a:srgbClr val="3A2C18"/>
            </a:solidFill>
            <a:prstDash val="solid"/>
          </a:ln>
        </p:spPr>
      </p:sp>
      <p:sp>
        <p:nvSpPr>
          <p:cNvPr id="22" name="Shape 20"/>
          <p:cNvSpPr/>
          <p:nvPr/>
        </p:nvSpPr>
        <p:spPr>
          <a:xfrm>
            <a:off x="6409944" y="3483864"/>
            <a:ext cx="420624" cy="420624"/>
          </a:xfrm>
          <a:prstGeom prst="ellipse">
            <a:avLst/>
          </a:prstGeom>
          <a:solidFill>
            <a:srgbClr val="C8960A"/>
          </a:solidFill>
          <a:ln/>
        </p:spPr>
      </p:sp>
      <p:sp>
        <p:nvSpPr>
          <p:cNvPr id="23" name="Text 21"/>
          <p:cNvSpPr/>
          <p:nvPr/>
        </p:nvSpPr>
        <p:spPr>
          <a:xfrm>
            <a:off x="6409944" y="348386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6409944" y="3977640"/>
            <a:ext cx="48737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Honest about the stage</a:t>
            </a:r>
            <a:endParaRPr lang="en-US" sz="1500" dirty="0"/>
          </a:p>
        </p:txBody>
      </p:sp>
      <p:sp>
        <p:nvSpPr>
          <p:cNvPr id="25" name="Text 23"/>
          <p:cNvSpPr/>
          <p:nvPr/>
        </p:nvSpPr>
        <p:spPr>
          <a:xfrm>
            <a:off x="6409944" y="4325112"/>
            <a:ext cx="4873752" cy="110642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A small cap in its first months, and it has taken real damage. The chart is a long way down from its high and we are not going to dress that up.</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What we point at instead is the last 24 hours. 22 buys against 14 sells, and the most recent 6 hours all buys and no sells. The selling has stopped.</a:t>
            </a:r>
            <a:endParaRPr lang="en-US" sz="1150" dirty="0"/>
          </a:p>
        </p:txBody>
      </p:sp>
      <p:sp>
        <p:nvSpPr>
          <p:cNvPr id="26" name="Text 24"/>
          <p:cNvSpPr/>
          <p:nvPr/>
        </p:nvSpPr>
        <p:spPr>
          <a:xfrm>
            <a:off x="640080" y="5897880"/>
            <a:ext cx="10881360" cy="274320"/>
          </a:xfrm>
          <a:prstGeom prst="rect">
            <a:avLst/>
          </a:prstGeom>
          <a:noFill/>
          <a:ln/>
        </p:spPr>
        <p:txBody>
          <a:bodyPr wrap="square" lIns="0" tIns="0" rIns="0" bIns="0" rtlCol="0" anchor="ctr"/>
          <a:lstStyle/>
          <a:p>
            <a:pPr algn="ctr" indent="0" marL="0">
              <a:buNone/>
            </a:pPr>
            <a:r>
              <a:rPr lang="en-US" sz="1000" dirty="0">
                <a:solidFill>
                  <a:srgbClr val="9B8A6B"/>
                </a:solidFill>
                <a:latin typeface="Courier New" pitchFamily="34" charset="0"/>
                <a:ea typeface="Courier New" pitchFamily="34" charset="-122"/>
                <a:cs typeface="Courier New" pitchFamily="34" charset="-120"/>
              </a:rPr>
              <a:t>Contract  ·  Ab16ce5SDbibTbXevxHLpqUnUvu9tNkkpaJcSDvCpump</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110A"/>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250" kern="0" dirty="0">
                <a:solidFill>
                  <a:srgbClr val="C8960A"/>
                </a:solidFill>
                <a:latin typeface="Calibri" pitchFamily="34" charset="0"/>
                <a:ea typeface="Calibri" pitchFamily="34" charset="-122"/>
                <a:cs typeface="Calibri" pitchFamily="34" charset="-120"/>
              </a:rPr>
              <a:t>THE PART MOST DECKS LEAVE OUT</a:t>
            </a:r>
            <a:endParaRPr lang="en-US" sz="110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indent="0" marL="0">
              <a:buNone/>
            </a:pPr>
            <a:r>
              <a:rPr lang="en-US" sz="3400" b="1" dirty="0">
                <a:solidFill>
                  <a:srgbClr val="FBF4E2"/>
                </a:solidFill>
                <a:latin typeface="Cambria" pitchFamily="34" charset="0"/>
                <a:ea typeface="Cambria" pitchFamily="34" charset="-122"/>
                <a:cs typeface="Cambria" pitchFamily="34" charset="-120"/>
              </a:rPr>
              <a:t>What we came through</a:t>
            </a:r>
            <a:endParaRPr lang="en-US" sz="3400" dirty="0"/>
          </a:p>
        </p:txBody>
      </p:sp>
      <p:sp>
        <p:nvSpPr>
          <p:cNvPr id="4" name="Text 2"/>
          <p:cNvSpPr/>
          <p:nvPr/>
        </p:nvSpPr>
        <p:spPr>
          <a:xfrm>
            <a:off x="640080" y="1536192"/>
            <a:ext cx="10881360" cy="365760"/>
          </a:xfrm>
          <a:prstGeom prst="rect">
            <a:avLst/>
          </a:prstGeom>
          <a:noFill/>
          <a:ln/>
        </p:spPr>
        <p:txBody>
          <a:bodyPr wrap="square" lIns="0" tIns="0" rIns="0" bIns="0" rtlCol="0" anchor="ctr"/>
          <a:lstStyle/>
          <a:p>
            <a:pPr indent="0" marL="0">
              <a:buNone/>
            </a:pPr>
            <a:r>
              <a:rPr lang="en-US" sz="1350" dirty="0">
                <a:solidFill>
                  <a:srgbClr val="9B8A6B"/>
                </a:solidFill>
                <a:latin typeface="Calibri" pitchFamily="34" charset="0"/>
                <a:ea typeface="Calibri" pitchFamily="34" charset="-122"/>
                <a:cs typeface="Calibri" pitchFamily="34" charset="-120"/>
              </a:rPr>
              <a:t>Every number on the previous slide is lower than it was in May. Here is why, said plainly, because you will find it anyway.</a:t>
            </a:r>
            <a:endParaRPr lang="en-US" sz="1350" dirty="0"/>
          </a:p>
        </p:txBody>
      </p:sp>
      <p:sp>
        <p:nvSpPr>
          <p:cNvPr id="5" name="Shape 3"/>
          <p:cNvSpPr/>
          <p:nvPr/>
        </p:nvSpPr>
        <p:spPr>
          <a:xfrm>
            <a:off x="640080" y="2057400"/>
            <a:ext cx="3520440" cy="2651760"/>
          </a:xfrm>
          <a:prstGeom prst="roundRect">
            <a:avLst>
              <a:gd name="adj" fmla="val 3448"/>
            </a:avLst>
          </a:prstGeom>
          <a:solidFill>
            <a:srgbClr val="241A0E"/>
          </a:solidFill>
          <a:ln w="12700">
            <a:solidFill>
              <a:srgbClr val="3A2C18"/>
            </a:solidFill>
            <a:prstDash val="solid"/>
          </a:ln>
        </p:spPr>
      </p:sp>
      <p:sp>
        <p:nvSpPr>
          <p:cNvPr id="6" name="Shape 4"/>
          <p:cNvSpPr/>
          <p:nvPr/>
        </p:nvSpPr>
        <p:spPr>
          <a:xfrm>
            <a:off x="877824" y="2295144"/>
            <a:ext cx="420624" cy="420624"/>
          </a:xfrm>
          <a:prstGeom prst="ellipse">
            <a:avLst/>
          </a:prstGeom>
          <a:solidFill>
            <a:srgbClr val="C8960A"/>
          </a:solidFill>
          <a:ln/>
        </p:spPr>
      </p:sp>
      <p:sp>
        <p:nvSpPr>
          <p:cNvPr id="7" name="Text 5"/>
          <p:cNvSpPr/>
          <p:nvPr/>
        </p:nvSpPr>
        <p:spPr>
          <a:xfrm>
            <a:off x="877824" y="229514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877824" y="2788920"/>
            <a:ext cx="30449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A founder account compromised</a:t>
            </a:r>
            <a:endParaRPr lang="en-US" sz="1500" dirty="0"/>
          </a:p>
        </p:txBody>
      </p:sp>
      <p:sp>
        <p:nvSpPr>
          <p:cNvPr id="9" name="Text 7"/>
          <p:cNvSpPr/>
          <p:nvPr/>
        </p:nvSpPr>
        <p:spPr>
          <a:xfrm>
            <a:off x="877824" y="3136392"/>
            <a:ext cx="3044952" cy="133502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One of the founding members had their account compromised. It was contained, but the damage to confidence was immediate and it showed on the chart within hours.</a:t>
            </a:r>
            <a:endParaRPr lang="en-US" sz="1150" dirty="0"/>
          </a:p>
        </p:txBody>
      </p:sp>
      <p:sp>
        <p:nvSpPr>
          <p:cNvPr id="10" name="Shape 8"/>
          <p:cNvSpPr/>
          <p:nvPr/>
        </p:nvSpPr>
        <p:spPr>
          <a:xfrm>
            <a:off x="4343400" y="2057400"/>
            <a:ext cx="3520440" cy="2651760"/>
          </a:xfrm>
          <a:prstGeom prst="roundRect">
            <a:avLst>
              <a:gd name="adj" fmla="val 3448"/>
            </a:avLst>
          </a:prstGeom>
          <a:solidFill>
            <a:srgbClr val="241A0E"/>
          </a:solidFill>
          <a:ln w="12700">
            <a:solidFill>
              <a:srgbClr val="3A2C18"/>
            </a:solidFill>
            <a:prstDash val="solid"/>
          </a:ln>
        </p:spPr>
      </p:sp>
      <p:sp>
        <p:nvSpPr>
          <p:cNvPr id="11" name="Shape 9"/>
          <p:cNvSpPr/>
          <p:nvPr/>
        </p:nvSpPr>
        <p:spPr>
          <a:xfrm>
            <a:off x="4581144" y="2295144"/>
            <a:ext cx="420624" cy="420624"/>
          </a:xfrm>
          <a:prstGeom prst="ellipse">
            <a:avLst/>
          </a:prstGeom>
          <a:solidFill>
            <a:srgbClr val="C8960A"/>
          </a:solidFill>
          <a:ln/>
        </p:spPr>
      </p:sp>
      <p:sp>
        <p:nvSpPr>
          <p:cNvPr id="12" name="Text 10"/>
          <p:cNvSpPr/>
          <p:nvPr/>
        </p:nvSpPr>
        <p:spPr>
          <a:xfrm>
            <a:off x="4581144" y="229514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4581144" y="2788920"/>
            <a:ext cx="30449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Two founders walked away</a:t>
            </a:r>
            <a:endParaRPr lang="en-US" sz="1500" dirty="0"/>
          </a:p>
        </p:txBody>
      </p:sp>
      <p:sp>
        <p:nvSpPr>
          <p:cNvPr id="14" name="Text 12"/>
          <p:cNvSpPr/>
          <p:nvPr/>
        </p:nvSpPr>
        <p:spPr>
          <a:xfrm>
            <a:off x="4581144" y="3136392"/>
            <a:ext cx="3044952" cy="133502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Two of the founding group chose to exit the project. People are allowed to leave. What matters is what the ones who stay do next.</a:t>
            </a:r>
            <a:endParaRPr lang="en-US" sz="1150" dirty="0"/>
          </a:p>
        </p:txBody>
      </p:sp>
      <p:sp>
        <p:nvSpPr>
          <p:cNvPr id="15" name="Shape 13"/>
          <p:cNvSpPr/>
          <p:nvPr/>
        </p:nvSpPr>
        <p:spPr>
          <a:xfrm>
            <a:off x="8046720" y="2057400"/>
            <a:ext cx="3474720" cy="2651760"/>
          </a:xfrm>
          <a:prstGeom prst="roundRect">
            <a:avLst>
              <a:gd name="adj" fmla="val 3448"/>
            </a:avLst>
          </a:prstGeom>
          <a:solidFill>
            <a:srgbClr val="241A0E"/>
          </a:solidFill>
          <a:ln w="12700">
            <a:solidFill>
              <a:srgbClr val="3A2C18"/>
            </a:solidFill>
            <a:prstDash val="solid"/>
          </a:ln>
        </p:spPr>
      </p:sp>
      <p:sp>
        <p:nvSpPr>
          <p:cNvPr id="16" name="Shape 14"/>
          <p:cNvSpPr/>
          <p:nvPr/>
        </p:nvSpPr>
        <p:spPr>
          <a:xfrm>
            <a:off x="8284464" y="2295144"/>
            <a:ext cx="420624" cy="420624"/>
          </a:xfrm>
          <a:prstGeom prst="ellipse">
            <a:avLst/>
          </a:prstGeom>
          <a:solidFill>
            <a:srgbClr val="C8960A"/>
          </a:solidFill>
          <a:ln/>
        </p:spPr>
      </p:sp>
      <p:sp>
        <p:nvSpPr>
          <p:cNvPr id="17" name="Text 15"/>
          <p:cNvSpPr/>
          <p:nvPr/>
        </p:nvSpPr>
        <p:spPr>
          <a:xfrm>
            <a:off x="8284464" y="229514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8284464" y="2788920"/>
            <a:ext cx="299923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The token took the hit</a:t>
            </a:r>
            <a:endParaRPr lang="en-US" sz="1500" dirty="0"/>
          </a:p>
        </p:txBody>
      </p:sp>
      <p:sp>
        <p:nvSpPr>
          <p:cNvPr id="19" name="Text 17"/>
          <p:cNvSpPr/>
          <p:nvPr/>
        </p:nvSpPr>
        <p:spPr>
          <a:xfrm>
            <a:off x="8284464" y="3136392"/>
            <a:ext cx="2999232" cy="133502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Market cap fell hard and liquidity thinned. We did not pretend otherwise, and we did not go quiet while it happened.</a:t>
            </a:r>
            <a:endParaRPr lang="en-US" sz="1150" dirty="0"/>
          </a:p>
        </p:txBody>
      </p:sp>
      <p:sp>
        <p:nvSpPr>
          <p:cNvPr id="20" name="Shape 18"/>
          <p:cNvSpPr/>
          <p:nvPr/>
        </p:nvSpPr>
        <p:spPr>
          <a:xfrm>
            <a:off x="640080" y="4892040"/>
            <a:ext cx="10881360" cy="1417320"/>
          </a:xfrm>
          <a:prstGeom prst="roundRect">
            <a:avLst>
              <a:gd name="adj" fmla="val 6452"/>
            </a:avLst>
          </a:prstGeom>
          <a:solidFill>
            <a:srgbClr val="241A0E"/>
          </a:solidFill>
          <a:ln w="12700">
            <a:solidFill>
              <a:srgbClr val="3A2C18"/>
            </a:solidFill>
            <a:prstDash val="solid"/>
          </a:ln>
        </p:spPr>
      </p:sp>
      <p:sp>
        <p:nvSpPr>
          <p:cNvPr id="21" name="Text 19"/>
          <p:cNvSpPr/>
          <p:nvPr/>
        </p:nvSpPr>
        <p:spPr>
          <a:xfrm>
            <a:off x="877824" y="5111496"/>
            <a:ext cx="1040587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And here is what did not move</a:t>
            </a:r>
            <a:endParaRPr lang="en-US" sz="1500" dirty="0"/>
          </a:p>
        </p:txBody>
      </p:sp>
      <p:sp>
        <p:nvSpPr>
          <p:cNvPr id="22" name="Text 20"/>
          <p:cNvSpPr/>
          <p:nvPr/>
        </p:nvSpPr>
        <p:spPr>
          <a:xfrm>
            <a:off x="877824" y="5495544"/>
            <a:ext cx="10405872" cy="576072"/>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The contract was never touched. Liquidity is still burned and still cannot be pulled. Tax is still zero. The store kept getting built, all 39 products of it. The community stayed, the bot kept running, and the treasury kept adding up. A project is not the price of its token. It is whether anyone is still building on the bad weeks.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110A"/>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250" kern="0" dirty="0">
                <a:solidFill>
                  <a:srgbClr val="C8960A"/>
                </a:solidFill>
                <a:latin typeface="Calibri" pitchFamily="34" charset="0"/>
                <a:ea typeface="Calibri" pitchFamily="34" charset="-122"/>
                <a:cs typeface="Calibri" pitchFamily="34" charset="-120"/>
              </a:rPr>
              <a:t>HOW IT IS BUILT</a:t>
            </a:r>
            <a:endParaRPr lang="en-US" sz="110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indent="0" marL="0">
              <a:buNone/>
            </a:pPr>
            <a:r>
              <a:rPr lang="en-US" sz="3400" b="1" dirty="0">
                <a:solidFill>
                  <a:srgbClr val="FBF4E2"/>
                </a:solidFill>
                <a:latin typeface="Cambria" pitchFamily="34" charset="0"/>
                <a:ea typeface="Cambria" pitchFamily="34" charset="-122"/>
                <a:cs typeface="Cambria" pitchFamily="34" charset="-120"/>
              </a:rPr>
              <a:t>The three layers</a:t>
            </a:r>
            <a:endParaRPr lang="en-US" sz="3400" dirty="0"/>
          </a:p>
        </p:txBody>
      </p:sp>
      <p:sp>
        <p:nvSpPr>
          <p:cNvPr id="4" name="Shape 2"/>
          <p:cNvSpPr/>
          <p:nvPr/>
        </p:nvSpPr>
        <p:spPr>
          <a:xfrm>
            <a:off x="640080" y="1737360"/>
            <a:ext cx="3520440" cy="3383280"/>
          </a:xfrm>
          <a:prstGeom prst="roundRect">
            <a:avLst>
              <a:gd name="adj" fmla="val 2703"/>
            </a:avLst>
          </a:prstGeom>
          <a:solidFill>
            <a:srgbClr val="241A0E"/>
          </a:solidFill>
          <a:ln w="12700">
            <a:solidFill>
              <a:srgbClr val="3A2C18"/>
            </a:solidFill>
            <a:prstDash val="solid"/>
          </a:ln>
        </p:spPr>
      </p:sp>
      <p:sp>
        <p:nvSpPr>
          <p:cNvPr id="5" name="Shape 3"/>
          <p:cNvSpPr/>
          <p:nvPr/>
        </p:nvSpPr>
        <p:spPr>
          <a:xfrm>
            <a:off x="877824" y="1975104"/>
            <a:ext cx="420624" cy="420624"/>
          </a:xfrm>
          <a:prstGeom prst="ellipse">
            <a:avLst/>
          </a:prstGeom>
          <a:solidFill>
            <a:srgbClr val="C8960A"/>
          </a:solidFill>
          <a:ln/>
        </p:spPr>
      </p:sp>
      <p:sp>
        <p:nvSpPr>
          <p:cNvPr id="6" name="Text 4"/>
          <p:cNvSpPr/>
          <p:nvPr/>
        </p:nvSpPr>
        <p:spPr>
          <a:xfrm>
            <a:off x="877824" y="197510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877824" y="2468880"/>
            <a:ext cx="30449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The Surface</a:t>
            </a:r>
            <a:endParaRPr lang="en-US" sz="1500" dirty="0"/>
          </a:p>
        </p:txBody>
      </p:sp>
      <p:sp>
        <p:nvSpPr>
          <p:cNvPr id="8" name="Text 6"/>
          <p:cNvSpPr/>
          <p:nvPr/>
        </p:nvSpPr>
        <p:spPr>
          <a:xfrm>
            <a:off x="877824" y="2816352"/>
            <a:ext cx="3044952" cy="206654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⚡ZAPP, the mascot, the merch, the community.</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Fun, loud, and the doorway. This is the only layer most people ever see, and that is fine. It is the layer that makes someone stop scrolling.</a:t>
            </a:r>
            <a:endParaRPr lang="en-US" sz="1150" dirty="0"/>
          </a:p>
        </p:txBody>
      </p:sp>
      <p:sp>
        <p:nvSpPr>
          <p:cNvPr id="9" name="Shape 7"/>
          <p:cNvSpPr/>
          <p:nvPr/>
        </p:nvSpPr>
        <p:spPr>
          <a:xfrm>
            <a:off x="4343400" y="1737360"/>
            <a:ext cx="3520440" cy="3383280"/>
          </a:xfrm>
          <a:prstGeom prst="roundRect">
            <a:avLst>
              <a:gd name="adj" fmla="val 2703"/>
            </a:avLst>
          </a:prstGeom>
          <a:solidFill>
            <a:srgbClr val="241A0E"/>
          </a:solidFill>
          <a:ln w="12700">
            <a:solidFill>
              <a:srgbClr val="3A2C18"/>
            </a:solidFill>
            <a:prstDash val="solid"/>
          </a:ln>
        </p:spPr>
      </p:sp>
      <p:sp>
        <p:nvSpPr>
          <p:cNvPr id="10" name="Shape 8"/>
          <p:cNvSpPr/>
          <p:nvPr/>
        </p:nvSpPr>
        <p:spPr>
          <a:xfrm>
            <a:off x="4581144" y="1975104"/>
            <a:ext cx="420624" cy="420624"/>
          </a:xfrm>
          <a:prstGeom prst="ellipse">
            <a:avLst/>
          </a:prstGeom>
          <a:solidFill>
            <a:srgbClr val="C8960A"/>
          </a:solidFill>
          <a:ln/>
        </p:spPr>
      </p:sp>
      <p:sp>
        <p:nvSpPr>
          <p:cNvPr id="11" name="Text 9"/>
          <p:cNvSpPr/>
          <p:nvPr/>
        </p:nvSpPr>
        <p:spPr>
          <a:xfrm>
            <a:off x="4581144" y="197510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4581144" y="2468880"/>
            <a:ext cx="30449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The Engine</a:t>
            </a:r>
            <a:endParaRPr lang="en-US" sz="1500" dirty="0"/>
          </a:p>
        </p:txBody>
      </p:sp>
      <p:sp>
        <p:nvSpPr>
          <p:cNvPr id="13" name="Text 11"/>
          <p:cNvSpPr/>
          <p:nvPr/>
        </p:nvSpPr>
        <p:spPr>
          <a:xfrm>
            <a:off x="4581144" y="2816352"/>
            <a:ext cx="3044952" cy="206654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A public treasury, buyback, burn and locked liquidity.</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A floor that compounds on real money from real sales. This is the layer that turns attention into something that lasts.</a:t>
            </a:r>
            <a:endParaRPr lang="en-US" sz="1150" dirty="0"/>
          </a:p>
        </p:txBody>
      </p:sp>
      <p:sp>
        <p:nvSpPr>
          <p:cNvPr id="14" name="Shape 12"/>
          <p:cNvSpPr/>
          <p:nvPr/>
        </p:nvSpPr>
        <p:spPr>
          <a:xfrm>
            <a:off x="8046720" y="1737360"/>
            <a:ext cx="3474720" cy="3383280"/>
          </a:xfrm>
          <a:prstGeom prst="roundRect">
            <a:avLst>
              <a:gd name="adj" fmla="val 2703"/>
            </a:avLst>
          </a:prstGeom>
          <a:solidFill>
            <a:srgbClr val="241A0E"/>
          </a:solidFill>
          <a:ln w="12700">
            <a:solidFill>
              <a:srgbClr val="3A2C18"/>
            </a:solidFill>
            <a:prstDash val="solid"/>
          </a:ln>
        </p:spPr>
      </p:sp>
      <p:sp>
        <p:nvSpPr>
          <p:cNvPr id="15" name="Shape 13"/>
          <p:cNvSpPr/>
          <p:nvPr/>
        </p:nvSpPr>
        <p:spPr>
          <a:xfrm>
            <a:off x="8284464" y="1975104"/>
            <a:ext cx="420624" cy="420624"/>
          </a:xfrm>
          <a:prstGeom prst="ellipse">
            <a:avLst/>
          </a:prstGeom>
          <a:solidFill>
            <a:srgbClr val="C8960A"/>
          </a:solidFill>
          <a:ln/>
        </p:spPr>
      </p:sp>
      <p:sp>
        <p:nvSpPr>
          <p:cNvPr id="16" name="Text 14"/>
          <p:cNvSpPr/>
          <p:nvPr/>
        </p:nvSpPr>
        <p:spPr>
          <a:xfrm>
            <a:off x="8284464" y="197510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8284464" y="2468880"/>
            <a:ext cx="299923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The Mission</a:t>
            </a:r>
            <a:endParaRPr lang="en-US" sz="1500" dirty="0"/>
          </a:p>
        </p:txBody>
      </p:sp>
      <p:sp>
        <p:nvSpPr>
          <p:cNvPr id="18" name="Text 16"/>
          <p:cNvSpPr/>
          <p:nvPr/>
        </p:nvSpPr>
        <p:spPr>
          <a:xfrm>
            <a:off x="8284464" y="2816352"/>
            <a:ext cx="2999232" cy="206654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Free energy and real help, verifiable on chain.</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The reason it all exists. Food and basics first, then identity and aid, given in the open.</a:t>
            </a:r>
            <a:endParaRPr lang="en-US" sz="1150" dirty="0"/>
          </a:p>
        </p:txBody>
      </p:sp>
      <p:sp>
        <p:nvSpPr>
          <p:cNvPr id="19" name="Text 17"/>
          <p:cNvSpPr/>
          <p:nvPr/>
        </p:nvSpPr>
        <p:spPr>
          <a:xfrm>
            <a:off x="640080" y="5349240"/>
            <a:ext cx="10881360" cy="365760"/>
          </a:xfrm>
          <a:prstGeom prst="rect">
            <a:avLst/>
          </a:prstGeom>
          <a:noFill/>
          <a:ln/>
        </p:spPr>
        <p:txBody>
          <a:bodyPr wrap="square" lIns="0" tIns="0" rIns="0" bIns="0" rtlCol="0" anchor="ctr"/>
          <a:lstStyle/>
          <a:p>
            <a:pPr algn="ctr" indent="0" marL="0">
              <a:buNone/>
            </a:pPr>
            <a:r>
              <a:rPr lang="en-US" sz="1500" i="1" dirty="0">
                <a:solidFill>
                  <a:srgbClr val="C8960A"/>
                </a:solidFill>
                <a:latin typeface="Cambria" pitchFamily="34" charset="0"/>
                <a:ea typeface="Cambria" pitchFamily="34" charset="-122"/>
                <a:cs typeface="Cambria" pitchFamily="34" charset="-120"/>
              </a:rPr>
              <a:t>The crowd only looks at the top. The engine and the mission carry the weight underneath.</a:t>
            </a:r>
            <a:endParaRPr lang="en-US" sz="1500" dirty="0"/>
          </a:p>
        </p:txBody>
      </p:sp>
      <p:sp>
        <p:nvSpPr>
          <p:cNvPr id="20" name="Text 18"/>
          <p:cNvSpPr/>
          <p:nvPr/>
        </p:nvSpPr>
        <p:spPr>
          <a:xfrm>
            <a:off x="640080" y="6382512"/>
            <a:ext cx="10881360" cy="274320"/>
          </a:xfrm>
          <a:prstGeom prst="rect">
            <a:avLst/>
          </a:prstGeom>
          <a:noFill/>
          <a:ln/>
        </p:spPr>
        <p:txBody>
          <a:bodyPr wrap="square" lIns="0" tIns="0" rIns="0" bIns="0" rtlCol="0" anchor="ctr"/>
          <a:lstStyle/>
          <a:p>
            <a:pPr algn="ctr" indent="0" marL="0">
              <a:buNone/>
            </a:pPr>
            <a:r>
              <a:rPr lang="en-US" sz="1000" dirty="0">
                <a:solidFill>
                  <a:srgbClr val="5E4C2E"/>
                </a:solidFill>
                <a:latin typeface="Calibri" pitchFamily="34" charset="0"/>
                <a:ea typeface="Calibri" pitchFamily="34" charset="-122"/>
                <a:cs typeface="Calibri" pitchFamily="34" charset="-120"/>
              </a:rPr>
              <a:t>3 · 6 · 9 · ∞</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110A"/>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250" kern="0" dirty="0">
                <a:solidFill>
                  <a:srgbClr val="C8960A"/>
                </a:solidFill>
                <a:latin typeface="Calibri" pitchFamily="34" charset="0"/>
                <a:ea typeface="Calibri" pitchFamily="34" charset="-122"/>
                <a:cs typeface="Calibri" pitchFamily="34" charset="-120"/>
              </a:rPr>
              <a:t>THE HEART OF IT</a:t>
            </a:r>
            <a:endParaRPr lang="en-US" sz="110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indent="0" marL="0">
              <a:buNone/>
            </a:pPr>
            <a:r>
              <a:rPr lang="en-US" sz="3400" b="1" dirty="0">
                <a:solidFill>
                  <a:srgbClr val="FBF4E2"/>
                </a:solidFill>
                <a:latin typeface="Cambria" pitchFamily="34" charset="0"/>
                <a:ea typeface="Cambria" pitchFamily="34" charset="-122"/>
                <a:cs typeface="Cambria" pitchFamily="34" charset="-120"/>
              </a:rPr>
              <a:t>The Floor Engine</a:t>
            </a:r>
            <a:endParaRPr lang="en-US" sz="3400" dirty="0"/>
          </a:p>
        </p:txBody>
      </p:sp>
      <p:sp>
        <p:nvSpPr>
          <p:cNvPr id="4" name="Text 2"/>
          <p:cNvSpPr/>
          <p:nvPr/>
        </p:nvSpPr>
        <p:spPr>
          <a:xfrm>
            <a:off x="640080" y="1554480"/>
            <a:ext cx="10881360" cy="411480"/>
          </a:xfrm>
          <a:prstGeom prst="rect">
            <a:avLst/>
          </a:prstGeom>
          <a:noFill/>
          <a:ln/>
        </p:spPr>
        <p:txBody>
          <a:bodyPr wrap="square" lIns="0" tIns="0" rIns="0" bIns="0" rtlCol="0" anchor="ctr"/>
          <a:lstStyle/>
          <a:p>
            <a:pPr algn="ctr" indent="0" marL="0">
              <a:buNone/>
            </a:pPr>
            <a:r>
              <a:rPr lang="en-US" sz="1500" b="1" dirty="0">
                <a:solidFill>
                  <a:srgbClr val="C8960A"/>
                </a:solidFill>
                <a:latin typeface="Courier New" pitchFamily="34" charset="0"/>
                <a:ea typeface="Courier New" pitchFamily="34" charset="-122"/>
                <a:cs typeface="Courier New" pitchFamily="34" charset="-120"/>
              </a:rPr>
              <a:t>value behind one coin  =  treasury value  ÷  number of coins</a:t>
            </a:r>
            <a:endParaRPr lang="en-US" sz="1500" dirty="0"/>
          </a:p>
        </p:txBody>
      </p:sp>
      <p:sp>
        <p:nvSpPr>
          <p:cNvPr id="5" name="Text 3"/>
          <p:cNvSpPr/>
          <p:nvPr/>
        </p:nvSpPr>
        <p:spPr>
          <a:xfrm>
            <a:off x="640080" y="2148840"/>
            <a:ext cx="4754880" cy="1828800"/>
          </a:xfrm>
          <a:prstGeom prst="rect">
            <a:avLst/>
          </a:prstGeom>
          <a:noFill/>
          <a:ln/>
        </p:spPr>
        <p:txBody>
          <a:bodyPr wrap="square" lIns="0" tIns="0" rIns="0" bIns="0" rtlCol="0" anchor="ctr"/>
          <a:lstStyle/>
          <a:p>
            <a:pPr indent="0" marL="0">
              <a:spcAft>
                <a:spcPts val="800"/>
              </a:spcAft>
              <a:buNone/>
            </a:pPr>
            <a:r>
              <a:rPr lang="en-US" sz="1300" dirty="0">
                <a:solidFill>
                  <a:srgbClr val="9B8A6B"/>
                </a:solidFill>
                <a:latin typeface="Calibri" pitchFamily="34" charset="0"/>
                <a:ea typeface="Calibri" pitchFamily="34" charset="-122"/>
                <a:cs typeface="Calibri" pitchFamily="34" charset="-120"/>
              </a:rPr>
              <a:t>Two honest ways to push it up, both paid by real money in.</a:t>
            </a:r>
            <a:endParaRPr lang="en-US" sz="1300" dirty="0"/>
          </a:p>
          <a:p>
            <a:pPr marL="342900" indent="-342900">
              <a:spcAft>
                <a:spcPts val="800"/>
              </a:spcAft>
              <a:buSzPct val="100000"/>
              <a:buChar char="•"/>
            </a:pPr>
            <a:r>
              <a:rPr lang="en-US" sz="1300" dirty="0">
                <a:solidFill>
                  <a:srgbClr val="9B8A6B"/>
                </a:solidFill>
                <a:latin typeface="Calibri" pitchFamily="34" charset="0"/>
                <a:ea typeface="Calibri" pitchFamily="34" charset="-122"/>
                <a:cs typeface="Calibri" pitchFamily="34" charset="-120"/>
              </a:rPr>
              <a:t>Grow the pot, so the top number rises.</a:t>
            </a:r>
            <a:endParaRPr lang="en-US" sz="1300" dirty="0"/>
          </a:p>
          <a:p>
            <a:pPr marL="342900" indent="-342900">
              <a:spcAft>
                <a:spcPts val="800"/>
              </a:spcAft>
              <a:buSzPct val="100000"/>
              <a:buChar char="•"/>
            </a:pPr>
            <a:r>
              <a:rPr lang="en-US" sz="1300" dirty="0">
                <a:solidFill>
                  <a:srgbClr val="9B8A6B"/>
                </a:solidFill>
                <a:latin typeface="Calibri" pitchFamily="34" charset="0"/>
                <a:ea typeface="Calibri" pitchFamily="34" charset="-122"/>
                <a:cs typeface="Calibri" pitchFamily="34" charset="-120"/>
              </a:rPr>
              <a:t>Buy coins back and remove them, so the bottom number falls.</a:t>
            </a:r>
            <a:endParaRPr lang="en-US" sz="1300" dirty="0"/>
          </a:p>
          <a:p>
            <a:pPr indent="0" marL="0">
              <a:spcAft>
                <a:spcPts val="800"/>
              </a:spcAft>
              <a:buNone/>
            </a:pPr>
            <a:r>
              <a:rPr lang="en-US" sz="1300" dirty="0">
                <a:solidFill>
                  <a:srgbClr val="9B8A6B"/>
                </a:solidFill>
                <a:latin typeface="Calibri" pitchFamily="34" charset="0"/>
                <a:ea typeface="Calibri" pitchFamily="34" charset="-122"/>
                <a:cs typeface="Calibri" pitchFamily="34" charset="-120"/>
              </a:rPr>
              <a:t>No trick anywhere. Anyone can audit the arithmetic.</a:t>
            </a:r>
            <a:endParaRPr lang="en-US" sz="1300" dirty="0"/>
          </a:p>
        </p:txBody>
      </p:sp>
      <p:sp>
        <p:nvSpPr>
          <p:cNvPr id="6" name="Shape 4"/>
          <p:cNvSpPr/>
          <p:nvPr/>
        </p:nvSpPr>
        <p:spPr>
          <a:xfrm>
            <a:off x="640080" y="4023360"/>
            <a:ext cx="4754880" cy="1828800"/>
          </a:xfrm>
          <a:prstGeom prst="roundRect">
            <a:avLst>
              <a:gd name="adj" fmla="val 5000"/>
            </a:avLst>
          </a:prstGeom>
          <a:solidFill>
            <a:srgbClr val="241A0E"/>
          </a:solidFill>
          <a:ln w="12700">
            <a:solidFill>
              <a:srgbClr val="3A2C18"/>
            </a:solidFill>
            <a:prstDash val="solid"/>
          </a:ln>
        </p:spPr>
      </p:sp>
      <p:sp>
        <p:nvSpPr>
          <p:cNvPr id="7" name="Text 5"/>
          <p:cNvSpPr/>
          <p:nvPr/>
        </p:nvSpPr>
        <p:spPr>
          <a:xfrm>
            <a:off x="877824" y="4242816"/>
            <a:ext cx="427939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The pot is no longer empty</a:t>
            </a:r>
            <a:endParaRPr lang="en-US" sz="1500" dirty="0"/>
          </a:p>
        </p:txBody>
      </p:sp>
      <p:sp>
        <p:nvSpPr>
          <p:cNvPr id="8" name="Text 6"/>
          <p:cNvSpPr/>
          <p:nvPr/>
        </p:nvSpPr>
        <p:spPr>
          <a:xfrm>
            <a:off x="877824" y="4626864"/>
            <a:ext cx="4279392" cy="987552"/>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The treasury already holds about 3.69M ⚡ZAPP and it is still adding up. The plan was written from zero. We are past that line. The curve is illustrative at about €3,000 a month of real sales. We grow the floor. We never promise the price.</a:t>
            </a:r>
            <a:endParaRPr lang="en-US" sz="1150" dirty="0"/>
          </a:p>
        </p:txBody>
      </p:sp>
      <p:graphicFrame>
        <p:nvGraphicFramePr>
          <p:cNvPr id="9" name="Chart 0" descr=""/>
          <p:cNvGraphicFramePr/>
          <p:nvPr/>
        </p:nvGraphicFramePr>
        <p:xfrm>
          <a:off x="5852160" y="2057400"/>
          <a:ext cx="5669280" cy="38404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7110A"/>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250" kern="0" dirty="0">
                <a:solidFill>
                  <a:srgbClr val="C8960A"/>
                </a:solidFill>
                <a:latin typeface="Calibri" pitchFamily="34" charset="0"/>
                <a:ea typeface="Calibri" pitchFamily="34" charset="-122"/>
                <a:cs typeface="Calibri" pitchFamily="34" charset="-120"/>
              </a:rPr>
              <a:t>0% TAX · THE MONEY IS REAL</a:t>
            </a:r>
            <a:endParaRPr lang="en-US" sz="110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indent="0" marL="0">
              <a:buNone/>
            </a:pPr>
            <a:r>
              <a:rPr lang="en-US" sz="3400" b="1" dirty="0">
                <a:solidFill>
                  <a:srgbClr val="FBF4E2"/>
                </a:solidFill>
                <a:latin typeface="Cambria" pitchFamily="34" charset="0"/>
                <a:ea typeface="Cambria" pitchFamily="34" charset="-122"/>
                <a:cs typeface="Cambria" pitchFamily="34" charset="-120"/>
              </a:rPr>
              <a:t>Where every euro of profit goes</a:t>
            </a:r>
            <a:endParaRPr lang="en-US" sz="3400" dirty="0"/>
          </a:p>
        </p:txBody>
      </p:sp>
      <p:sp>
        <p:nvSpPr>
          <p:cNvPr id="4" name="Shape 2"/>
          <p:cNvSpPr/>
          <p:nvPr/>
        </p:nvSpPr>
        <p:spPr>
          <a:xfrm>
            <a:off x="640080" y="1737360"/>
            <a:ext cx="2583180" cy="1371600"/>
          </a:xfrm>
          <a:prstGeom prst="roundRect">
            <a:avLst>
              <a:gd name="adj" fmla="val 6667"/>
            </a:avLst>
          </a:prstGeom>
          <a:solidFill>
            <a:srgbClr val="241A0E"/>
          </a:solidFill>
          <a:ln w="12700">
            <a:solidFill>
              <a:srgbClr val="3A2C18"/>
            </a:solidFill>
            <a:prstDash val="solid"/>
          </a:ln>
        </p:spPr>
      </p:sp>
      <p:sp>
        <p:nvSpPr>
          <p:cNvPr id="5" name="Text 3"/>
          <p:cNvSpPr/>
          <p:nvPr/>
        </p:nvSpPr>
        <p:spPr>
          <a:xfrm>
            <a:off x="640080" y="1901952"/>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40%</a:t>
            </a:r>
            <a:endParaRPr lang="en-US" sz="3000" dirty="0"/>
          </a:p>
        </p:txBody>
      </p:sp>
      <p:sp>
        <p:nvSpPr>
          <p:cNvPr id="6" name="Text 4"/>
          <p:cNvSpPr/>
          <p:nvPr/>
        </p:nvSpPr>
        <p:spPr>
          <a:xfrm>
            <a:off x="749808" y="2578608"/>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grows the treasury</a:t>
            </a:r>
            <a:endParaRPr lang="en-US" sz="1100" dirty="0"/>
          </a:p>
        </p:txBody>
      </p:sp>
      <p:sp>
        <p:nvSpPr>
          <p:cNvPr id="7" name="Shape 5"/>
          <p:cNvSpPr/>
          <p:nvPr/>
        </p:nvSpPr>
        <p:spPr>
          <a:xfrm>
            <a:off x="3406140" y="1737360"/>
            <a:ext cx="2583180" cy="1371600"/>
          </a:xfrm>
          <a:prstGeom prst="roundRect">
            <a:avLst>
              <a:gd name="adj" fmla="val 6667"/>
            </a:avLst>
          </a:prstGeom>
          <a:solidFill>
            <a:srgbClr val="241A0E"/>
          </a:solidFill>
          <a:ln w="12700">
            <a:solidFill>
              <a:srgbClr val="3A2C18"/>
            </a:solidFill>
            <a:prstDash val="solid"/>
          </a:ln>
        </p:spPr>
      </p:sp>
      <p:sp>
        <p:nvSpPr>
          <p:cNvPr id="8" name="Text 6"/>
          <p:cNvSpPr/>
          <p:nvPr/>
        </p:nvSpPr>
        <p:spPr>
          <a:xfrm>
            <a:off x="3406140" y="1901952"/>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30%</a:t>
            </a:r>
            <a:endParaRPr lang="en-US" sz="3000" dirty="0"/>
          </a:p>
        </p:txBody>
      </p:sp>
      <p:sp>
        <p:nvSpPr>
          <p:cNvPr id="9" name="Text 7"/>
          <p:cNvSpPr/>
          <p:nvPr/>
        </p:nvSpPr>
        <p:spPr>
          <a:xfrm>
            <a:off x="3515868" y="2578608"/>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buyback and burn</a:t>
            </a:r>
            <a:endParaRPr lang="en-US" sz="1100" dirty="0"/>
          </a:p>
        </p:txBody>
      </p:sp>
      <p:sp>
        <p:nvSpPr>
          <p:cNvPr id="10" name="Shape 8"/>
          <p:cNvSpPr/>
          <p:nvPr/>
        </p:nvSpPr>
        <p:spPr>
          <a:xfrm>
            <a:off x="6172200" y="1737360"/>
            <a:ext cx="2583180" cy="1371600"/>
          </a:xfrm>
          <a:prstGeom prst="roundRect">
            <a:avLst>
              <a:gd name="adj" fmla="val 6667"/>
            </a:avLst>
          </a:prstGeom>
          <a:solidFill>
            <a:srgbClr val="241A0E"/>
          </a:solidFill>
          <a:ln w="12700">
            <a:solidFill>
              <a:srgbClr val="3A2C18"/>
            </a:solidFill>
            <a:prstDash val="solid"/>
          </a:ln>
        </p:spPr>
      </p:sp>
      <p:sp>
        <p:nvSpPr>
          <p:cNvPr id="11" name="Text 9"/>
          <p:cNvSpPr/>
          <p:nvPr/>
        </p:nvSpPr>
        <p:spPr>
          <a:xfrm>
            <a:off x="6172200" y="1901952"/>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20%</a:t>
            </a:r>
            <a:endParaRPr lang="en-US" sz="3000" dirty="0"/>
          </a:p>
        </p:txBody>
      </p:sp>
      <p:sp>
        <p:nvSpPr>
          <p:cNvPr id="12" name="Text 10"/>
          <p:cNvSpPr/>
          <p:nvPr/>
        </p:nvSpPr>
        <p:spPr>
          <a:xfrm>
            <a:off x="6281928" y="2578608"/>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pays the people</a:t>
            </a:r>
            <a:endParaRPr lang="en-US" sz="1100" dirty="0"/>
          </a:p>
        </p:txBody>
      </p:sp>
      <p:sp>
        <p:nvSpPr>
          <p:cNvPr id="13" name="Shape 11"/>
          <p:cNvSpPr/>
          <p:nvPr/>
        </p:nvSpPr>
        <p:spPr>
          <a:xfrm>
            <a:off x="8938260" y="1737360"/>
            <a:ext cx="2583180" cy="1371600"/>
          </a:xfrm>
          <a:prstGeom prst="roundRect">
            <a:avLst>
              <a:gd name="adj" fmla="val 6667"/>
            </a:avLst>
          </a:prstGeom>
          <a:solidFill>
            <a:srgbClr val="241A0E"/>
          </a:solidFill>
          <a:ln w="12700">
            <a:solidFill>
              <a:srgbClr val="3A2C18"/>
            </a:solidFill>
            <a:prstDash val="solid"/>
          </a:ln>
        </p:spPr>
      </p:sp>
      <p:sp>
        <p:nvSpPr>
          <p:cNvPr id="14" name="Text 12"/>
          <p:cNvSpPr/>
          <p:nvPr/>
        </p:nvSpPr>
        <p:spPr>
          <a:xfrm>
            <a:off x="8938260" y="1901952"/>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10%</a:t>
            </a:r>
            <a:endParaRPr lang="en-US" sz="3000" dirty="0"/>
          </a:p>
        </p:txBody>
      </p:sp>
      <p:sp>
        <p:nvSpPr>
          <p:cNvPr id="15" name="Text 13"/>
          <p:cNvSpPr/>
          <p:nvPr/>
        </p:nvSpPr>
        <p:spPr>
          <a:xfrm>
            <a:off x="9047988" y="2578608"/>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the cause and costs</a:t>
            </a:r>
            <a:endParaRPr lang="en-US" sz="1100" dirty="0"/>
          </a:p>
        </p:txBody>
      </p:sp>
      <p:sp>
        <p:nvSpPr>
          <p:cNvPr id="16" name="Shape 14"/>
          <p:cNvSpPr/>
          <p:nvPr/>
        </p:nvSpPr>
        <p:spPr>
          <a:xfrm>
            <a:off x="640080" y="3383280"/>
            <a:ext cx="3520440" cy="2331720"/>
          </a:xfrm>
          <a:prstGeom prst="roundRect">
            <a:avLst>
              <a:gd name="adj" fmla="val 3922"/>
            </a:avLst>
          </a:prstGeom>
          <a:solidFill>
            <a:srgbClr val="241A0E"/>
          </a:solidFill>
          <a:ln w="12700">
            <a:solidFill>
              <a:srgbClr val="3A2C18"/>
            </a:solidFill>
            <a:prstDash val="solid"/>
          </a:ln>
        </p:spPr>
      </p:sp>
      <p:sp>
        <p:nvSpPr>
          <p:cNvPr id="17" name="Shape 15"/>
          <p:cNvSpPr/>
          <p:nvPr/>
        </p:nvSpPr>
        <p:spPr>
          <a:xfrm>
            <a:off x="877824" y="3621024"/>
            <a:ext cx="420624" cy="420624"/>
          </a:xfrm>
          <a:prstGeom prst="ellipse">
            <a:avLst/>
          </a:prstGeom>
          <a:solidFill>
            <a:srgbClr val="C8960A"/>
          </a:solidFill>
          <a:ln/>
        </p:spPr>
      </p:sp>
      <p:sp>
        <p:nvSpPr>
          <p:cNvPr id="18" name="Text 16"/>
          <p:cNvSpPr/>
          <p:nvPr/>
        </p:nvSpPr>
        <p:spPr>
          <a:xfrm>
            <a:off x="877824" y="362102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877824" y="4114800"/>
            <a:ext cx="30449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The double burn</a:t>
            </a:r>
            <a:endParaRPr lang="en-US" sz="1500" dirty="0"/>
          </a:p>
        </p:txBody>
      </p:sp>
      <p:sp>
        <p:nvSpPr>
          <p:cNvPr id="20" name="Text 18"/>
          <p:cNvSpPr/>
          <p:nvPr/>
        </p:nvSpPr>
        <p:spPr>
          <a:xfrm>
            <a:off x="877824" y="4462272"/>
            <a:ext cx="3044952" cy="101498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Bought coins go down one of two drains. Burned to null, gone forever, so the floor rises. Or locked into liquidity, so the market gets deeper and can never be pulled.</a:t>
            </a:r>
            <a:endParaRPr lang="en-US" sz="1150" dirty="0"/>
          </a:p>
        </p:txBody>
      </p:sp>
      <p:sp>
        <p:nvSpPr>
          <p:cNvPr id="21" name="Shape 19"/>
          <p:cNvSpPr/>
          <p:nvPr/>
        </p:nvSpPr>
        <p:spPr>
          <a:xfrm>
            <a:off x="4343400" y="3383280"/>
            <a:ext cx="3520440" cy="2331720"/>
          </a:xfrm>
          <a:prstGeom prst="roundRect">
            <a:avLst>
              <a:gd name="adj" fmla="val 3922"/>
            </a:avLst>
          </a:prstGeom>
          <a:solidFill>
            <a:srgbClr val="241A0E"/>
          </a:solidFill>
          <a:ln w="12700">
            <a:solidFill>
              <a:srgbClr val="3A2C18"/>
            </a:solidFill>
            <a:prstDash val="solid"/>
          </a:ln>
        </p:spPr>
      </p:sp>
      <p:sp>
        <p:nvSpPr>
          <p:cNvPr id="22" name="Shape 20"/>
          <p:cNvSpPr/>
          <p:nvPr/>
        </p:nvSpPr>
        <p:spPr>
          <a:xfrm>
            <a:off x="4581144" y="3621024"/>
            <a:ext cx="420624" cy="420624"/>
          </a:xfrm>
          <a:prstGeom prst="ellipse">
            <a:avLst/>
          </a:prstGeom>
          <a:solidFill>
            <a:srgbClr val="C8960A"/>
          </a:solidFill>
          <a:ln/>
        </p:spPr>
      </p:sp>
      <p:sp>
        <p:nvSpPr>
          <p:cNvPr id="23" name="Text 21"/>
          <p:cNvSpPr/>
          <p:nvPr/>
        </p:nvSpPr>
        <p:spPr>
          <a:xfrm>
            <a:off x="4581144" y="362102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4581144" y="4114800"/>
            <a:ext cx="30449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Why it sums to two</a:t>
            </a:r>
            <a:endParaRPr lang="en-US" sz="1500" dirty="0"/>
          </a:p>
        </p:txBody>
      </p:sp>
      <p:sp>
        <p:nvSpPr>
          <p:cNvPr id="25" name="Text 23"/>
          <p:cNvSpPr/>
          <p:nvPr/>
        </p:nvSpPr>
        <p:spPr>
          <a:xfrm>
            <a:off x="4581144" y="4462272"/>
            <a:ext cx="3044952" cy="101498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1 + ½ + ¼ + ⅛ … = 2. Recycle a share each cycle and it settles instead of exploding. The part not recycled, paying people and helping families, is what keeps the maths honest.</a:t>
            </a:r>
            <a:endParaRPr lang="en-US" sz="1150" dirty="0"/>
          </a:p>
        </p:txBody>
      </p:sp>
      <p:sp>
        <p:nvSpPr>
          <p:cNvPr id="26" name="Shape 24"/>
          <p:cNvSpPr/>
          <p:nvPr/>
        </p:nvSpPr>
        <p:spPr>
          <a:xfrm>
            <a:off x="8046720" y="3383280"/>
            <a:ext cx="3474720" cy="2331720"/>
          </a:xfrm>
          <a:prstGeom prst="roundRect">
            <a:avLst>
              <a:gd name="adj" fmla="val 3922"/>
            </a:avLst>
          </a:prstGeom>
          <a:solidFill>
            <a:srgbClr val="241A0E"/>
          </a:solidFill>
          <a:ln w="12700">
            <a:solidFill>
              <a:srgbClr val="3A2C18"/>
            </a:solidFill>
            <a:prstDash val="solid"/>
          </a:ln>
        </p:spPr>
      </p:sp>
      <p:sp>
        <p:nvSpPr>
          <p:cNvPr id="27" name="Shape 25"/>
          <p:cNvSpPr/>
          <p:nvPr/>
        </p:nvSpPr>
        <p:spPr>
          <a:xfrm>
            <a:off x="8284464" y="3621024"/>
            <a:ext cx="420624" cy="420624"/>
          </a:xfrm>
          <a:prstGeom prst="ellipse">
            <a:avLst/>
          </a:prstGeom>
          <a:solidFill>
            <a:srgbClr val="C8960A"/>
          </a:solidFill>
          <a:ln/>
        </p:spPr>
      </p:sp>
      <p:sp>
        <p:nvSpPr>
          <p:cNvPr id="28" name="Text 26"/>
          <p:cNvSpPr/>
          <p:nvPr/>
        </p:nvSpPr>
        <p:spPr>
          <a:xfrm>
            <a:off x="8284464" y="362102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a:t>
            </a:r>
            <a:endParaRPr lang="en-US" sz="1400" dirty="0"/>
          </a:p>
        </p:txBody>
      </p:sp>
      <p:sp>
        <p:nvSpPr>
          <p:cNvPr id="29" name="Text 27"/>
          <p:cNvSpPr/>
          <p:nvPr/>
        </p:nvSpPr>
        <p:spPr>
          <a:xfrm>
            <a:off x="8284464" y="4114800"/>
            <a:ext cx="299923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Reward the givers</a:t>
            </a:r>
            <a:endParaRPr lang="en-US" sz="1500" dirty="0"/>
          </a:p>
        </p:txBody>
      </p:sp>
      <p:sp>
        <p:nvSpPr>
          <p:cNvPr id="30" name="Text 28"/>
          <p:cNvSpPr/>
          <p:nvPr/>
        </p:nvSpPr>
        <p:spPr>
          <a:xfrm>
            <a:off x="8284464" y="4462272"/>
            <a:ext cx="2999232" cy="101498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You earn by giving value, never by depositing money. A reputation you cannot buy or fake. Reward what people do, never how much they hold.</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110A"/>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250" kern="0" dirty="0">
                <a:solidFill>
                  <a:srgbClr val="C8960A"/>
                </a:solidFill>
                <a:latin typeface="Calibri" pitchFamily="34" charset="0"/>
                <a:ea typeface="Calibri" pitchFamily="34" charset="-122"/>
                <a:cs typeface="Calibri" pitchFamily="34" charset="-120"/>
              </a:rPr>
              <a:t>THE ONLY THREE THINGS A STRANGER CAN CHECK</a:t>
            </a:r>
            <a:endParaRPr lang="en-US" sz="110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indent="0" marL="0">
              <a:buNone/>
            </a:pPr>
            <a:r>
              <a:rPr lang="en-US" sz="3400" b="1" dirty="0">
                <a:solidFill>
                  <a:srgbClr val="FBF4E2"/>
                </a:solidFill>
                <a:latin typeface="Cambria" pitchFamily="34" charset="0"/>
                <a:ea typeface="Cambria" pitchFamily="34" charset="-122"/>
                <a:cs typeface="Cambria" pitchFamily="34" charset="-120"/>
              </a:rPr>
              <a:t>Speed, trust, transparency</a:t>
            </a:r>
            <a:endParaRPr lang="en-US" sz="3400" dirty="0"/>
          </a:p>
        </p:txBody>
      </p:sp>
      <p:sp>
        <p:nvSpPr>
          <p:cNvPr id="4" name="Shape 2"/>
          <p:cNvSpPr/>
          <p:nvPr/>
        </p:nvSpPr>
        <p:spPr>
          <a:xfrm>
            <a:off x="640080" y="1737360"/>
            <a:ext cx="3520440" cy="3749040"/>
          </a:xfrm>
          <a:prstGeom prst="roundRect">
            <a:avLst>
              <a:gd name="adj" fmla="val 2597"/>
            </a:avLst>
          </a:prstGeom>
          <a:solidFill>
            <a:srgbClr val="241A0E"/>
          </a:solidFill>
          <a:ln w="12700">
            <a:solidFill>
              <a:srgbClr val="3A2C18"/>
            </a:solidFill>
            <a:prstDash val="solid"/>
          </a:ln>
        </p:spPr>
      </p:sp>
      <p:sp>
        <p:nvSpPr>
          <p:cNvPr id="5" name="Shape 3"/>
          <p:cNvSpPr/>
          <p:nvPr/>
        </p:nvSpPr>
        <p:spPr>
          <a:xfrm>
            <a:off x="877824" y="1975104"/>
            <a:ext cx="420624" cy="420624"/>
          </a:xfrm>
          <a:prstGeom prst="ellipse">
            <a:avLst/>
          </a:prstGeom>
          <a:solidFill>
            <a:srgbClr val="C8960A"/>
          </a:solidFill>
          <a:ln/>
        </p:spPr>
      </p:sp>
      <p:sp>
        <p:nvSpPr>
          <p:cNvPr id="6" name="Text 4"/>
          <p:cNvSpPr/>
          <p:nvPr/>
        </p:nvSpPr>
        <p:spPr>
          <a:xfrm>
            <a:off x="877824" y="197510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877824" y="2468880"/>
            <a:ext cx="30449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Speed</a:t>
            </a:r>
            <a:endParaRPr lang="en-US" sz="1500" dirty="0"/>
          </a:p>
        </p:txBody>
      </p:sp>
      <p:sp>
        <p:nvSpPr>
          <p:cNvPr id="8" name="Text 6"/>
          <p:cNvSpPr/>
          <p:nvPr/>
        </p:nvSpPr>
        <p:spPr>
          <a:xfrm>
            <a:off x="877824" y="2816352"/>
            <a:ext cx="3044952" cy="243230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Solana settles in under a second for a fraction of a cent, with Proof of History keeping verifiable time.</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That is what makes a daily dollar and constant transparent buybacks possible at all. On a slow chain the fees would eat the whole idea.</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Money should move at the speed of light, because money is energy.</a:t>
            </a:r>
            <a:endParaRPr lang="en-US" sz="1150" dirty="0"/>
          </a:p>
        </p:txBody>
      </p:sp>
      <p:sp>
        <p:nvSpPr>
          <p:cNvPr id="9" name="Shape 7"/>
          <p:cNvSpPr/>
          <p:nvPr/>
        </p:nvSpPr>
        <p:spPr>
          <a:xfrm>
            <a:off x="4343400" y="1737360"/>
            <a:ext cx="3520440" cy="3749040"/>
          </a:xfrm>
          <a:prstGeom prst="roundRect">
            <a:avLst>
              <a:gd name="adj" fmla="val 2597"/>
            </a:avLst>
          </a:prstGeom>
          <a:solidFill>
            <a:srgbClr val="241A0E"/>
          </a:solidFill>
          <a:ln w="12700">
            <a:solidFill>
              <a:srgbClr val="3A2C18"/>
            </a:solidFill>
            <a:prstDash val="solid"/>
          </a:ln>
        </p:spPr>
      </p:sp>
      <p:sp>
        <p:nvSpPr>
          <p:cNvPr id="10" name="Shape 8"/>
          <p:cNvSpPr/>
          <p:nvPr/>
        </p:nvSpPr>
        <p:spPr>
          <a:xfrm>
            <a:off x="4581144" y="1975104"/>
            <a:ext cx="420624" cy="420624"/>
          </a:xfrm>
          <a:prstGeom prst="ellipse">
            <a:avLst/>
          </a:prstGeom>
          <a:solidFill>
            <a:srgbClr val="C8960A"/>
          </a:solidFill>
          <a:ln/>
        </p:spPr>
      </p:sp>
      <p:sp>
        <p:nvSpPr>
          <p:cNvPr id="11" name="Text 9"/>
          <p:cNvSpPr/>
          <p:nvPr/>
        </p:nvSpPr>
        <p:spPr>
          <a:xfrm>
            <a:off x="4581144" y="197510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4581144" y="2468880"/>
            <a:ext cx="30449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Trust</a:t>
            </a:r>
            <a:endParaRPr lang="en-US" sz="1500" dirty="0"/>
          </a:p>
        </p:txBody>
      </p:sp>
      <p:sp>
        <p:nvSpPr>
          <p:cNvPr id="13" name="Text 11"/>
          <p:cNvSpPr/>
          <p:nvPr/>
        </p:nvSpPr>
        <p:spPr>
          <a:xfrm>
            <a:off x="4581144" y="2816352"/>
            <a:ext cx="3044952" cy="243230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Liquidity burned. Zero tax. A public contract anyone can read.</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We do not ask anyone to believe us. Every claim here resolves to something on chain that a stranger can verify without our permission.</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Trust that has to be requested is not trust. It is marketing.</a:t>
            </a:r>
            <a:endParaRPr lang="en-US" sz="1150" dirty="0"/>
          </a:p>
        </p:txBody>
      </p:sp>
      <p:sp>
        <p:nvSpPr>
          <p:cNvPr id="14" name="Shape 12"/>
          <p:cNvSpPr/>
          <p:nvPr/>
        </p:nvSpPr>
        <p:spPr>
          <a:xfrm>
            <a:off x="8046720" y="1737360"/>
            <a:ext cx="3474720" cy="3749040"/>
          </a:xfrm>
          <a:prstGeom prst="roundRect">
            <a:avLst>
              <a:gd name="adj" fmla="val 2632"/>
            </a:avLst>
          </a:prstGeom>
          <a:solidFill>
            <a:srgbClr val="241A0E"/>
          </a:solidFill>
          <a:ln w="12700">
            <a:solidFill>
              <a:srgbClr val="3A2C18"/>
            </a:solidFill>
            <a:prstDash val="solid"/>
          </a:ln>
        </p:spPr>
      </p:sp>
      <p:sp>
        <p:nvSpPr>
          <p:cNvPr id="15" name="Shape 13"/>
          <p:cNvSpPr/>
          <p:nvPr/>
        </p:nvSpPr>
        <p:spPr>
          <a:xfrm>
            <a:off x="8284464" y="1975104"/>
            <a:ext cx="420624" cy="420624"/>
          </a:xfrm>
          <a:prstGeom prst="ellipse">
            <a:avLst/>
          </a:prstGeom>
          <a:solidFill>
            <a:srgbClr val="C8960A"/>
          </a:solidFill>
          <a:ln/>
        </p:spPr>
      </p:sp>
      <p:sp>
        <p:nvSpPr>
          <p:cNvPr id="16" name="Text 14"/>
          <p:cNvSpPr/>
          <p:nvPr/>
        </p:nvSpPr>
        <p:spPr>
          <a:xfrm>
            <a:off x="8284464" y="197510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8284464" y="2468880"/>
            <a:ext cx="299923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Transparency</a:t>
            </a:r>
            <a:endParaRPr lang="en-US" sz="1500" dirty="0"/>
          </a:p>
        </p:txBody>
      </p:sp>
      <p:sp>
        <p:nvSpPr>
          <p:cNvPr id="18" name="Text 16"/>
          <p:cNvSpPr/>
          <p:nvPr/>
        </p:nvSpPr>
        <p:spPr>
          <a:xfrm>
            <a:off x="8284464" y="2816352"/>
            <a:ext cx="2999232" cy="243230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A public treasury address, a written public policy, and books that stay open.</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We publish the misses too. The bot that broke, the listings still pending, the revenue that is not meaningful yet.</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A roadmap that records only wins is a sales page.</a:t>
            </a:r>
            <a:endParaRPr lang="en-US" sz="1150" dirty="0"/>
          </a:p>
        </p:txBody>
      </p:sp>
      <p:sp>
        <p:nvSpPr>
          <p:cNvPr id="19" name="Text 17"/>
          <p:cNvSpPr/>
          <p:nvPr/>
        </p:nvSpPr>
        <p:spPr>
          <a:xfrm>
            <a:off x="640080" y="6382512"/>
            <a:ext cx="10881360" cy="274320"/>
          </a:xfrm>
          <a:prstGeom prst="rect">
            <a:avLst/>
          </a:prstGeom>
          <a:noFill/>
          <a:ln/>
        </p:spPr>
        <p:txBody>
          <a:bodyPr wrap="square" lIns="0" tIns="0" rIns="0" bIns="0" rtlCol="0" anchor="ctr"/>
          <a:lstStyle/>
          <a:p>
            <a:pPr algn="ctr" indent="0" marL="0">
              <a:buNone/>
            </a:pPr>
            <a:r>
              <a:rPr lang="en-US" sz="1000" dirty="0">
                <a:solidFill>
                  <a:srgbClr val="5E4C2E"/>
                </a:solidFill>
                <a:latin typeface="Calibri" pitchFamily="34" charset="0"/>
                <a:ea typeface="Calibri" pitchFamily="34" charset="-122"/>
                <a:cs typeface="Calibri" pitchFamily="34" charset="-120"/>
              </a:rPr>
              <a:t>3 · 6 · 9 · ∞</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110A"/>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250" kern="0" dirty="0">
                <a:solidFill>
                  <a:srgbClr val="C8960A"/>
                </a:solidFill>
                <a:latin typeface="Calibri" pitchFamily="34" charset="0"/>
                <a:ea typeface="Calibri" pitchFamily="34" charset="-122"/>
                <a:cs typeface="Calibri" pitchFamily="34" charset="-120"/>
              </a:rPr>
              <a:t>SIX CHANNELS, ONE FREQUENCY</a:t>
            </a:r>
            <a:endParaRPr lang="en-US" sz="110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indent="0" marL="0">
              <a:buNone/>
            </a:pPr>
            <a:r>
              <a:rPr lang="en-US" sz="3400" b="1" dirty="0">
                <a:solidFill>
                  <a:srgbClr val="FBF4E2"/>
                </a:solidFill>
                <a:latin typeface="Cambria" pitchFamily="34" charset="0"/>
                <a:ea typeface="Cambria" pitchFamily="34" charset="-122"/>
                <a:cs typeface="Cambria" pitchFamily="34" charset="-120"/>
              </a:rPr>
              <a:t>The community</a:t>
            </a:r>
            <a:endParaRPr lang="en-US" sz="3400" dirty="0"/>
          </a:p>
        </p:txBody>
      </p:sp>
      <p:sp>
        <p:nvSpPr>
          <p:cNvPr id="4" name="Shape 2"/>
          <p:cNvSpPr/>
          <p:nvPr/>
        </p:nvSpPr>
        <p:spPr>
          <a:xfrm>
            <a:off x="640080" y="1737360"/>
            <a:ext cx="1673352" cy="2697480"/>
          </a:xfrm>
          <a:prstGeom prst="roundRect">
            <a:avLst>
              <a:gd name="adj" fmla="val 5464"/>
            </a:avLst>
          </a:prstGeom>
          <a:solidFill>
            <a:srgbClr val="241A0E"/>
          </a:solidFill>
          <a:ln w="12700">
            <a:solidFill>
              <a:srgbClr val="3A2C18"/>
            </a:solidFill>
            <a:prstDash val="solid"/>
          </a:ln>
        </p:spPr>
      </p:sp>
      <p:sp>
        <p:nvSpPr>
          <p:cNvPr id="5" name="Text 3"/>
          <p:cNvSpPr/>
          <p:nvPr/>
        </p:nvSpPr>
        <p:spPr>
          <a:xfrm>
            <a:off x="877824" y="1956816"/>
            <a:ext cx="1197864"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Telegram</a:t>
            </a:r>
            <a:endParaRPr lang="en-US" sz="1500" dirty="0"/>
          </a:p>
        </p:txBody>
      </p:sp>
      <p:sp>
        <p:nvSpPr>
          <p:cNvPr id="6" name="Text 4"/>
          <p:cNvSpPr/>
          <p:nvPr/>
        </p:nvSpPr>
        <p:spPr>
          <a:xfrm>
            <a:off x="877824" y="2340864"/>
            <a:ext cx="1197864" cy="1856232"/>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t.me/ZAPP369</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the home room, run by our own bot</a:t>
            </a:r>
            <a:endParaRPr lang="en-US" sz="1150" dirty="0"/>
          </a:p>
        </p:txBody>
      </p:sp>
      <p:sp>
        <p:nvSpPr>
          <p:cNvPr id="7" name="Shape 5"/>
          <p:cNvSpPr/>
          <p:nvPr/>
        </p:nvSpPr>
        <p:spPr>
          <a:xfrm>
            <a:off x="2468880" y="1737360"/>
            <a:ext cx="1673352" cy="2697480"/>
          </a:xfrm>
          <a:prstGeom prst="roundRect">
            <a:avLst>
              <a:gd name="adj" fmla="val 5464"/>
            </a:avLst>
          </a:prstGeom>
          <a:solidFill>
            <a:srgbClr val="241A0E"/>
          </a:solidFill>
          <a:ln w="12700">
            <a:solidFill>
              <a:srgbClr val="3A2C18"/>
            </a:solidFill>
            <a:prstDash val="solid"/>
          </a:ln>
        </p:spPr>
      </p:sp>
      <p:sp>
        <p:nvSpPr>
          <p:cNvPr id="8" name="Text 6"/>
          <p:cNvSpPr/>
          <p:nvPr/>
        </p:nvSpPr>
        <p:spPr>
          <a:xfrm>
            <a:off x="2706624" y="1956816"/>
            <a:ext cx="1197864"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X</a:t>
            </a:r>
            <a:endParaRPr lang="en-US" sz="1500" dirty="0"/>
          </a:p>
        </p:txBody>
      </p:sp>
      <p:sp>
        <p:nvSpPr>
          <p:cNvPr id="9" name="Text 7"/>
          <p:cNvSpPr/>
          <p:nvPr/>
        </p:nvSpPr>
        <p:spPr>
          <a:xfrm>
            <a:off x="2706624" y="2340864"/>
            <a:ext cx="1197864" cy="1856232"/>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@ZAPPonSOL</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the signal, daily</a:t>
            </a:r>
            <a:endParaRPr lang="en-US" sz="1150" dirty="0"/>
          </a:p>
        </p:txBody>
      </p:sp>
      <p:sp>
        <p:nvSpPr>
          <p:cNvPr id="10" name="Shape 8"/>
          <p:cNvSpPr/>
          <p:nvPr/>
        </p:nvSpPr>
        <p:spPr>
          <a:xfrm>
            <a:off x="4297680" y="1737360"/>
            <a:ext cx="1673352" cy="2697480"/>
          </a:xfrm>
          <a:prstGeom prst="roundRect">
            <a:avLst>
              <a:gd name="adj" fmla="val 5464"/>
            </a:avLst>
          </a:prstGeom>
          <a:solidFill>
            <a:srgbClr val="241A0E"/>
          </a:solidFill>
          <a:ln w="12700">
            <a:solidFill>
              <a:srgbClr val="3A2C18"/>
            </a:solidFill>
            <a:prstDash val="solid"/>
          </a:ln>
        </p:spPr>
      </p:sp>
      <p:sp>
        <p:nvSpPr>
          <p:cNvPr id="11" name="Text 9"/>
          <p:cNvSpPr/>
          <p:nvPr/>
        </p:nvSpPr>
        <p:spPr>
          <a:xfrm>
            <a:off x="4535424" y="1956816"/>
            <a:ext cx="1197864"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Instagram</a:t>
            </a:r>
            <a:endParaRPr lang="en-US" sz="1500" dirty="0"/>
          </a:p>
        </p:txBody>
      </p:sp>
      <p:sp>
        <p:nvSpPr>
          <p:cNvPr id="12" name="Text 10"/>
          <p:cNvSpPr/>
          <p:nvPr/>
        </p:nvSpPr>
        <p:spPr>
          <a:xfrm>
            <a:off x="4535424" y="2340864"/>
            <a:ext cx="1197864" cy="1856232"/>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zapp369.energy</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the mascot and the merch</a:t>
            </a:r>
            <a:endParaRPr lang="en-US" sz="1150" dirty="0"/>
          </a:p>
        </p:txBody>
      </p:sp>
      <p:sp>
        <p:nvSpPr>
          <p:cNvPr id="13" name="Shape 11"/>
          <p:cNvSpPr/>
          <p:nvPr/>
        </p:nvSpPr>
        <p:spPr>
          <a:xfrm>
            <a:off x="6126480" y="1737360"/>
            <a:ext cx="1673352" cy="2697480"/>
          </a:xfrm>
          <a:prstGeom prst="roundRect">
            <a:avLst>
              <a:gd name="adj" fmla="val 5464"/>
            </a:avLst>
          </a:prstGeom>
          <a:solidFill>
            <a:srgbClr val="241A0E"/>
          </a:solidFill>
          <a:ln w="12700">
            <a:solidFill>
              <a:srgbClr val="3A2C18"/>
            </a:solidFill>
            <a:prstDash val="solid"/>
          </a:ln>
        </p:spPr>
      </p:sp>
      <p:sp>
        <p:nvSpPr>
          <p:cNvPr id="14" name="Text 12"/>
          <p:cNvSpPr/>
          <p:nvPr/>
        </p:nvSpPr>
        <p:spPr>
          <a:xfrm>
            <a:off x="6364224" y="1956816"/>
            <a:ext cx="1197864"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TikTok</a:t>
            </a:r>
            <a:endParaRPr lang="en-US" sz="1500" dirty="0"/>
          </a:p>
        </p:txBody>
      </p:sp>
      <p:sp>
        <p:nvSpPr>
          <p:cNvPr id="15" name="Text 13"/>
          <p:cNvSpPr/>
          <p:nvPr/>
        </p:nvSpPr>
        <p:spPr>
          <a:xfrm>
            <a:off x="6364224" y="2340864"/>
            <a:ext cx="1197864" cy="1856232"/>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@zapp369.energy</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over a million views</a:t>
            </a:r>
            <a:endParaRPr lang="en-US" sz="1150" dirty="0"/>
          </a:p>
        </p:txBody>
      </p:sp>
      <p:sp>
        <p:nvSpPr>
          <p:cNvPr id="16" name="Shape 14"/>
          <p:cNvSpPr/>
          <p:nvPr/>
        </p:nvSpPr>
        <p:spPr>
          <a:xfrm>
            <a:off x="7955280" y="1737360"/>
            <a:ext cx="1673352" cy="2697480"/>
          </a:xfrm>
          <a:prstGeom prst="roundRect">
            <a:avLst>
              <a:gd name="adj" fmla="val 5464"/>
            </a:avLst>
          </a:prstGeom>
          <a:solidFill>
            <a:srgbClr val="241A0E"/>
          </a:solidFill>
          <a:ln w="12700">
            <a:solidFill>
              <a:srgbClr val="3A2C18"/>
            </a:solidFill>
            <a:prstDash val="solid"/>
          </a:ln>
        </p:spPr>
      </p:sp>
      <p:sp>
        <p:nvSpPr>
          <p:cNvPr id="17" name="Text 15"/>
          <p:cNvSpPr/>
          <p:nvPr/>
        </p:nvSpPr>
        <p:spPr>
          <a:xfrm>
            <a:off x="8193024" y="1956816"/>
            <a:ext cx="1197864"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Discord</a:t>
            </a:r>
            <a:endParaRPr lang="en-US" sz="1500" dirty="0"/>
          </a:p>
        </p:txBody>
      </p:sp>
      <p:sp>
        <p:nvSpPr>
          <p:cNvPr id="18" name="Text 16"/>
          <p:cNvSpPr/>
          <p:nvPr/>
        </p:nvSpPr>
        <p:spPr>
          <a:xfrm>
            <a:off x="8193024" y="2340864"/>
            <a:ext cx="1197864" cy="1856232"/>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discord.gg/ZJexVs3HaJ</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the builders room</a:t>
            </a:r>
            <a:endParaRPr lang="en-US" sz="1150" dirty="0"/>
          </a:p>
        </p:txBody>
      </p:sp>
      <p:sp>
        <p:nvSpPr>
          <p:cNvPr id="19" name="Shape 17"/>
          <p:cNvSpPr/>
          <p:nvPr/>
        </p:nvSpPr>
        <p:spPr>
          <a:xfrm>
            <a:off x="9784080" y="1737360"/>
            <a:ext cx="1673352" cy="2697480"/>
          </a:xfrm>
          <a:prstGeom prst="roundRect">
            <a:avLst>
              <a:gd name="adj" fmla="val 5464"/>
            </a:avLst>
          </a:prstGeom>
          <a:solidFill>
            <a:srgbClr val="241A0E"/>
          </a:solidFill>
          <a:ln w="12700">
            <a:solidFill>
              <a:srgbClr val="3A2C18"/>
            </a:solidFill>
            <a:prstDash val="solid"/>
          </a:ln>
        </p:spPr>
      </p:sp>
      <p:sp>
        <p:nvSpPr>
          <p:cNvPr id="20" name="Text 18"/>
          <p:cNvSpPr/>
          <p:nvPr/>
        </p:nvSpPr>
        <p:spPr>
          <a:xfrm>
            <a:off x="10021824" y="1956816"/>
            <a:ext cx="1197864"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Newsroom</a:t>
            </a:r>
            <a:endParaRPr lang="en-US" sz="1500" dirty="0"/>
          </a:p>
        </p:txBody>
      </p:sp>
      <p:sp>
        <p:nvSpPr>
          <p:cNvPr id="21" name="Text 19"/>
          <p:cNvSpPr/>
          <p:nvPr/>
        </p:nvSpPr>
        <p:spPr>
          <a:xfrm>
            <a:off x="10021824" y="2340864"/>
            <a:ext cx="1197864" cy="1856232"/>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zapp369.energy/news</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every update, dated</a:t>
            </a:r>
            <a:endParaRPr lang="en-US" sz="1150" dirty="0"/>
          </a:p>
        </p:txBody>
      </p:sp>
      <p:sp>
        <p:nvSpPr>
          <p:cNvPr id="22" name="Shape 20"/>
          <p:cNvSpPr/>
          <p:nvPr/>
        </p:nvSpPr>
        <p:spPr>
          <a:xfrm>
            <a:off x="640080" y="4709160"/>
            <a:ext cx="5349240" cy="1600200"/>
          </a:xfrm>
          <a:prstGeom prst="roundRect">
            <a:avLst>
              <a:gd name="adj" fmla="val 5714"/>
            </a:avLst>
          </a:prstGeom>
          <a:solidFill>
            <a:srgbClr val="241A0E"/>
          </a:solidFill>
          <a:ln w="12700">
            <a:solidFill>
              <a:srgbClr val="3A2C18"/>
            </a:solidFill>
            <a:prstDash val="solid"/>
          </a:ln>
        </p:spPr>
      </p:sp>
      <p:sp>
        <p:nvSpPr>
          <p:cNvPr id="23" name="Text 21"/>
          <p:cNvSpPr/>
          <p:nvPr/>
        </p:nvSpPr>
        <p:spPr>
          <a:xfrm>
            <a:off x="877824" y="4928616"/>
            <a:ext cx="48737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We built the bot ourselves</a:t>
            </a:r>
            <a:endParaRPr lang="en-US" sz="1500" dirty="0"/>
          </a:p>
        </p:txBody>
      </p:sp>
      <p:sp>
        <p:nvSpPr>
          <p:cNvPr id="24" name="Text 22"/>
          <p:cNvSpPr/>
          <p:nvPr/>
        </p:nvSpPr>
        <p:spPr>
          <a:xfrm>
            <a:off x="877824" y="5312664"/>
            <a:ext cx="4873752" cy="758952"/>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198 commands. Games, a points system and leaderboard, trivia night, full moderation, federation and anti raid. Not an off the shelf plugin.</a:t>
            </a:r>
            <a:endParaRPr lang="en-US" sz="1150" dirty="0"/>
          </a:p>
        </p:txBody>
      </p:sp>
      <p:sp>
        <p:nvSpPr>
          <p:cNvPr id="25" name="Shape 23"/>
          <p:cNvSpPr/>
          <p:nvPr/>
        </p:nvSpPr>
        <p:spPr>
          <a:xfrm>
            <a:off x="6172200" y="4709160"/>
            <a:ext cx="5349240" cy="1600200"/>
          </a:xfrm>
          <a:prstGeom prst="roundRect">
            <a:avLst>
              <a:gd name="adj" fmla="val 5714"/>
            </a:avLst>
          </a:prstGeom>
          <a:solidFill>
            <a:srgbClr val="241A0E"/>
          </a:solidFill>
          <a:ln w="12700">
            <a:solidFill>
              <a:srgbClr val="3A2C18"/>
            </a:solidFill>
            <a:prstDash val="solid"/>
          </a:ln>
        </p:spPr>
      </p:sp>
      <p:sp>
        <p:nvSpPr>
          <p:cNvPr id="26" name="Text 24"/>
          <p:cNvSpPr/>
          <p:nvPr/>
        </p:nvSpPr>
        <p:spPr>
          <a:xfrm>
            <a:off x="6409944" y="4928616"/>
            <a:ext cx="48737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And the paper</a:t>
            </a:r>
            <a:endParaRPr lang="en-US" sz="1500" dirty="0"/>
          </a:p>
        </p:txBody>
      </p:sp>
      <p:sp>
        <p:nvSpPr>
          <p:cNvPr id="27" name="Text 25"/>
          <p:cNvSpPr/>
          <p:nvPr/>
        </p:nvSpPr>
        <p:spPr>
          <a:xfrm>
            <a:off x="6409944" y="5312664"/>
            <a:ext cx="4873752" cy="758952"/>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The whitepaper and the full master plan are public and pinned at zapp369.energy/roadmap, kept current rather than written once.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110A"/>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250" kern="0" dirty="0">
                <a:solidFill>
                  <a:srgbClr val="C8960A"/>
                </a:solidFill>
                <a:latin typeface="Calibri" pitchFamily="34" charset="0"/>
                <a:ea typeface="Calibri" pitchFamily="34" charset="-122"/>
                <a:cs typeface="Calibri" pitchFamily="34" charset="-120"/>
              </a:rPr>
              <a:t>THE WHITE PAPERS</a:t>
            </a:r>
            <a:endParaRPr lang="en-US" sz="110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indent="0" marL="0">
              <a:buNone/>
            </a:pPr>
            <a:r>
              <a:rPr lang="en-US" sz="3400" b="1" dirty="0">
                <a:solidFill>
                  <a:srgbClr val="FBF4E2"/>
                </a:solidFill>
                <a:latin typeface="Cambria" pitchFamily="34" charset="0"/>
                <a:ea typeface="Cambria" pitchFamily="34" charset="-122"/>
                <a:cs typeface="Cambria" pitchFamily="34" charset="-120"/>
              </a:rPr>
              <a:t>The foundations we stand on</a:t>
            </a:r>
            <a:endParaRPr lang="en-US" sz="3400" dirty="0"/>
          </a:p>
        </p:txBody>
      </p:sp>
      <p:sp>
        <p:nvSpPr>
          <p:cNvPr id="4" name="Shape 2"/>
          <p:cNvSpPr/>
          <p:nvPr/>
        </p:nvSpPr>
        <p:spPr>
          <a:xfrm>
            <a:off x="640080" y="1737360"/>
            <a:ext cx="2606040" cy="3200400"/>
          </a:xfrm>
          <a:prstGeom prst="roundRect">
            <a:avLst>
              <a:gd name="adj" fmla="val 3509"/>
            </a:avLst>
          </a:prstGeom>
          <a:solidFill>
            <a:srgbClr val="241A0E"/>
          </a:solidFill>
          <a:ln w="12700">
            <a:solidFill>
              <a:srgbClr val="3A2C18"/>
            </a:solidFill>
            <a:prstDash val="solid"/>
          </a:ln>
        </p:spPr>
      </p:sp>
      <p:sp>
        <p:nvSpPr>
          <p:cNvPr id="5" name="Shape 3"/>
          <p:cNvSpPr/>
          <p:nvPr/>
        </p:nvSpPr>
        <p:spPr>
          <a:xfrm>
            <a:off x="877824" y="1975104"/>
            <a:ext cx="420624" cy="420624"/>
          </a:xfrm>
          <a:prstGeom prst="ellipse">
            <a:avLst/>
          </a:prstGeom>
          <a:solidFill>
            <a:srgbClr val="C8960A"/>
          </a:solidFill>
          <a:ln/>
        </p:spPr>
      </p:sp>
      <p:sp>
        <p:nvSpPr>
          <p:cNvPr id="6" name="Text 4"/>
          <p:cNvSpPr/>
          <p:nvPr/>
        </p:nvSpPr>
        <p:spPr>
          <a:xfrm>
            <a:off x="877824" y="197510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877824" y="2468880"/>
            <a:ext cx="21305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Bitcoin</a:t>
            </a:r>
            <a:endParaRPr lang="en-US" sz="1500" dirty="0"/>
          </a:p>
        </p:txBody>
      </p:sp>
      <p:sp>
        <p:nvSpPr>
          <p:cNvPr id="8" name="Text 6"/>
          <p:cNvSpPr/>
          <p:nvPr/>
        </p:nvSpPr>
        <p:spPr>
          <a:xfrm>
            <a:off x="877824" y="2816352"/>
            <a:ext cx="2130552" cy="188366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Nakamoto, 2008</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Trust you can verify. Cash that moves without a bank, on a record that cannot be changed.</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Our public treasury and on chain burns are this idea in action.</a:t>
            </a:r>
            <a:endParaRPr lang="en-US" sz="1150" dirty="0"/>
          </a:p>
        </p:txBody>
      </p:sp>
      <p:sp>
        <p:nvSpPr>
          <p:cNvPr id="9" name="Shape 7"/>
          <p:cNvSpPr/>
          <p:nvPr/>
        </p:nvSpPr>
        <p:spPr>
          <a:xfrm>
            <a:off x="3429000" y="1737360"/>
            <a:ext cx="2606040" cy="3200400"/>
          </a:xfrm>
          <a:prstGeom prst="roundRect">
            <a:avLst>
              <a:gd name="adj" fmla="val 3509"/>
            </a:avLst>
          </a:prstGeom>
          <a:solidFill>
            <a:srgbClr val="241A0E"/>
          </a:solidFill>
          <a:ln w="12700">
            <a:solidFill>
              <a:srgbClr val="3A2C18"/>
            </a:solidFill>
            <a:prstDash val="solid"/>
          </a:ln>
        </p:spPr>
      </p:sp>
      <p:sp>
        <p:nvSpPr>
          <p:cNvPr id="10" name="Shape 8"/>
          <p:cNvSpPr/>
          <p:nvPr/>
        </p:nvSpPr>
        <p:spPr>
          <a:xfrm>
            <a:off x="3666744" y="1975104"/>
            <a:ext cx="420624" cy="420624"/>
          </a:xfrm>
          <a:prstGeom prst="ellipse">
            <a:avLst/>
          </a:prstGeom>
          <a:solidFill>
            <a:srgbClr val="C8960A"/>
          </a:solidFill>
          <a:ln/>
        </p:spPr>
      </p:sp>
      <p:sp>
        <p:nvSpPr>
          <p:cNvPr id="11" name="Text 9"/>
          <p:cNvSpPr/>
          <p:nvPr/>
        </p:nvSpPr>
        <p:spPr>
          <a:xfrm>
            <a:off x="3666744" y="197510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3666744" y="2468880"/>
            <a:ext cx="21305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Solana</a:t>
            </a:r>
            <a:endParaRPr lang="en-US" sz="1500" dirty="0"/>
          </a:p>
        </p:txBody>
      </p:sp>
      <p:sp>
        <p:nvSpPr>
          <p:cNvPr id="13" name="Text 11"/>
          <p:cNvSpPr/>
          <p:nvPr/>
        </p:nvSpPr>
        <p:spPr>
          <a:xfrm>
            <a:off x="3666744" y="2816352"/>
            <a:ext cx="2130552" cy="188366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Yakovenko</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Speed that frees us. Proof of History and verifiable time at almost no fee.</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This is what makes constant transparent buybacks possible.</a:t>
            </a:r>
            <a:endParaRPr lang="en-US" sz="1150" dirty="0"/>
          </a:p>
        </p:txBody>
      </p:sp>
      <p:sp>
        <p:nvSpPr>
          <p:cNvPr id="14" name="Shape 12"/>
          <p:cNvSpPr/>
          <p:nvPr/>
        </p:nvSpPr>
        <p:spPr>
          <a:xfrm>
            <a:off x="6217920" y="1737360"/>
            <a:ext cx="2606040" cy="3200400"/>
          </a:xfrm>
          <a:prstGeom prst="roundRect">
            <a:avLst>
              <a:gd name="adj" fmla="val 3509"/>
            </a:avLst>
          </a:prstGeom>
          <a:solidFill>
            <a:srgbClr val="241A0E"/>
          </a:solidFill>
          <a:ln w="12700">
            <a:solidFill>
              <a:srgbClr val="3A2C18"/>
            </a:solidFill>
            <a:prstDash val="solid"/>
          </a:ln>
        </p:spPr>
      </p:sp>
      <p:sp>
        <p:nvSpPr>
          <p:cNvPr id="15" name="Shape 13"/>
          <p:cNvSpPr/>
          <p:nvPr/>
        </p:nvSpPr>
        <p:spPr>
          <a:xfrm>
            <a:off x="6455664" y="1975104"/>
            <a:ext cx="420624" cy="420624"/>
          </a:xfrm>
          <a:prstGeom prst="ellipse">
            <a:avLst/>
          </a:prstGeom>
          <a:solidFill>
            <a:srgbClr val="C8960A"/>
          </a:solidFill>
          <a:ln/>
        </p:spPr>
      </p:sp>
      <p:sp>
        <p:nvSpPr>
          <p:cNvPr id="16" name="Text 14"/>
          <p:cNvSpPr/>
          <p:nvPr/>
        </p:nvSpPr>
        <p:spPr>
          <a:xfrm>
            <a:off x="6455664" y="197510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6455664" y="2468880"/>
            <a:ext cx="21305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Cardano</a:t>
            </a:r>
            <a:endParaRPr lang="en-US" sz="1500" dirty="0"/>
          </a:p>
        </p:txBody>
      </p:sp>
      <p:sp>
        <p:nvSpPr>
          <p:cNvPr id="18" name="Text 16"/>
          <p:cNvSpPr/>
          <p:nvPr/>
        </p:nvSpPr>
        <p:spPr>
          <a:xfrm>
            <a:off x="6455664" y="2816352"/>
            <a:ext cx="2130552" cy="188366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Ouroboros</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Identity and real help. Peer reviewed proof of stake, and identity used to bring aid to refugees.</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Identity on chain unlocks help for the forgotten.</a:t>
            </a:r>
            <a:endParaRPr lang="en-US" sz="1150" dirty="0"/>
          </a:p>
        </p:txBody>
      </p:sp>
      <p:sp>
        <p:nvSpPr>
          <p:cNvPr id="19" name="Shape 17"/>
          <p:cNvSpPr/>
          <p:nvPr/>
        </p:nvSpPr>
        <p:spPr>
          <a:xfrm>
            <a:off x="9006840" y="1737360"/>
            <a:ext cx="2514600" cy="3200400"/>
          </a:xfrm>
          <a:prstGeom prst="roundRect">
            <a:avLst>
              <a:gd name="adj" fmla="val 3636"/>
            </a:avLst>
          </a:prstGeom>
          <a:solidFill>
            <a:srgbClr val="241A0E"/>
          </a:solidFill>
          <a:ln w="12700">
            <a:solidFill>
              <a:srgbClr val="3A2C18"/>
            </a:solidFill>
            <a:prstDash val="solid"/>
          </a:ln>
        </p:spPr>
      </p:sp>
      <p:sp>
        <p:nvSpPr>
          <p:cNvPr id="20" name="Shape 18"/>
          <p:cNvSpPr/>
          <p:nvPr/>
        </p:nvSpPr>
        <p:spPr>
          <a:xfrm>
            <a:off x="9244584" y="1975104"/>
            <a:ext cx="420624" cy="420624"/>
          </a:xfrm>
          <a:prstGeom prst="ellipse">
            <a:avLst/>
          </a:prstGeom>
          <a:solidFill>
            <a:srgbClr val="C8960A"/>
          </a:solidFill>
          <a:ln/>
        </p:spPr>
      </p:sp>
      <p:sp>
        <p:nvSpPr>
          <p:cNvPr id="21" name="Text 19"/>
          <p:cNvSpPr/>
          <p:nvPr/>
        </p:nvSpPr>
        <p:spPr>
          <a:xfrm>
            <a:off x="9244584" y="197510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9244584" y="2468880"/>
            <a:ext cx="203911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RWA</a:t>
            </a:r>
            <a:endParaRPr lang="en-US" sz="1500" dirty="0"/>
          </a:p>
        </p:txBody>
      </p:sp>
      <p:sp>
        <p:nvSpPr>
          <p:cNvPr id="23" name="Text 21"/>
          <p:cNvSpPr/>
          <p:nvPr/>
        </p:nvSpPr>
        <p:spPr>
          <a:xfrm>
            <a:off x="9244584" y="2816352"/>
            <a:ext cx="2039112" cy="188366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The legal blueprint</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Real assets on chain with real compliance and identity checks, keeping the utility token separate from securities.</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We follow that discipline.</a:t>
            </a:r>
            <a:endParaRPr lang="en-US" sz="1150" dirty="0"/>
          </a:p>
        </p:txBody>
      </p:sp>
      <p:sp>
        <p:nvSpPr>
          <p:cNvPr id="24" name="Text 22"/>
          <p:cNvSpPr/>
          <p:nvPr/>
        </p:nvSpPr>
        <p:spPr>
          <a:xfrm>
            <a:off x="640080" y="5166360"/>
            <a:ext cx="10881360" cy="457200"/>
          </a:xfrm>
          <a:prstGeom prst="rect">
            <a:avLst/>
          </a:prstGeom>
          <a:noFill/>
          <a:ln/>
        </p:spPr>
        <p:txBody>
          <a:bodyPr wrap="square" lIns="0" tIns="0" rIns="0" bIns="0" rtlCol="0" anchor="ctr"/>
          <a:lstStyle/>
          <a:p>
            <a:pPr algn="ctr" indent="0" marL="0">
              <a:buNone/>
            </a:pPr>
            <a:r>
              <a:rPr lang="en-US" sz="1400" i="1" dirty="0">
                <a:solidFill>
                  <a:srgbClr val="C8960A"/>
                </a:solidFill>
                <a:latin typeface="Cambria" pitchFamily="34" charset="0"/>
                <a:ea typeface="Cambria" pitchFamily="34" charset="-122"/>
                <a:cs typeface="Cambria" pitchFamily="34" charset="-120"/>
              </a:rPr>
              <a:t>Bitcoin gives proof. Solana gives speed. Cardano gives identity and a way to help. Tokenisation gives the legal path. Tesla gives the soul.</a:t>
            </a:r>
            <a:endParaRPr lang="en-US" sz="1400" dirty="0"/>
          </a:p>
        </p:txBody>
      </p:sp>
      <p:sp>
        <p:nvSpPr>
          <p:cNvPr id="25" name="Text 23"/>
          <p:cNvSpPr/>
          <p:nvPr/>
        </p:nvSpPr>
        <p:spPr>
          <a:xfrm>
            <a:off x="640080" y="6382512"/>
            <a:ext cx="10881360" cy="274320"/>
          </a:xfrm>
          <a:prstGeom prst="rect">
            <a:avLst/>
          </a:prstGeom>
          <a:noFill/>
          <a:ln/>
        </p:spPr>
        <p:txBody>
          <a:bodyPr wrap="square" lIns="0" tIns="0" rIns="0" bIns="0" rtlCol="0" anchor="ctr"/>
          <a:lstStyle/>
          <a:p>
            <a:pPr algn="ctr" indent="0" marL="0">
              <a:buNone/>
            </a:pPr>
            <a:r>
              <a:rPr lang="en-US" sz="1000" dirty="0">
                <a:solidFill>
                  <a:srgbClr val="5E4C2E"/>
                </a:solidFill>
                <a:latin typeface="Calibri" pitchFamily="34" charset="0"/>
                <a:ea typeface="Calibri" pitchFamily="34" charset="-122"/>
                <a:cs typeface="Calibri" pitchFamily="34" charset="-120"/>
              </a:rPr>
              <a:t>3 · 6 · 9 · ∞</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7110A"/>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250" kern="0" dirty="0">
                <a:solidFill>
                  <a:srgbClr val="C8960A"/>
                </a:solidFill>
                <a:latin typeface="Calibri" pitchFamily="34" charset="0"/>
                <a:ea typeface="Calibri" pitchFamily="34" charset="-122"/>
                <a:cs typeface="Calibri" pitchFamily="34" charset="-120"/>
              </a:rPr>
              <a:t>THE SECOND ENGINE</a:t>
            </a:r>
            <a:endParaRPr lang="en-US" sz="110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indent="0" marL="0">
              <a:buNone/>
            </a:pPr>
            <a:r>
              <a:rPr lang="en-US" sz="3400" b="1" dirty="0">
                <a:solidFill>
                  <a:srgbClr val="FBF4E2"/>
                </a:solidFill>
                <a:latin typeface="Cambria" pitchFamily="34" charset="0"/>
                <a:ea typeface="Cambria" pitchFamily="34" charset="-122"/>
                <a:cs typeface="Cambria" pitchFamily="34" charset="-120"/>
              </a:rPr>
              <a:t>The store, almost ready</a:t>
            </a:r>
            <a:endParaRPr lang="en-US" sz="3400" dirty="0"/>
          </a:p>
        </p:txBody>
      </p:sp>
      <p:sp>
        <p:nvSpPr>
          <p:cNvPr id="4" name="Text 2"/>
          <p:cNvSpPr/>
          <p:nvPr/>
        </p:nvSpPr>
        <p:spPr>
          <a:xfrm>
            <a:off x="640080" y="1600200"/>
            <a:ext cx="5394960" cy="548640"/>
          </a:xfrm>
          <a:prstGeom prst="rect">
            <a:avLst/>
          </a:prstGeom>
          <a:noFill/>
          <a:ln/>
        </p:spPr>
        <p:txBody>
          <a:bodyPr wrap="square" lIns="0" tIns="0" rIns="0" bIns="0" rtlCol="0" anchor="ctr"/>
          <a:lstStyle/>
          <a:p>
            <a:pPr indent="0" marL="0">
              <a:buNone/>
            </a:pPr>
            <a:r>
              <a:rPr lang="en-US" sz="3200" b="1" dirty="0">
                <a:solidFill>
                  <a:srgbClr val="C8960A"/>
                </a:solidFill>
                <a:latin typeface="Cambria" pitchFamily="34" charset="0"/>
                <a:ea typeface="Cambria" pitchFamily="34" charset="-122"/>
                <a:cs typeface="Cambria" pitchFamily="34" charset="-120"/>
              </a:rPr>
              <a:t>zapp369.com</a:t>
            </a:r>
            <a:endParaRPr lang="en-US" sz="3200" dirty="0"/>
          </a:p>
        </p:txBody>
      </p:sp>
      <p:sp>
        <p:nvSpPr>
          <p:cNvPr id="5" name="Text 3"/>
          <p:cNvSpPr/>
          <p:nvPr/>
        </p:nvSpPr>
        <p:spPr>
          <a:xfrm>
            <a:off x="640080" y="2240280"/>
            <a:ext cx="5394960" cy="2560320"/>
          </a:xfrm>
          <a:prstGeom prst="rect">
            <a:avLst/>
          </a:prstGeom>
          <a:noFill/>
          <a:ln/>
        </p:spPr>
        <p:txBody>
          <a:bodyPr wrap="square" lIns="0" tIns="0" rIns="0" bIns="0" rtlCol="0" anchor="ctr"/>
          <a:lstStyle/>
          <a:p>
            <a:pPr marL="342900" indent="-342900">
              <a:spcAft>
                <a:spcPts val="900"/>
              </a:spcAft>
              <a:buSzPct val="100000"/>
              <a:buChar char="•"/>
            </a:pPr>
            <a:r>
              <a:rPr lang="en-US" sz="1350" dirty="0">
                <a:solidFill>
                  <a:srgbClr val="9B8A6B"/>
                </a:solidFill>
                <a:latin typeface="Calibri" pitchFamily="34" charset="0"/>
                <a:ea typeface="Calibri" pitchFamily="34" charset="-122"/>
                <a:cs typeface="Calibri" pitchFamily="34" charset="-120"/>
              </a:rPr>
              <a:t>39 products live, seven collections, nine packages.</a:t>
            </a:r>
            <a:endParaRPr lang="en-US" sz="1350" dirty="0"/>
          </a:p>
          <a:p>
            <a:pPr marL="342900" indent="-342900">
              <a:spcAft>
                <a:spcPts val="900"/>
              </a:spcAft>
              <a:buSzPct val="100000"/>
              <a:buChar char="•"/>
            </a:pPr>
            <a:r>
              <a:rPr lang="en-US" sz="1350" dirty="0">
                <a:solidFill>
                  <a:srgbClr val="9B8A6B"/>
                </a:solidFill>
                <a:latin typeface="Calibri" pitchFamily="34" charset="0"/>
                <a:ea typeface="Calibri" pitchFamily="34" charset="-122"/>
                <a:cs typeface="Calibri" pitchFamily="34" charset="-120"/>
              </a:rPr>
              <a:t>Worldwide shipping to 28 countries, priced in euro.</a:t>
            </a:r>
            <a:endParaRPr lang="en-US" sz="1350" dirty="0"/>
          </a:p>
          <a:p>
            <a:pPr marL="342900" indent="-342900">
              <a:spcAft>
                <a:spcPts val="900"/>
              </a:spcAft>
              <a:buSzPct val="100000"/>
              <a:buChar char="•"/>
            </a:pPr>
            <a:r>
              <a:rPr lang="en-US" sz="1350" dirty="0">
                <a:solidFill>
                  <a:srgbClr val="9B8A6B"/>
                </a:solidFill>
                <a:latin typeface="Calibri" pitchFamily="34" charset="0"/>
                <a:ea typeface="Calibri" pitchFamily="34" charset="-122"/>
                <a:cs typeface="Calibri" pitchFamily="34" charset="-120"/>
              </a:rPr>
              <a:t>EU compliant refund, shipping and terms policies.</a:t>
            </a:r>
            <a:endParaRPr lang="en-US" sz="1350" dirty="0"/>
          </a:p>
          <a:p>
            <a:pPr marL="342900" indent="-342900">
              <a:spcAft>
                <a:spcPts val="900"/>
              </a:spcAft>
              <a:buSzPct val="100000"/>
              <a:buChar char="•"/>
            </a:pPr>
            <a:r>
              <a:rPr lang="en-US" sz="1350" dirty="0">
                <a:solidFill>
                  <a:srgbClr val="9B8A6B"/>
                </a:solidFill>
                <a:latin typeface="Calibri" pitchFamily="34" charset="0"/>
                <a:ea typeface="Calibri" pitchFamily="34" charset="-122"/>
                <a:cs typeface="Calibri" pitchFamily="34" charset="-120"/>
              </a:rPr>
              <a:t>Pre orders ship from 09.09.2026, free cancellation before dispatch.</a:t>
            </a:r>
            <a:endParaRPr lang="en-US" sz="1350" dirty="0"/>
          </a:p>
          <a:p>
            <a:pPr marL="342900" indent="-342900">
              <a:spcAft>
                <a:spcPts val="900"/>
              </a:spcAft>
              <a:buSzPct val="100000"/>
              <a:buChar char="•"/>
            </a:pPr>
            <a:r>
              <a:rPr lang="en-US" sz="1350" dirty="0">
                <a:solidFill>
                  <a:srgbClr val="9B8A6B"/>
                </a:solidFill>
                <a:latin typeface="Calibri" pitchFamily="34" charset="0"/>
                <a:ea typeface="Calibri" pitchFamily="34" charset="-122"/>
                <a:cs typeface="Calibri" pitchFamily="34" charset="-120"/>
              </a:rPr>
              <a:t>Print on demand, so no stock and no capital tied up.</a:t>
            </a:r>
            <a:endParaRPr lang="en-US" sz="1350" dirty="0"/>
          </a:p>
          <a:p>
            <a:pPr marL="342900" indent="-342900">
              <a:spcAft>
                <a:spcPts val="900"/>
              </a:spcAft>
              <a:buSzPct val="100000"/>
              <a:buChar char="•"/>
            </a:pPr>
            <a:r>
              <a:rPr lang="en-US" sz="1350" dirty="0">
                <a:solidFill>
                  <a:srgbClr val="9B8A6B"/>
                </a:solidFill>
                <a:latin typeface="Calibri" pitchFamily="34" charset="0"/>
                <a:ea typeface="Calibri" pitchFamily="34" charset="-122"/>
                <a:cs typeface="Calibri" pitchFamily="34" charset="-120"/>
              </a:rPr>
              <a:t>One step left. Signing the supplier so the first run ships on time.</a:t>
            </a:r>
            <a:endParaRPr lang="en-US" sz="1350" dirty="0"/>
          </a:p>
        </p:txBody>
      </p:sp>
      <p:sp>
        <p:nvSpPr>
          <p:cNvPr id="6" name="Shape 4"/>
          <p:cNvSpPr/>
          <p:nvPr/>
        </p:nvSpPr>
        <p:spPr>
          <a:xfrm>
            <a:off x="6309360" y="1645920"/>
            <a:ext cx="5212080" cy="4206240"/>
          </a:xfrm>
          <a:prstGeom prst="roundRect">
            <a:avLst>
              <a:gd name="adj" fmla="val 2174"/>
            </a:avLst>
          </a:prstGeom>
          <a:solidFill>
            <a:srgbClr val="241A0E"/>
          </a:solidFill>
          <a:ln w="12700">
            <a:solidFill>
              <a:srgbClr val="3A2C18"/>
            </a:solidFill>
            <a:prstDash val="solid"/>
          </a:ln>
        </p:spPr>
      </p:sp>
      <p:sp>
        <p:nvSpPr>
          <p:cNvPr id="7" name="Shape 5"/>
          <p:cNvSpPr/>
          <p:nvPr/>
        </p:nvSpPr>
        <p:spPr>
          <a:xfrm>
            <a:off x="6547104" y="1883664"/>
            <a:ext cx="420624" cy="420624"/>
          </a:xfrm>
          <a:prstGeom prst="ellipse">
            <a:avLst/>
          </a:prstGeom>
          <a:solidFill>
            <a:srgbClr val="C8960A"/>
          </a:solidFill>
          <a:ln/>
        </p:spPr>
      </p:sp>
      <p:sp>
        <p:nvSpPr>
          <p:cNvPr id="8" name="Text 6"/>
          <p:cNvSpPr/>
          <p:nvPr/>
        </p:nvSpPr>
        <p:spPr>
          <a:xfrm>
            <a:off x="6547104" y="188366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02</a:t>
            </a:r>
            <a:endParaRPr lang="en-US" sz="1400" dirty="0"/>
          </a:p>
        </p:txBody>
      </p:sp>
      <p:sp>
        <p:nvSpPr>
          <p:cNvPr id="9" name="Text 7"/>
          <p:cNvSpPr/>
          <p:nvPr/>
        </p:nvSpPr>
        <p:spPr>
          <a:xfrm>
            <a:off x="6547104" y="2377440"/>
            <a:ext cx="473659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Why a store and not just a token</a:t>
            </a:r>
            <a:endParaRPr lang="en-US" sz="1500" dirty="0"/>
          </a:p>
        </p:txBody>
      </p:sp>
      <p:sp>
        <p:nvSpPr>
          <p:cNvPr id="10" name="Text 8"/>
          <p:cNvSpPr/>
          <p:nvPr/>
        </p:nvSpPr>
        <p:spPr>
          <a:xfrm>
            <a:off x="6547104" y="2724912"/>
            <a:ext cx="4736592" cy="288950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Most tokens have one source of money, people buying the token. That makes the whole project a hostage to the chart, and the last weeks showed exactly what that costs.</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⚡ZAPP is building a second engine the chart cannot touch. Real products, real customers, real margin, arriving whether the market is green or red.</a:t>
            </a:r>
            <a:endParaRPr lang="en-US" sz="1150" dirty="0"/>
          </a:p>
          <a:p>
            <a:pPr indent="0" marL="0">
              <a:lnSpc>
                <a:spcPct val="112000"/>
              </a:lnSpc>
              <a:buNone/>
            </a:pPr>
            <a:endParaRPr lang="en-US" sz="1150" dirty="0"/>
          </a:p>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The catalogue is built and the storefront is live. The last piece is the supplier, and that is days away, not months.</a:t>
            </a:r>
            <a:endParaRPr lang="en-US" sz="1150" dirty="0"/>
          </a:p>
        </p:txBody>
      </p:sp>
      <p:sp>
        <p:nvSpPr>
          <p:cNvPr id="11" name="Text 9"/>
          <p:cNvSpPr/>
          <p:nvPr/>
        </p:nvSpPr>
        <p:spPr>
          <a:xfrm>
            <a:off x="640080" y="6382512"/>
            <a:ext cx="10881360" cy="274320"/>
          </a:xfrm>
          <a:prstGeom prst="rect">
            <a:avLst/>
          </a:prstGeom>
          <a:noFill/>
          <a:ln/>
        </p:spPr>
        <p:txBody>
          <a:bodyPr wrap="square" lIns="0" tIns="0" rIns="0" bIns="0" rtlCol="0" anchor="ctr"/>
          <a:lstStyle/>
          <a:p>
            <a:pPr algn="ctr" indent="0" marL="0">
              <a:buNone/>
            </a:pPr>
            <a:r>
              <a:rPr lang="en-US" sz="1000" dirty="0">
                <a:solidFill>
                  <a:srgbClr val="5E4C2E"/>
                </a:solidFill>
                <a:latin typeface="Calibri" pitchFamily="34" charset="0"/>
                <a:ea typeface="Calibri" pitchFamily="34" charset="-122"/>
                <a:cs typeface="Calibri" pitchFamily="34" charset="-120"/>
              </a:rPr>
              <a:t>3 · 6 · 9 · ∞</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110A"/>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250" kern="0" dirty="0">
                <a:solidFill>
                  <a:srgbClr val="C8960A"/>
                </a:solidFill>
                <a:latin typeface="Calibri" pitchFamily="34" charset="0"/>
                <a:ea typeface="Calibri" pitchFamily="34" charset="-122"/>
                <a:cs typeface="Calibri" pitchFamily="34" charset="-120"/>
              </a:rPr>
              <a:t>39 PRODUCTS, SEVEN COLLECTIONS</a:t>
            </a:r>
            <a:endParaRPr lang="en-US" sz="110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indent="0" marL="0">
              <a:buNone/>
            </a:pPr>
            <a:r>
              <a:rPr lang="en-US" sz="3400" b="1" dirty="0">
                <a:solidFill>
                  <a:srgbClr val="FBF4E2"/>
                </a:solidFill>
                <a:latin typeface="Cambria" pitchFamily="34" charset="0"/>
                <a:ea typeface="Cambria" pitchFamily="34" charset="-122"/>
                <a:cs typeface="Cambria" pitchFamily="34" charset="-120"/>
              </a:rPr>
              <a:t>What is actually in the store</a:t>
            </a:r>
            <a:endParaRPr lang="en-US" sz="3400" dirty="0"/>
          </a:p>
        </p:txBody>
      </p:sp>
      <p:sp>
        <p:nvSpPr>
          <p:cNvPr id="4" name="Shape 2"/>
          <p:cNvSpPr/>
          <p:nvPr/>
        </p:nvSpPr>
        <p:spPr>
          <a:xfrm>
            <a:off x="640080" y="1645920"/>
            <a:ext cx="2583180" cy="1371600"/>
          </a:xfrm>
          <a:prstGeom prst="roundRect">
            <a:avLst>
              <a:gd name="adj" fmla="val 6667"/>
            </a:avLst>
          </a:prstGeom>
          <a:solidFill>
            <a:srgbClr val="241A0E"/>
          </a:solidFill>
          <a:ln w="12700">
            <a:solidFill>
              <a:srgbClr val="3A2C18"/>
            </a:solidFill>
            <a:prstDash val="solid"/>
          </a:ln>
        </p:spPr>
      </p:sp>
      <p:sp>
        <p:nvSpPr>
          <p:cNvPr id="5" name="Text 3"/>
          <p:cNvSpPr/>
          <p:nvPr/>
        </p:nvSpPr>
        <p:spPr>
          <a:xfrm>
            <a:off x="640080" y="1810512"/>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7</a:t>
            </a:r>
            <a:endParaRPr lang="en-US" sz="3000" dirty="0"/>
          </a:p>
        </p:txBody>
      </p:sp>
      <p:sp>
        <p:nvSpPr>
          <p:cNvPr id="6" name="Text 4"/>
          <p:cNvSpPr/>
          <p:nvPr/>
        </p:nvSpPr>
        <p:spPr>
          <a:xfrm>
            <a:off x="749808" y="2487168"/>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Tees</a:t>
            </a:r>
            <a:endParaRPr lang="en-US" sz="1100" dirty="0"/>
          </a:p>
        </p:txBody>
      </p:sp>
      <p:sp>
        <p:nvSpPr>
          <p:cNvPr id="7" name="Shape 5"/>
          <p:cNvSpPr/>
          <p:nvPr/>
        </p:nvSpPr>
        <p:spPr>
          <a:xfrm>
            <a:off x="3406140" y="1645920"/>
            <a:ext cx="2583180" cy="1371600"/>
          </a:xfrm>
          <a:prstGeom prst="roundRect">
            <a:avLst>
              <a:gd name="adj" fmla="val 6667"/>
            </a:avLst>
          </a:prstGeom>
          <a:solidFill>
            <a:srgbClr val="241A0E"/>
          </a:solidFill>
          <a:ln w="12700">
            <a:solidFill>
              <a:srgbClr val="3A2C18"/>
            </a:solidFill>
            <a:prstDash val="solid"/>
          </a:ln>
        </p:spPr>
      </p:sp>
      <p:sp>
        <p:nvSpPr>
          <p:cNvPr id="8" name="Text 6"/>
          <p:cNvSpPr/>
          <p:nvPr/>
        </p:nvSpPr>
        <p:spPr>
          <a:xfrm>
            <a:off x="3406140" y="1810512"/>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4</a:t>
            </a:r>
            <a:endParaRPr lang="en-US" sz="3000" dirty="0"/>
          </a:p>
        </p:txBody>
      </p:sp>
      <p:sp>
        <p:nvSpPr>
          <p:cNvPr id="9" name="Text 7"/>
          <p:cNvSpPr/>
          <p:nvPr/>
        </p:nvSpPr>
        <p:spPr>
          <a:xfrm>
            <a:off x="3515868" y="2487168"/>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Knitwear and bottoms</a:t>
            </a:r>
            <a:endParaRPr lang="en-US" sz="1100" dirty="0"/>
          </a:p>
        </p:txBody>
      </p:sp>
      <p:sp>
        <p:nvSpPr>
          <p:cNvPr id="10" name="Shape 8"/>
          <p:cNvSpPr/>
          <p:nvPr/>
        </p:nvSpPr>
        <p:spPr>
          <a:xfrm>
            <a:off x="6172200" y="1645920"/>
            <a:ext cx="2583180" cy="1371600"/>
          </a:xfrm>
          <a:prstGeom prst="roundRect">
            <a:avLst>
              <a:gd name="adj" fmla="val 6667"/>
            </a:avLst>
          </a:prstGeom>
          <a:solidFill>
            <a:srgbClr val="241A0E"/>
          </a:solidFill>
          <a:ln w="12700">
            <a:solidFill>
              <a:srgbClr val="3A2C18"/>
            </a:solidFill>
            <a:prstDash val="solid"/>
          </a:ln>
        </p:spPr>
      </p:sp>
      <p:sp>
        <p:nvSpPr>
          <p:cNvPr id="11" name="Text 9"/>
          <p:cNvSpPr/>
          <p:nvPr/>
        </p:nvSpPr>
        <p:spPr>
          <a:xfrm>
            <a:off x="6172200" y="1810512"/>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4</a:t>
            </a:r>
            <a:endParaRPr lang="en-US" sz="3000" dirty="0"/>
          </a:p>
        </p:txBody>
      </p:sp>
      <p:sp>
        <p:nvSpPr>
          <p:cNvPr id="12" name="Text 10"/>
          <p:cNvSpPr/>
          <p:nvPr/>
        </p:nvSpPr>
        <p:spPr>
          <a:xfrm>
            <a:off x="6281928" y="2487168"/>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Headwear</a:t>
            </a:r>
            <a:endParaRPr lang="en-US" sz="1100" dirty="0"/>
          </a:p>
        </p:txBody>
      </p:sp>
      <p:sp>
        <p:nvSpPr>
          <p:cNvPr id="13" name="Shape 11"/>
          <p:cNvSpPr/>
          <p:nvPr/>
        </p:nvSpPr>
        <p:spPr>
          <a:xfrm>
            <a:off x="8938260" y="1645920"/>
            <a:ext cx="2583180" cy="1371600"/>
          </a:xfrm>
          <a:prstGeom prst="roundRect">
            <a:avLst>
              <a:gd name="adj" fmla="val 6667"/>
            </a:avLst>
          </a:prstGeom>
          <a:solidFill>
            <a:srgbClr val="241A0E"/>
          </a:solidFill>
          <a:ln w="12700">
            <a:solidFill>
              <a:srgbClr val="3A2C18"/>
            </a:solidFill>
            <a:prstDash val="solid"/>
          </a:ln>
        </p:spPr>
      </p:sp>
      <p:sp>
        <p:nvSpPr>
          <p:cNvPr id="14" name="Text 12"/>
          <p:cNvSpPr/>
          <p:nvPr/>
        </p:nvSpPr>
        <p:spPr>
          <a:xfrm>
            <a:off x="8938260" y="1810512"/>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4</a:t>
            </a:r>
            <a:endParaRPr lang="en-US" sz="3000" dirty="0"/>
          </a:p>
        </p:txBody>
      </p:sp>
      <p:sp>
        <p:nvSpPr>
          <p:cNvPr id="15" name="Text 13"/>
          <p:cNvSpPr/>
          <p:nvPr/>
        </p:nvSpPr>
        <p:spPr>
          <a:xfrm>
            <a:off x="9047988" y="2487168"/>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Bags</a:t>
            </a:r>
            <a:endParaRPr lang="en-US" sz="1100" dirty="0"/>
          </a:p>
        </p:txBody>
      </p:sp>
      <p:sp>
        <p:nvSpPr>
          <p:cNvPr id="16" name="Shape 14"/>
          <p:cNvSpPr/>
          <p:nvPr/>
        </p:nvSpPr>
        <p:spPr>
          <a:xfrm>
            <a:off x="640080" y="3218688"/>
            <a:ext cx="2583180" cy="1371600"/>
          </a:xfrm>
          <a:prstGeom prst="roundRect">
            <a:avLst>
              <a:gd name="adj" fmla="val 6667"/>
            </a:avLst>
          </a:prstGeom>
          <a:solidFill>
            <a:srgbClr val="241A0E"/>
          </a:solidFill>
          <a:ln w="12700">
            <a:solidFill>
              <a:srgbClr val="3A2C18"/>
            </a:solidFill>
            <a:prstDash val="solid"/>
          </a:ln>
        </p:spPr>
      </p:sp>
      <p:sp>
        <p:nvSpPr>
          <p:cNvPr id="17" name="Text 15"/>
          <p:cNvSpPr/>
          <p:nvPr/>
        </p:nvSpPr>
        <p:spPr>
          <a:xfrm>
            <a:off x="640080" y="3383280"/>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6</a:t>
            </a:r>
            <a:endParaRPr lang="en-US" sz="3000" dirty="0"/>
          </a:p>
        </p:txBody>
      </p:sp>
      <p:sp>
        <p:nvSpPr>
          <p:cNvPr id="18" name="Text 16"/>
          <p:cNvSpPr/>
          <p:nvPr/>
        </p:nvSpPr>
        <p:spPr>
          <a:xfrm>
            <a:off x="749808" y="4059936"/>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Home and desk</a:t>
            </a:r>
            <a:endParaRPr lang="en-US" sz="1100" dirty="0"/>
          </a:p>
        </p:txBody>
      </p:sp>
      <p:sp>
        <p:nvSpPr>
          <p:cNvPr id="19" name="Shape 17"/>
          <p:cNvSpPr/>
          <p:nvPr/>
        </p:nvSpPr>
        <p:spPr>
          <a:xfrm>
            <a:off x="3406140" y="3218688"/>
            <a:ext cx="2583180" cy="1371600"/>
          </a:xfrm>
          <a:prstGeom prst="roundRect">
            <a:avLst>
              <a:gd name="adj" fmla="val 6667"/>
            </a:avLst>
          </a:prstGeom>
          <a:solidFill>
            <a:srgbClr val="241A0E"/>
          </a:solidFill>
          <a:ln w="12700">
            <a:solidFill>
              <a:srgbClr val="3A2C18"/>
            </a:solidFill>
            <a:prstDash val="solid"/>
          </a:ln>
        </p:spPr>
      </p:sp>
      <p:sp>
        <p:nvSpPr>
          <p:cNvPr id="20" name="Text 18"/>
          <p:cNvSpPr/>
          <p:nvPr/>
        </p:nvSpPr>
        <p:spPr>
          <a:xfrm>
            <a:off x="3406140" y="3383280"/>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4</a:t>
            </a:r>
            <a:endParaRPr lang="en-US" sz="3000" dirty="0"/>
          </a:p>
        </p:txBody>
      </p:sp>
      <p:sp>
        <p:nvSpPr>
          <p:cNvPr id="21" name="Text 19"/>
          <p:cNvSpPr/>
          <p:nvPr/>
        </p:nvSpPr>
        <p:spPr>
          <a:xfrm>
            <a:off x="3515868" y="4059936"/>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Small goods</a:t>
            </a:r>
            <a:endParaRPr lang="en-US" sz="1100" dirty="0"/>
          </a:p>
        </p:txBody>
      </p:sp>
      <p:sp>
        <p:nvSpPr>
          <p:cNvPr id="22" name="Shape 20"/>
          <p:cNvSpPr/>
          <p:nvPr/>
        </p:nvSpPr>
        <p:spPr>
          <a:xfrm>
            <a:off x="6172200" y="3218688"/>
            <a:ext cx="2583180" cy="1371600"/>
          </a:xfrm>
          <a:prstGeom prst="roundRect">
            <a:avLst>
              <a:gd name="adj" fmla="val 6667"/>
            </a:avLst>
          </a:prstGeom>
          <a:solidFill>
            <a:srgbClr val="241A0E"/>
          </a:solidFill>
          <a:ln w="12700">
            <a:solidFill>
              <a:srgbClr val="3A2C18"/>
            </a:solidFill>
            <a:prstDash val="solid"/>
          </a:ln>
        </p:spPr>
      </p:sp>
      <p:sp>
        <p:nvSpPr>
          <p:cNvPr id="23" name="Text 21"/>
          <p:cNvSpPr/>
          <p:nvPr/>
        </p:nvSpPr>
        <p:spPr>
          <a:xfrm>
            <a:off x="6172200" y="3383280"/>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3</a:t>
            </a:r>
            <a:endParaRPr lang="en-US" sz="3000" dirty="0"/>
          </a:p>
        </p:txBody>
      </p:sp>
      <p:sp>
        <p:nvSpPr>
          <p:cNvPr id="24" name="Text 22"/>
          <p:cNvSpPr/>
          <p:nvPr/>
        </p:nvSpPr>
        <p:spPr>
          <a:xfrm>
            <a:off x="6281928" y="4059936"/>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Summer</a:t>
            </a:r>
            <a:endParaRPr lang="en-US" sz="1100" dirty="0"/>
          </a:p>
        </p:txBody>
      </p:sp>
      <p:sp>
        <p:nvSpPr>
          <p:cNvPr id="25" name="Shape 23"/>
          <p:cNvSpPr/>
          <p:nvPr/>
        </p:nvSpPr>
        <p:spPr>
          <a:xfrm>
            <a:off x="8938260" y="3218688"/>
            <a:ext cx="2583180" cy="1371600"/>
          </a:xfrm>
          <a:prstGeom prst="roundRect">
            <a:avLst>
              <a:gd name="adj" fmla="val 6667"/>
            </a:avLst>
          </a:prstGeom>
          <a:solidFill>
            <a:srgbClr val="241A0E"/>
          </a:solidFill>
          <a:ln w="12700">
            <a:solidFill>
              <a:srgbClr val="3A2C18"/>
            </a:solidFill>
            <a:prstDash val="solid"/>
          </a:ln>
        </p:spPr>
      </p:sp>
      <p:sp>
        <p:nvSpPr>
          <p:cNvPr id="26" name="Text 24"/>
          <p:cNvSpPr/>
          <p:nvPr/>
        </p:nvSpPr>
        <p:spPr>
          <a:xfrm>
            <a:off x="8938260" y="3383280"/>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7</a:t>
            </a:r>
            <a:endParaRPr lang="en-US" sz="3000" dirty="0"/>
          </a:p>
        </p:txBody>
      </p:sp>
      <p:sp>
        <p:nvSpPr>
          <p:cNvPr id="27" name="Text 25"/>
          <p:cNvSpPr/>
          <p:nvPr/>
        </p:nvSpPr>
        <p:spPr>
          <a:xfrm>
            <a:off x="9047988" y="4059936"/>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Packages</a:t>
            </a:r>
            <a:endParaRPr lang="en-US" sz="1100" dirty="0"/>
          </a:p>
        </p:txBody>
      </p:sp>
      <p:sp>
        <p:nvSpPr>
          <p:cNvPr id="28" name="Shape 26"/>
          <p:cNvSpPr/>
          <p:nvPr/>
        </p:nvSpPr>
        <p:spPr>
          <a:xfrm>
            <a:off x="640080" y="4846320"/>
            <a:ext cx="5349240" cy="1417320"/>
          </a:xfrm>
          <a:prstGeom prst="roundRect">
            <a:avLst>
              <a:gd name="adj" fmla="val 6452"/>
            </a:avLst>
          </a:prstGeom>
          <a:solidFill>
            <a:srgbClr val="241A0E"/>
          </a:solidFill>
          <a:ln w="12700">
            <a:solidFill>
              <a:srgbClr val="3A2C18"/>
            </a:solidFill>
            <a:prstDash val="solid"/>
          </a:ln>
        </p:spPr>
      </p:sp>
      <p:sp>
        <p:nvSpPr>
          <p:cNvPr id="29" name="Text 27"/>
          <p:cNvSpPr/>
          <p:nvPr/>
        </p:nvSpPr>
        <p:spPr>
          <a:xfrm>
            <a:off x="877824" y="5065776"/>
            <a:ext cx="48737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Priced on the frequency</a:t>
            </a:r>
            <a:endParaRPr lang="en-US" sz="1500" dirty="0"/>
          </a:p>
        </p:txBody>
      </p:sp>
      <p:sp>
        <p:nvSpPr>
          <p:cNvPr id="30" name="Text 28"/>
          <p:cNvSpPr/>
          <p:nvPr/>
        </p:nvSpPr>
        <p:spPr>
          <a:xfrm>
            <a:off x="877824" y="5449824"/>
            <a:ext cx="4873752" cy="576072"/>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Every price lands on 3, 6 or 9. From 3.99 to the Founder set at 369.99, limited to 369 numbered boxes.</a:t>
            </a:r>
            <a:endParaRPr lang="en-US" sz="1150" dirty="0"/>
          </a:p>
        </p:txBody>
      </p:sp>
      <p:sp>
        <p:nvSpPr>
          <p:cNvPr id="31" name="Shape 29"/>
          <p:cNvSpPr/>
          <p:nvPr/>
        </p:nvSpPr>
        <p:spPr>
          <a:xfrm>
            <a:off x="6172200" y="4846320"/>
            <a:ext cx="5349240" cy="1417320"/>
          </a:xfrm>
          <a:prstGeom prst="roundRect">
            <a:avLst>
              <a:gd name="adj" fmla="val 6452"/>
            </a:avLst>
          </a:prstGeom>
          <a:solidFill>
            <a:srgbClr val="241A0E"/>
          </a:solidFill>
          <a:ln w="12700">
            <a:solidFill>
              <a:srgbClr val="3A2C18"/>
            </a:solidFill>
            <a:prstDash val="solid"/>
          </a:ln>
        </p:spPr>
      </p:sp>
      <p:sp>
        <p:nvSpPr>
          <p:cNvPr id="32" name="Text 30"/>
          <p:cNvSpPr/>
          <p:nvPr/>
        </p:nvSpPr>
        <p:spPr>
          <a:xfrm>
            <a:off x="6409944" y="5065776"/>
            <a:ext cx="48737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The mascot carries it</a:t>
            </a:r>
            <a:endParaRPr lang="en-US" sz="1500" dirty="0"/>
          </a:p>
        </p:txBody>
      </p:sp>
      <p:sp>
        <p:nvSpPr>
          <p:cNvPr id="33" name="Text 31"/>
          <p:cNvSpPr/>
          <p:nvPr/>
        </p:nvSpPr>
        <p:spPr>
          <a:xfrm>
            <a:off x="6409944" y="5449824"/>
            <a:ext cx="4873752" cy="576072"/>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Seven tee designs, the mascot camp shirt, the printed hoodie. The character is the product, not a logo on a blank.</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7110A"/>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250" kern="0" dirty="0">
                <a:solidFill>
                  <a:srgbClr val="C8960A"/>
                </a:solidFill>
                <a:latin typeface="Calibri" pitchFamily="34" charset="0"/>
                <a:ea typeface="Calibri" pitchFamily="34" charset="-122"/>
                <a:cs typeface="Calibri" pitchFamily="34" charset="-120"/>
              </a:rPr>
              <a:t>BUILT IN PUBLIC, IN THREE AND A HALF MONTHS</a:t>
            </a:r>
            <a:endParaRPr lang="en-US" sz="110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indent="0" marL="0">
              <a:buNone/>
            </a:pPr>
            <a:r>
              <a:rPr lang="en-US" sz="3400" b="1" dirty="0">
                <a:solidFill>
                  <a:srgbClr val="FBF4E2"/>
                </a:solidFill>
                <a:latin typeface="Cambria" pitchFamily="34" charset="0"/>
                <a:ea typeface="Cambria" pitchFamily="34" charset="-122"/>
                <a:cs typeface="Cambria" pitchFamily="34" charset="-120"/>
              </a:rPr>
              <a:t>What is done</a:t>
            </a:r>
            <a:endParaRPr lang="en-US" sz="3400" dirty="0"/>
          </a:p>
        </p:txBody>
      </p:sp>
      <p:sp>
        <p:nvSpPr>
          <p:cNvPr id="4" name="Shape 2"/>
          <p:cNvSpPr/>
          <p:nvPr/>
        </p:nvSpPr>
        <p:spPr>
          <a:xfrm>
            <a:off x="640080" y="1737360"/>
            <a:ext cx="3520440" cy="1920240"/>
          </a:xfrm>
          <a:prstGeom prst="roundRect">
            <a:avLst>
              <a:gd name="adj" fmla="val 4762"/>
            </a:avLst>
          </a:prstGeom>
          <a:solidFill>
            <a:srgbClr val="241A0E"/>
          </a:solidFill>
          <a:ln w="12700">
            <a:solidFill>
              <a:srgbClr val="3A2C18"/>
            </a:solidFill>
            <a:prstDash val="solid"/>
          </a:ln>
        </p:spPr>
      </p:sp>
      <p:sp>
        <p:nvSpPr>
          <p:cNvPr id="5" name="Shape 3"/>
          <p:cNvSpPr/>
          <p:nvPr/>
        </p:nvSpPr>
        <p:spPr>
          <a:xfrm>
            <a:off x="877824" y="1975104"/>
            <a:ext cx="420624" cy="420624"/>
          </a:xfrm>
          <a:prstGeom prst="ellipse">
            <a:avLst/>
          </a:prstGeom>
          <a:solidFill>
            <a:srgbClr val="C8960A"/>
          </a:solidFill>
          <a:ln/>
        </p:spPr>
      </p:sp>
      <p:sp>
        <p:nvSpPr>
          <p:cNvPr id="6" name="Text 4"/>
          <p:cNvSpPr/>
          <p:nvPr/>
        </p:nvSpPr>
        <p:spPr>
          <a:xfrm>
            <a:off x="877824" y="197510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877824" y="2468880"/>
            <a:ext cx="30449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The store, open</a:t>
            </a:r>
            <a:endParaRPr lang="en-US" sz="1500" dirty="0"/>
          </a:p>
        </p:txBody>
      </p:sp>
      <p:sp>
        <p:nvSpPr>
          <p:cNvPr id="8" name="Text 6"/>
          <p:cNvSpPr/>
          <p:nvPr/>
        </p:nvSpPr>
        <p:spPr>
          <a:xfrm>
            <a:off x="877824" y="2816352"/>
            <a:ext cx="3044952" cy="60350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zapp369.com live with 39 products, seven collections, nine packages, EU policies and worldwide shipping.</a:t>
            </a:r>
            <a:endParaRPr lang="en-US" sz="1150" dirty="0"/>
          </a:p>
        </p:txBody>
      </p:sp>
      <p:sp>
        <p:nvSpPr>
          <p:cNvPr id="9" name="Shape 7"/>
          <p:cNvSpPr/>
          <p:nvPr/>
        </p:nvSpPr>
        <p:spPr>
          <a:xfrm>
            <a:off x="4343400" y="1737360"/>
            <a:ext cx="3520440" cy="1920240"/>
          </a:xfrm>
          <a:prstGeom prst="roundRect">
            <a:avLst>
              <a:gd name="adj" fmla="val 4762"/>
            </a:avLst>
          </a:prstGeom>
          <a:solidFill>
            <a:srgbClr val="241A0E"/>
          </a:solidFill>
          <a:ln w="12700">
            <a:solidFill>
              <a:srgbClr val="3A2C18"/>
            </a:solidFill>
            <a:prstDash val="solid"/>
          </a:ln>
        </p:spPr>
      </p:sp>
      <p:sp>
        <p:nvSpPr>
          <p:cNvPr id="10" name="Shape 8"/>
          <p:cNvSpPr/>
          <p:nvPr/>
        </p:nvSpPr>
        <p:spPr>
          <a:xfrm>
            <a:off x="4581144" y="1975104"/>
            <a:ext cx="420624" cy="420624"/>
          </a:xfrm>
          <a:prstGeom prst="ellipse">
            <a:avLst/>
          </a:prstGeom>
          <a:solidFill>
            <a:srgbClr val="C8960A"/>
          </a:solidFill>
          <a:ln/>
        </p:spPr>
      </p:sp>
      <p:sp>
        <p:nvSpPr>
          <p:cNvPr id="11" name="Text 9"/>
          <p:cNvSpPr/>
          <p:nvPr/>
        </p:nvSpPr>
        <p:spPr>
          <a:xfrm>
            <a:off x="4581144" y="197510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4581144" y="2468880"/>
            <a:ext cx="30449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Listed and visible</a:t>
            </a:r>
            <a:endParaRPr lang="en-US" sz="1500" dirty="0"/>
          </a:p>
        </p:txBody>
      </p:sp>
      <p:sp>
        <p:nvSpPr>
          <p:cNvPr id="13" name="Text 11"/>
          <p:cNvSpPr/>
          <p:nvPr/>
        </p:nvSpPr>
        <p:spPr>
          <a:xfrm>
            <a:off x="4581144" y="2816352"/>
            <a:ext cx="3044952" cy="60350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CoinGecko, DexScreener, DexTools, GeckoTerminal, RugCheck and Jupiter. Ledger compatible. Liquidity burned, zero tax.</a:t>
            </a:r>
            <a:endParaRPr lang="en-US" sz="1150" dirty="0"/>
          </a:p>
        </p:txBody>
      </p:sp>
      <p:sp>
        <p:nvSpPr>
          <p:cNvPr id="14" name="Shape 12"/>
          <p:cNvSpPr/>
          <p:nvPr/>
        </p:nvSpPr>
        <p:spPr>
          <a:xfrm>
            <a:off x="8046720" y="1737360"/>
            <a:ext cx="3520440" cy="1920240"/>
          </a:xfrm>
          <a:prstGeom prst="roundRect">
            <a:avLst>
              <a:gd name="adj" fmla="val 4762"/>
            </a:avLst>
          </a:prstGeom>
          <a:solidFill>
            <a:srgbClr val="241A0E"/>
          </a:solidFill>
          <a:ln w="12700">
            <a:solidFill>
              <a:srgbClr val="3A2C18"/>
            </a:solidFill>
            <a:prstDash val="solid"/>
          </a:ln>
        </p:spPr>
      </p:sp>
      <p:sp>
        <p:nvSpPr>
          <p:cNvPr id="15" name="Shape 13"/>
          <p:cNvSpPr/>
          <p:nvPr/>
        </p:nvSpPr>
        <p:spPr>
          <a:xfrm>
            <a:off x="8284464" y="1975104"/>
            <a:ext cx="420624" cy="420624"/>
          </a:xfrm>
          <a:prstGeom prst="ellipse">
            <a:avLst/>
          </a:prstGeom>
          <a:solidFill>
            <a:srgbClr val="C8960A"/>
          </a:solidFill>
          <a:ln/>
        </p:spPr>
      </p:sp>
      <p:sp>
        <p:nvSpPr>
          <p:cNvPr id="16" name="Text 14"/>
          <p:cNvSpPr/>
          <p:nvPr/>
        </p:nvSpPr>
        <p:spPr>
          <a:xfrm>
            <a:off x="8284464" y="197510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8284464" y="2468880"/>
            <a:ext cx="30449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Six channels running</a:t>
            </a:r>
            <a:endParaRPr lang="en-US" sz="1500" dirty="0"/>
          </a:p>
        </p:txBody>
      </p:sp>
      <p:sp>
        <p:nvSpPr>
          <p:cNvPr id="18" name="Text 16"/>
          <p:cNvSpPr/>
          <p:nvPr/>
        </p:nvSpPr>
        <p:spPr>
          <a:xfrm>
            <a:off x="8284464" y="2816352"/>
            <a:ext cx="3044952" cy="60350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Telegram, X, Instagram, TikTok, Discord and the newsroom, with over a million views on TikTok.</a:t>
            </a:r>
            <a:endParaRPr lang="en-US" sz="1150" dirty="0"/>
          </a:p>
        </p:txBody>
      </p:sp>
      <p:sp>
        <p:nvSpPr>
          <p:cNvPr id="19" name="Shape 17"/>
          <p:cNvSpPr/>
          <p:nvPr/>
        </p:nvSpPr>
        <p:spPr>
          <a:xfrm>
            <a:off x="640080" y="3858768"/>
            <a:ext cx="3520440" cy="1920240"/>
          </a:xfrm>
          <a:prstGeom prst="roundRect">
            <a:avLst>
              <a:gd name="adj" fmla="val 4762"/>
            </a:avLst>
          </a:prstGeom>
          <a:solidFill>
            <a:srgbClr val="241A0E"/>
          </a:solidFill>
          <a:ln w="12700">
            <a:solidFill>
              <a:srgbClr val="3A2C18"/>
            </a:solidFill>
            <a:prstDash val="solid"/>
          </a:ln>
        </p:spPr>
      </p:sp>
      <p:sp>
        <p:nvSpPr>
          <p:cNvPr id="20" name="Shape 18"/>
          <p:cNvSpPr/>
          <p:nvPr/>
        </p:nvSpPr>
        <p:spPr>
          <a:xfrm>
            <a:off x="877824" y="4096512"/>
            <a:ext cx="420624" cy="420624"/>
          </a:xfrm>
          <a:prstGeom prst="ellipse">
            <a:avLst/>
          </a:prstGeom>
          <a:solidFill>
            <a:srgbClr val="C8960A"/>
          </a:solidFill>
          <a:ln/>
        </p:spPr>
      </p:sp>
      <p:sp>
        <p:nvSpPr>
          <p:cNvPr id="21" name="Text 19"/>
          <p:cNvSpPr/>
          <p:nvPr/>
        </p:nvSpPr>
        <p:spPr>
          <a:xfrm>
            <a:off x="877824" y="4096512"/>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877824" y="4590288"/>
            <a:ext cx="30449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A bot of our own</a:t>
            </a:r>
            <a:endParaRPr lang="en-US" sz="1500" dirty="0"/>
          </a:p>
        </p:txBody>
      </p:sp>
      <p:sp>
        <p:nvSpPr>
          <p:cNvPr id="23" name="Text 21"/>
          <p:cNvSpPr/>
          <p:nvPr/>
        </p:nvSpPr>
        <p:spPr>
          <a:xfrm>
            <a:off x="877824" y="4937760"/>
            <a:ext cx="3044952" cy="60350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198 commands. Games, points, trivia, moderation, anti raid, written for ⚡ZAPP.</a:t>
            </a:r>
            <a:endParaRPr lang="en-US" sz="1150" dirty="0"/>
          </a:p>
        </p:txBody>
      </p:sp>
      <p:sp>
        <p:nvSpPr>
          <p:cNvPr id="24" name="Shape 22"/>
          <p:cNvSpPr/>
          <p:nvPr/>
        </p:nvSpPr>
        <p:spPr>
          <a:xfrm>
            <a:off x="4343400" y="3858768"/>
            <a:ext cx="3520440" cy="1920240"/>
          </a:xfrm>
          <a:prstGeom prst="roundRect">
            <a:avLst>
              <a:gd name="adj" fmla="val 4762"/>
            </a:avLst>
          </a:prstGeom>
          <a:solidFill>
            <a:srgbClr val="241A0E"/>
          </a:solidFill>
          <a:ln w="12700">
            <a:solidFill>
              <a:srgbClr val="3A2C18"/>
            </a:solidFill>
            <a:prstDash val="solid"/>
          </a:ln>
        </p:spPr>
      </p:sp>
      <p:sp>
        <p:nvSpPr>
          <p:cNvPr id="25" name="Shape 23"/>
          <p:cNvSpPr/>
          <p:nvPr/>
        </p:nvSpPr>
        <p:spPr>
          <a:xfrm>
            <a:off x="4581144" y="4096512"/>
            <a:ext cx="420624" cy="420624"/>
          </a:xfrm>
          <a:prstGeom prst="ellipse">
            <a:avLst/>
          </a:prstGeom>
          <a:solidFill>
            <a:srgbClr val="C8960A"/>
          </a:solidFill>
          <a:ln/>
        </p:spPr>
      </p:sp>
      <p:sp>
        <p:nvSpPr>
          <p:cNvPr id="26" name="Text 24"/>
          <p:cNvSpPr/>
          <p:nvPr/>
        </p:nvSpPr>
        <p:spPr>
          <a:xfrm>
            <a:off x="4581144" y="4096512"/>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a:t>
            </a:r>
            <a:endParaRPr lang="en-US" sz="1400" dirty="0"/>
          </a:p>
        </p:txBody>
      </p:sp>
      <p:sp>
        <p:nvSpPr>
          <p:cNvPr id="27" name="Text 25"/>
          <p:cNvSpPr/>
          <p:nvPr/>
        </p:nvSpPr>
        <p:spPr>
          <a:xfrm>
            <a:off x="4581144" y="4590288"/>
            <a:ext cx="30449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The paper and the plan</a:t>
            </a:r>
            <a:endParaRPr lang="en-US" sz="1500" dirty="0"/>
          </a:p>
        </p:txBody>
      </p:sp>
      <p:sp>
        <p:nvSpPr>
          <p:cNvPr id="28" name="Text 26"/>
          <p:cNvSpPr/>
          <p:nvPr/>
        </p:nvSpPr>
        <p:spPr>
          <a:xfrm>
            <a:off x="4581144" y="4937760"/>
            <a:ext cx="3044952" cy="60350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Whitepaper published. The master plan public at zapp369.energy/roadmap and kept current.</a:t>
            </a:r>
            <a:endParaRPr lang="en-US" sz="1150" dirty="0"/>
          </a:p>
        </p:txBody>
      </p:sp>
      <p:sp>
        <p:nvSpPr>
          <p:cNvPr id="29" name="Shape 27"/>
          <p:cNvSpPr/>
          <p:nvPr/>
        </p:nvSpPr>
        <p:spPr>
          <a:xfrm>
            <a:off x="8046720" y="3858768"/>
            <a:ext cx="3520440" cy="1920240"/>
          </a:xfrm>
          <a:prstGeom prst="roundRect">
            <a:avLst>
              <a:gd name="adj" fmla="val 4762"/>
            </a:avLst>
          </a:prstGeom>
          <a:solidFill>
            <a:srgbClr val="241A0E"/>
          </a:solidFill>
          <a:ln w="12700">
            <a:solidFill>
              <a:srgbClr val="3A2C18"/>
            </a:solidFill>
            <a:prstDash val="solid"/>
          </a:ln>
        </p:spPr>
      </p:sp>
      <p:sp>
        <p:nvSpPr>
          <p:cNvPr id="30" name="Shape 28"/>
          <p:cNvSpPr/>
          <p:nvPr/>
        </p:nvSpPr>
        <p:spPr>
          <a:xfrm>
            <a:off x="8284464" y="4096512"/>
            <a:ext cx="420624" cy="420624"/>
          </a:xfrm>
          <a:prstGeom prst="ellipse">
            <a:avLst/>
          </a:prstGeom>
          <a:solidFill>
            <a:srgbClr val="C8960A"/>
          </a:solidFill>
          <a:ln/>
        </p:spPr>
      </p:sp>
      <p:sp>
        <p:nvSpPr>
          <p:cNvPr id="31" name="Text 29"/>
          <p:cNvSpPr/>
          <p:nvPr/>
        </p:nvSpPr>
        <p:spPr>
          <a:xfrm>
            <a:off x="8284464" y="4096512"/>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a:t>
            </a:r>
            <a:endParaRPr lang="en-US" sz="1400" dirty="0"/>
          </a:p>
        </p:txBody>
      </p:sp>
      <p:sp>
        <p:nvSpPr>
          <p:cNvPr id="32" name="Text 30"/>
          <p:cNvSpPr/>
          <p:nvPr/>
        </p:nvSpPr>
        <p:spPr>
          <a:xfrm>
            <a:off x="8284464" y="4590288"/>
            <a:ext cx="30449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We are still here</a:t>
            </a:r>
            <a:endParaRPr lang="en-US" sz="1500" dirty="0"/>
          </a:p>
        </p:txBody>
      </p:sp>
      <p:sp>
        <p:nvSpPr>
          <p:cNvPr id="33" name="Text 31"/>
          <p:cNvSpPr/>
          <p:nvPr/>
        </p:nvSpPr>
        <p:spPr>
          <a:xfrm>
            <a:off x="8284464" y="4937760"/>
            <a:ext cx="3044952" cy="60350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A founder account compromised, two founders gone, the chart down hard. The contract untouched, the store shipped, the community stayed.</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7110A"/>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250" kern="0" dirty="0">
                <a:solidFill>
                  <a:srgbClr val="C8960A"/>
                </a:solidFill>
                <a:latin typeface="Calibri" pitchFamily="34" charset="0"/>
                <a:ea typeface="Calibri" pitchFamily="34" charset="-122"/>
                <a:cs typeface="Calibri" pitchFamily="34" charset="-120"/>
              </a:rPr>
              <a:t>IN FLIGHT, AND THEN THE ROAD</a:t>
            </a:r>
            <a:endParaRPr lang="en-US" sz="110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indent="0" marL="0">
              <a:buNone/>
            </a:pPr>
            <a:r>
              <a:rPr lang="en-US" sz="3400" b="1" dirty="0">
                <a:solidFill>
                  <a:srgbClr val="FBF4E2"/>
                </a:solidFill>
                <a:latin typeface="Cambria" pitchFamily="34" charset="0"/>
                <a:ea typeface="Cambria" pitchFamily="34" charset="-122"/>
                <a:cs typeface="Cambria" pitchFamily="34" charset="-120"/>
              </a:rPr>
              <a:t>What is next</a:t>
            </a:r>
            <a:endParaRPr lang="en-US" sz="3400" dirty="0"/>
          </a:p>
        </p:txBody>
      </p:sp>
      <p:sp>
        <p:nvSpPr>
          <p:cNvPr id="4" name="Shape 2"/>
          <p:cNvSpPr/>
          <p:nvPr/>
        </p:nvSpPr>
        <p:spPr>
          <a:xfrm>
            <a:off x="640080" y="1737360"/>
            <a:ext cx="5349240" cy="2011680"/>
          </a:xfrm>
          <a:prstGeom prst="roundRect">
            <a:avLst>
              <a:gd name="adj" fmla="val 4545"/>
            </a:avLst>
          </a:prstGeom>
          <a:solidFill>
            <a:srgbClr val="241A0E"/>
          </a:solidFill>
          <a:ln w="12700">
            <a:solidFill>
              <a:srgbClr val="3A2C18"/>
            </a:solidFill>
            <a:prstDash val="solid"/>
          </a:ln>
        </p:spPr>
      </p:sp>
      <p:sp>
        <p:nvSpPr>
          <p:cNvPr id="5" name="Shape 3"/>
          <p:cNvSpPr/>
          <p:nvPr/>
        </p:nvSpPr>
        <p:spPr>
          <a:xfrm>
            <a:off x="877824" y="1975104"/>
            <a:ext cx="420624" cy="420624"/>
          </a:xfrm>
          <a:prstGeom prst="ellipse">
            <a:avLst/>
          </a:prstGeom>
          <a:solidFill>
            <a:srgbClr val="C8960A"/>
          </a:solidFill>
          <a:ln/>
        </p:spPr>
      </p:sp>
      <p:sp>
        <p:nvSpPr>
          <p:cNvPr id="6" name="Text 4"/>
          <p:cNvSpPr/>
          <p:nvPr/>
        </p:nvSpPr>
        <p:spPr>
          <a:xfrm>
            <a:off x="877824" y="197510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877824" y="2468880"/>
            <a:ext cx="48737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In flight now</a:t>
            </a:r>
            <a:endParaRPr lang="en-US" sz="1500" dirty="0"/>
          </a:p>
        </p:txBody>
      </p:sp>
      <p:sp>
        <p:nvSpPr>
          <p:cNvPr id="8" name="Text 6"/>
          <p:cNvSpPr/>
          <p:nvPr/>
        </p:nvSpPr>
        <p:spPr>
          <a:xfrm>
            <a:off x="877824" y="2816352"/>
            <a:ext cx="4873752" cy="69494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CoinMarketCap listing submitted and under review. Phantom and MetaMask logo updates requested. Supplier onboarding so pre orders ship on 09.09.2026.</a:t>
            </a:r>
            <a:endParaRPr lang="en-US" sz="1150" dirty="0"/>
          </a:p>
        </p:txBody>
      </p:sp>
      <p:sp>
        <p:nvSpPr>
          <p:cNvPr id="9" name="Shape 7"/>
          <p:cNvSpPr/>
          <p:nvPr/>
        </p:nvSpPr>
        <p:spPr>
          <a:xfrm>
            <a:off x="6172200" y="1737360"/>
            <a:ext cx="5349240" cy="2011680"/>
          </a:xfrm>
          <a:prstGeom prst="roundRect">
            <a:avLst>
              <a:gd name="adj" fmla="val 4545"/>
            </a:avLst>
          </a:prstGeom>
          <a:solidFill>
            <a:srgbClr val="241A0E"/>
          </a:solidFill>
          <a:ln w="12700">
            <a:solidFill>
              <a:srgbClr val="3A2C18"/>
            </a:solidFill>
            <a:prstDash val="solid"/>
          </a:ln>
        </p:spPr>
      </p:sp>
      <p:sp>
        <p:nvSpPr>
          <p:cNvPr id="10" name="Shape 8"/>
          <p:cNvSpPr/>
          <p:nvPr/>
        </p:nvSpPr>
        <p:spPr>
          <a:xfrm>
            <a:off x="6409944" y="1975104"/>
            <a:ext cx="420624" cy="420624"/>
          </a:xfrm>
          <a:prstGeom prst="ellipse">
            <a:avLst/>
          </a:prstGeom>
          <a:solidFill>
            <a:srgbClr val="C8960A"/>
          </a:solidFill>
          <a:ln/>
        </p:spPr>
      </p:sp>
      <p:sp>
        <p:nvSpPr>
          <p:cNvPr id="11" name="Text 9"/>
          <p:cNvSpPr/>
          <p:nvPr/>
        </p:nvSpPr>
        <p:spPr>
          <a:xfrm>
            <a:off x="6409944" y="1975104"/>
            <a:ext cx="420624" cy="420624"/>
          </a:xfrm>
          <a:prstGeom prst="rect">
            <a:avLst/>
          </a:prstGeom>
          <a:noFill/>
          <a:ln/>
        </p:spPr>
        <p:txBody>
          <a:bodyPr wrap="square" lIns="0" tIns="0" rIns="0" bIns="0" rtlCol="0" anchor="ctr"/>
          <a:lstStyle/>
          <a:p>
            <a:pPr algn="ctr" indent="0" marL="0">
              <a:buNone/>
            </a:pPr>
            <a:r>
              <a:rPr lang="en-US" sz="1400" b="1" dirty="0">
                <a:solidFill>
                  <a:srgbClr val="17110A"/>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6409944" y="2468880"/>
            <a:ext cx="48737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Next</a:t>
            </a:r>
            <a:endParaRPr lang="en-US" sz="1500" dirty="0"/>
          </a:p>
        </p:txBody>
      </p:sp>
      <p:sp>
        <p:nvSpPr>
          <p:cNvPr id="13" name="Text 11"/>
          <p:cNvSpPr/>
          <p:nvPr/>
        </p:nvSpPr>
        <p:spPr>
          <a:xfrm>
            <a:off x="6409944" y="2816352"/>
            <a:ext cx="4873752" cy="694944"/>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Earn Jupiter verification through a healthy, organic community. Lock the remaining team coins on public vesting. Stand up the multisig treasury and the public dashboard.</a:t>
            </a:r>
            <a:endParaRPr lang="en-US" sz="1150" dirty="0"/>
          </a:p>
        </p:txBody>
      </p:sp>
      <p:sp>
        <p:nvSpPr>
          <p:cNvPr id="14" name="Shape 12"/>
          <p:cNvSpPr/>
          <p:nvPr/>
        </p:nvSpPr>
        <p:spPr>
          <a:xfrm>
            <a:off x="640080" y="3931920"/>
            <a:ext cx="3520440" cy="2057400"/>
          </a:xfrm>
          <a:prstGeom prst="roundRect">
            <a:avLst>
              <a:gd name="adj" fmla="val 4444"/>
            </a:avLst>
          </a:prstGeom>
          <a:solidFill>
            <a:srgbClr val="241A0E"/>
          </a:solidFill>
          <a:ln w="12700">
            <a:solidFill>
              <a:srgbClr val="3A2C18"/>
            </a:solidFill>
            <a:prstDash val="solid"/>
          </a:ln>
        </p:spPr>
      </p:sp>
      <p:sp>
        <p:nvSpPr>
          <p:cNvPr id="15" name="Text 13"/>
          <p:cNvSpPr/>
          <p:nvPr/>
        </p:nvSpPr>
        <p:spPr>
          <a:xfrm>
            <a:off x="877824" y="4151376"/>
            <a:ext cx="30449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A · The Steady Current</a:t>
            </a:r>
            <a:endParaRPr lang="en-US" sz="1500" dirty="0"/>
          </a:p>
        </p:txBody>
      </p:sp>
      <p:sp>
        <p:nvSpPr>
          <p:cNvPr id="16" name="Text 14"/>
          <p:cNvSpPr/>
          <p:nvPr/>
        </p:nvSpPr>
        <p:spPr>
          <a:xfrm>
            <a:off x="877824" y="4535424"/>
            <a:ext cx="3044952" cy="1216152"/>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The patient build. Foundation and hub, merch and community as the fuel, steady buyback and double burn. Win by still being here in three years.</a:t>
            </a:r>
            <a:endParaRPr lang="en-US" sz="1150" dirty="0"/>
          </a:p>
        </p:txBody>
      </p:sp>
      <p:sp>
        <p:nvSpPr>
          <p:cNvPr id="17" name="Shape 15"/>
          <p:cNvSpPr/>
          <p:nvPr/>
        </p:nvSpPr>
        <p:spPr>
          <a:xfrm>
            <a:off x="4343400" y="3931920"/>
            <a:ext cx="3520440" cy="2057400"/>
          </a:xfrm>
          <a:prstGeom prst="roundRect">
            <a:avLst>
              <a:gd name="adj" fmla="val 4444"/>
            </a:avLst>
          </a:prstGeom>
          <a:solidFill>
            <a:srgbClr val="241A0E"/>
          </a:solidFill>
          <a:ln w="12700">
            <a:solidFill>
              <a:srgbClr val="3A2C18"/>
            </a:solidFill>
            <a:prstDash val="solid"/>
          </a:ln>
        </p:spPr>
      </p:sp>
      <p:sp>
        <p:nvSpPr>
          <p:cNvPr id="18" name="Text 16"/>
          <p:cNvSpPr/>
          <p:nvPr/>
        </p:nvSpPr>
        <p:spPr>
          <a:xfrm>
            <a:off x="4581144" y="4151376"/>
            <a:ext cx="30449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B · The Surge</a:t>
            </a:r>
            <a:endParaRPr lang="en-US" sz="1500" dirty="0"/>
          </a:p>
        </p:txBody>
      </p:sp>
      <p:sp>
        <p:nvSpPr>
          <p:cNvPr id="19" name="Text 17"/>
          <p:cNvSpPr/>
          <p:nvPr/>
        </p:nvSpPr>
        <p:spPr>
          <a:xfrm>
            <a:off x="4581144" y="4535424"/>
            <a:ext cx="3044952" cy="1216152"/>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The ambitious build. The EU arm and the MiCA paper, partnerships and a real product. Toward Revolut and Coinbase class.</a:t>
            </a:r>
            <a:endParaRPr lang="en-US" sz="1150" dirty="0"/>
          </a:p>
        </p:txBody>
      </p:sp>
      <p:sp>
        <p:nvSpPr>
          <p:cNvPr id="20" name="Shape 18"/>
          <p:cNvSpPr/>
          <p:nvPr/>
        </p:nvSpPr>
        <p:spPr>
          <a:xfrm>
            <a:off x="8046720" y="3931920"/>
            <a:ext cx="3474720" cy="2057400"/>
          </a:xfrm>
          <a:prstGeom prst="roundRect">
            <a:avLst>
              <a:gd name="adj" fmla="val 4444"/>
            </a:avLst>
          </a:prstGeom>
          <a:solidFill>
            <a:srgbClr val="241A0E"/>
          </a:solidFill>
          <a:ln w="12700">
            <a:solidFill>
              <a:srgbClr val="3A2C18"/>
            </a:solidFill>
            <a:prstDash val="solid"/>
          </a:ln>
        </p:spPr>
      </p:sp>
      <p:sp>
        <p:nvSpPr>
          <p:cNvPr id="21" name="Text 19"/>
          <p:cNvSpPr/>
          <p:nvPr/>
        </p:nvSpPr>
        <p:spPr>
          <a:xfrm>
            <a:off x="8284464" y="4151376"/>
            <a:ext cx="299923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One spine</a:t>
            </a:r>
            <a:endParaRPr lang="en-US" sz="1500" dirty="0"/>
          </a:p>
        </p:txBody>
      </p:sp>
      <p:sp>
        <p:nvSpPr>
          <p:cNvPr id="22" name="Text 20"/>
          <p:cNvSpPr/>
          <p:nvPr/>
        </p:nvSpPr>
        <p:spPr>
          <a:xfrm>
            <a:off x="8284464" y="4535424"/>
            <a:ext cx="2999232" cy="1216152"/>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The same pot, the same floor, the same mission. We start on A and step up to B when the community and the revenue are ready.</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7110A"/>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100" b="1" spc="250" kern="0" dirty="0">
                <a:solidFill>
                  <a:srgbClr val="C8960A"/>
                </a:solidFill>
                <a:latin typeface="Calibri" pitchFamily="34" charset="0"/>
                <a:ea typeface="Calibri" pitchFamily="34" charset="-122"/>
                <a:cs typeface="Calibri" pitchFamily="34" charset="-120"/>
              </a:rPr>
              <a:t>THE REASON</a:t>
            </a:r>
            <a:endParaRPr lang="en-US" sz="110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indent="0" marL="0">
              <a:buNone/>
            </a:pPr>
            <a:r>
              <a:rPr lang="en-US" sz="3400" b="1" dirty="0">
                <a:solidFill>
                  <a:srgbClr val="FBF4E2"/>
                </a:solidFill>
                <a:latin typeface="Cambria" pitchFamily="34" charset="0"/>
                <a:ea typeface="Cambria" pitchFamily="34" charset="-122"/>
                <a:cs typeface="Cambria" pitchFamily="34" charset="-120"/>
              </a:rPr>
              <a:t>The mission</a:t>
            </a:r>
            <a:endParaRPr lang="en-US" sz="3400" dirty="0"/>
          </a:p>
        </p:txBody>
      </p:sp>
      <p:sp>
        <p:nvSpPr>
          <p:cNvPr id="4" name="Text 2"/>
          <p:cNvSpPr/>
          <p:nvPr/>
        </p:nvSpPr>
        <p:spPr>
          <a:xfrm>
            <a:off x="640080" y="1554480"/>
            <a:ext cx="10881360" cy="411480"/>
          </a:xfrm>
          <a:prstGeom prst="rect">
            <a:avLst/>
          </a:prstGeom>
          <a:noFill/>
          <a:ln/>
        </p:spPr>
        <p:txBody>
          <a:bodyPr wrap="square" lIns="0" tIns="0" rIns="0" bIns="0" rtlCol="0" anchor="ctr"/>
          <a:lstStyle/>
          <a:p>
            <a:pPr indent="0" marL="0">
              <a:buNone/>
            </a:pPr>
            <a:r>
              <a:rPr lang="en-US" sz="1700" dirty="0">
                <a:solidFill>
                  <a:srgbClr val="FBF4E2"/>
                </a:solidFill>
                <a:latin typeface="Cambria" pitchFamily="34" charset="0"/>
                <a:ea typeface="Cambria" pitchFamily="34" charset="-122"/>
                <a:cs typeface="Cambria" pitchFamily="34" charset="-120"/>
              </a:rPr>
              <a:t>Tesla wanted to give the world free energy. We carry that forward in a way already proven to work.</a:t>
            </a:r>
            <a:endParaRPr lang="en-US" sz="1700" dirty="0"/>
          </a:p>
        </p:txBody>
      </p:sp>
      <p:sp>
        <p:nvSpPr>
          <p:cNvPr id="5" name="Shape 3"/>
          <p:cNvSpPr/>
          <p:nvPr/>
        </p:nvSpPr>
        <p:spPr>
          <a:xfrm>
            <a:off x="640080" y="2148840"/>
            <a:ext cx="2583180" cy="1371600"/>
          </a:xfrm>
          <a:prstGeom prst="roundRect">
            <a:avLst>
              <a:gd name="adj" fmla="val 6667"/>
            </a:avLst>
          </a:prstGeom>
          <a:solidFill>
            <a:srgbClr val="241A0E"/>
          </a:solidFill>
          <a:ln w="12700">
            <a:solidFill>
              <a:srgbClr val="3A2C18"/>
            </a:solidFill>
            <a:prstDash val="solid"/>
          </a:ln>
        </p:spPr>
      </p:sp>
      <p:sp>
        <p:nvSpPr>
          <p:cNvPr id="6" name="Text 4"/>
          <p:cNvSpPr/>
          <p:nvPr/>
        </p:nvSpPr>
        <p:spPr>
          <a:xfrm>
            <a:off x="640080" y="2313432"/>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1.3B</a:t>
            </a:r>
            <a:endParaRPr lang="en-US" sz="3000" dirty="0"/>
          </a:p>
        </p:txBody>
      </p:sp>
      <p:sp>
        <p:nvSpPr>
          <p:cNvPr id="7" name="Text 5"/>
          <p:cNvSpPr/>
          <p:nvPr/>
        </p:nvSpPr>
        <p:spPr>
          <a:xfrm>
            <a:off x="749808" y="2990088"/>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adults still have no bank</a:t>
            </a:r>
            <a:endParaRPr lang="en-US" sz="1100" dirty="0"/>
          </a:p>
        </p:txBody>
      </p:sp>
      <p:sp>
        <p:nvSpPr>
          <p:cNvPr id="8" name="Shape 6"/>
          <p:cNvSpPr/>
          <p:nvPr/>
        </p:nvSpPr>
        <p:spPr>
          <a:xfrm>
            <a:off x="3406140" y="2148840"/>
            <a:ext cx="2583180" cy="1371600"/>
          </a:xfrm>
          <a:prstGeom prst="roundRect">
            <a:avLst>
              <a:gd name="adj" fmla="val 6667"/>
            </a:avLst>
          </a:prstGeom>
          <a:solidFill>
            <a:srgbClr val="241A0E"/>
          </a:solidFill>
          <a:ln w="12700">
            <a:solidFill>
              <a:srgbClr val="3A2C18"/>
            </a:solidFill>
            <a:prstDash val="solid"/>
          </a:ln>
        </p:spPr>
      </p:sp>
      <p:sp>
        <p:nvSpPr>
          <p:cNvPr id="9" name="Text 7"/>
          <p:cNvSpPr/>
          <p:nvPr/>
        </p:nvSpPr>
        <p:spPr>
          <a:xfrm>
            <a:off x="3406140" y="2313432"/>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$760M+</a:t>
            </a:r>
            <a:endParaRPr lang="en-US" sz="3000" dirty="0"/>
          </a:p>
        </p:txBody>
      </p:sp>
      <p:sp>
        <p:nvSpPr>
          <p:cNvPr id="10" name="Text 8"/>
          <p:cNvSpPr/>
          <p:nvPr/>
        </p:nvSpPr>
        <p:spPr>
          <a:xfrm>
            <a:off x="3515868" y="2990088"/>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aid already sent on chain</a:t>
            </a:r>
            <a:endParaRPr lang="en-US" sz="1100" dirty="0"/>
          </a:p>
        </p:txBody>
      </p:sp>
      <p:sp>
        <p:nvSpPr>
          <p:cNvPr id="11" name="Shape 9"/>
          <p:cNvSpPr/>
          <p:nvPr/>
        </p:nvSpPr>
        <p:spPr>
          <a:xfrm>
            <a:off x="6172200" y="2148840"/>
            <a:ext cx="2583180" cy="1371600"/>
          </a:xfrm>
          <a:prstGeom prst="roundRect">
            <a:avLst>
              <a:gd name="adj" fmla="val 6667"/>
            </a:avLst>
          </a:prstGeom>
          <a:solidFill>
            <a:srgbClr val="241A0E"/>
          </a:solidFill>
          <a:ln w="12700">
            <a:solidFill>
              <a:srgbClr val="3A2C18"/>
            </a:solidFill>
            <a:prstDash val="solid"/>
          </a:ln>
        </p:spPr>
      </p:sp>
      <p:sp>
        <p:nvSpPr>
          <p:cNvPr id="12" name="Text 10"/>
          <p:cNvSpPr/>
          <p:nvPr/>
        </p:nvSpPr>
        <p:spPr>
          <a:xfrm>
            <a:off x="6172200" y="2313432"/>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6M</a:t>
            </a:r>
            <a:endParaRPr lang="en-US" sz="3000" dirty="0"/>
          </a:p>
        </p:txBody>
      </p:sp>
      <p:sp>
        <p:nvSpPr>
          <p:cNvPr id="13" name="Text 11"/>
          <p:cNvSpPr/>
          <p:nvPr/>
        </p:nvSpPr>
        <p:spPr>
          <a:xfrm>
            <a:off x="6281928" y="2990088"/>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people already helped</a:t>
            </a:r>
            <a:endParaRPr lang="en-US" sz="1100" dirty="0"/>
          </a:p>
        </p:txBody>
      </p:sp>
      <p:sp>
        <p:nvSpPr>
          <p:cNvPr id="14" name="Shape 12"/>
          <p:cNvSpPr/>
          <p:nvPr/>
        </p:nvSpPr>
        <p:spPr>
          <a:xfrm>
            <a:off x="8938260" y="2148840"/>
            <a:ext cx="2583180" cy="1371600"/>
          </a:xfrm>
          <a:prstGeom prst="roundRect">
            <a:avLst>
              <a:gd name="adj" fmla="val 6667"/>
            </a:avLst>
          </a:prstGeom>
          <a:solidFill>
            <a:srgbClr val="241A0E"/>
          </a:solidFill>
          <a:ln w="12700">
            <a:solidFill>
              <a:srgbClr val="3A2C18"/>
            </a:solidFill>
            <a:prstDash val="solid"/>
          </a:ln>
        </p:spPr>
      </p:sp>
      <p:sp>
        <p:nvSpPr>
          <p:cNvPr id="15" name="Text 13"/>
          <p:cNvSpPr/>
          <p:nvPr/>
        </p:nvSpPr>
        <p:spPr>
          <a:xfrm>
            <a:off x="8938260" y="2313432"/>
            <a:ext cx="2583180" cy="658368"/>
          </a:xfrm>
          <a:prstGeom prst="rect">
            <a:avLst/>
          </a:prstGeom>
          <a:noFill/>
          <a:ln/>
        </p:spPr>
        <p:txBody>
          <a:bodyPr wrap="square" lIns="0" tIns="0" rIns="0" bIns="0" rtlCol="0" anchor="ctr"/>
          <a:lstStyle/>
          <a:p>
            <a:pPr algn="ctr" indent="0" marL="0">
              <a:buNone/>
            </a:pPr>
            <a:r>
              <a:rPr lang="en-US" sz="3000" b="1" dirty="0">
                <a:solidFill>
                  <a:srgbClr val="C8960A"/>
                </a:solidFill>
                <a:latin typeface="Cambria" pitchFamily="34" charset="0"/>
                <a:ea typeface="Cambria" pitchFamily="34" charset="-122"/>
                <a:cs typeface="Cambria" pitchFamily="34" charset="-120"/>
              </a:rPr>
              <a:t>$16T</a:t>
            </a:r>
            <a:endParaRPr lang="en-US" sz="3000" dirty="0"/>
          </a:p>
        </p:txBody>
      </p:sp>
      <p:sp>
        <p:nvSpPr>
          <p:cNvPr id="16" name="Text 14"/>
          <p:cNvSpPr/>
          <p:nvPr/>
        </p:nvSpPr>
        <p:spPr>
          <a:xfrm>
            <a:off x="9047988" y="2990088"/>
            <a:ext cx="2363724" cy="438912"/>
          </a:xfrm>
          <a:prstGeom prst="rect">
            <a:avLst/>
          </a:prstGeom>
          <a:noFill/>
          <a:ln/>
        </p:spPr>
        <p:txBody>
          <a:bodyPr wrap="square" lIns="0" tIns="0" rIns="0" bIns="0" rtlCol="0" anchor="ctr"/>
          <a:lstStyle/>
          <a:p>
            <a:pPr algn="ctr" indent="0" marL="0">
              <a:buNone/>
            </a:pPr>
            <a:r>
              <a:rPr lang="en-US" sz="1100" dirty="0">
                <a:solidFill>
                  <a:srgbClr val="9B8A6B"/>
                </a:solidFill>
                <a:latin typeface="Calibri" pitchFamily="34" charset="0"/>
                <a:ea typeface="Calibri" pitchFamily="34" charset="-122"/>
                <a:cs typeface="Calibri" pitchFamily="34" charset="-120"/>
              </a:rPr>
              <a:t>assets on chain by 2030</a:t>
            </a:r>
            <a:endParaRPr lang="en-US" sz="1100" dirty="0"/>
          </a:p>
        </p:txBody>
      </p:sp>
      <p:sp>
        <p:nvSpPr>
          <p:cNvPr id="17" name="Shape 15"/>
          <p:cNvSpPr/>
          <p:nvPr/>
        </p:nvSpPr>
        <p:spPr>
          <a:xfrm>
            <a:off x="640080" y="3794760"/>
            <a:ext cx="5349240" cy="1965960"/>
          </a:xfrm>
          <a:prstGeom prst="roundRect">
            <a:avLst>
              <a:gd name="adj" fmla="val 4651"/>
            </a:avLst>
          </a:prstGeom>
          <a:solidFill>
            <a:srgbClr val="241A0E"/>
          </a:solidFill>
          <a:ln w="12700">
            <a:solidFill>
              <a:srgbClr val="3A2C18"/>
            </a:solidFill>
            <a:prstDash val="solid"/>
          </a:ln>
        </p:spPr>
      </p:sp>
      <p:sp>
        <p:nvSpPr>
          <p:cNvPr id="18" name="Text 16"/>
          <p:cNvSpPr/>
          <p:nvPr/>
        </p:nvSpPr>
        <p:spPr>
          <a:xfrm>
            <a:off x="877824" y="4014216"/>
            <a:ext cx="48737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It already works</a:t>
            </a:r>
            <a:endParaRPr lang="en-US" sz="1500" dirty="0"/>
          </a:p>
        </p:txBody>
      </p:sp>
      <p:sp>
        <p:nvSpPr>
          <p:cNvPr id="19" name="Text 17"/>
          <p:cNvSpPr/>
          <p:nvPr/>
        </p:nvSpPr>
        <p:spPr>
          <a:xfrm>
            <a:off x="877824" y="4398264"/>
            <a:ext cx="4873752" cy="1124712"/>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The UN World Food Programme has delivered over $760 million in food and cash to more than six million people through a blockchain, across 40 million transactions, saving millions in bank fees. ⚡ZAPP joins a road that is already proven.</a:t>
            </a:r>
            <a:endParaRPr lang="en-US" sz="1150" dirty="0"/>
          </a:p>
        </p:txBody>
      </p:sp>
      <p:sp>
        <p:nvSpPr>
          <p:cNvPr id="20" name="Shape 18"/>
          <p:cNvSpPr/>
          <p:nvPr/>
        </p:nvSpPr>
        <p:spPr>
          <a:xfrm>
            <a:off x="6172200" y="3794760"/>
            <a:ext cx="5349240" cy="1965960"/>
          </a:xfrm>
          <a:prstGeom prst="roundRect">
            <a:avLst>
              <a:gd name="adj" fmla="val 4651"/>
            </a:avLst>
          </a:prstGeom>
          <a:solidFill>
            <a:srgbClr val="241A0E"/>
          </a:solidFill>
          <a:ln w="12700">
            <a:solidFill>
              <a:srgbClr val="3A2C18"/>
            </a:solidFill>
            <a:prstDash val="solid"/>
          </a:ln>
        </p:spPr>
      </p:sp>
      <p:sp>
        <p:nvSpPr>
          <p:cNvPr id="21" name="Text 19"/>
          <p:cNvSpPr/>
          <p:nvPr/>
        </p:nvSpPr>
        <p:spPr>
          <a:xfrm>
            <a:off x="6409944" y="4014216"/>
            <a:ext cx="4873752" cy="310896"/>
          </a:xfrm>
          <a:prstGeom prst="rect">
            <a:avLst/>
          </a:prstGeom>
          <a:noFill/>
          <a:ln/>
        </p:spPr>
        <p:txBody>
          <a:bodyPr wrap="square" lIns="0" tIns="0" rIns="0" bIns="0" rtlCol="0" anchor="t"/>
          <a:lstStyle/>
          <a:p>
            <a:pPr indent="0" marL="0">
              <a:buNone/>
            </a:pPr>
            <a:r>
              <a:rPr lang="en-US" sz="1500" b="1" dirty="0">
                <a:solidFill>
                  <a:srgbClr val="FBF4E2"/>
                </a:solidFill>
                <a:latin typeface="Cambria" pitchFamily="34" charset="0"/>
                <a:ea typeface="Cambria" pitchFamily="34" charset="-122"/>
                <a:cs typeface="Cambria" pitchFamily="34" charset="-120"/>
              </a:rPr>
              <a:t>Help you can prove</a:t>
            </a:r>
            <a:endParaRPr lang="en-US" sz="1500" dirty="0"/>
          </a:p>
        </p:txBody>
      </p:sp>
      <p:sp>
        <p:nvSpPr>
          <p:cNvPr id="22" name="Text 20"/>
          <p:cNvSpPr/>
          <p:nvPr/>
        </p:nvSpPr>
        <p:spPr>
          <a:xfrm>
            <a:off x="6409944" y="4398264"/>
            <a:ext cx="4873752" cy="1124712"/>
          </a:xfrm>
          <a:prstGeom prst="rect">
            <a:avLst/>
          </a:prstGeom>
          <a:noFill/>
          <a:ln/>
        </p:spPr>
        <p:txBody>
          <a:bodyPr wrap="square" lIns="0" tIns="0" rIns="0" bIns="0" rtlCol="0" anchor="t"/>
          <a:lstStyle/>
          <a:p>
            <a:pPr indent="0" marL="0">
              <a:lnSpc>
                <a:spcPct val="112000"/>
              </a:lnSpc>
              <a:buNone/>
            </a:pPr>
            <a:r>
              <a:rPr lang="en-US" sz="1150" dirty="0">
                <a:solidFill>
                  <a:srgbClr val="9B8A6B"/>
                </a:solidFill>
                <a:latin typeface="Calibri" pitchFamily="34" charset="0"/>
                <a:ea typeface="Calibri" pitchFamily="34" charset="-122"/>
                <a:cs typeface="Calibri" pitchFamily="34" charset="-120"/>
              </a:rPr>
              <a:t>Give a person a verifiable identity and you open the door to food, energy and a way to be counted. As the pot grows, ⚡ZAPP funds the same, in the open. Help you can prove, not just promise.</a:t>
            </a:r>
            <a:endParaRPr lang="en-US" sz="1150" dirty="0"/>
          </a:p>
        </p:txBody>
      </p:sp>
      <p:sp>
        <p:nvSpPr>
          <p:cNvPr id="23" name="Text 21"/>
          <p:cNvSpPr/>
          <p:nvPr/>
        </p:nvSpPr>
        <p:spPr>
          <a:xfrm>
            <a:off x="640080" y="5943600"/>
            <a:ext cx="10881360" cy="274320"/>
          </a:xfrm>
          <a:prstGeom prst="rect">
            <a:avLst/>
          </a:prstGeom>
          <a:noFill/>
          <a:ln/>
        </p:spPr>
        <p:txBody>
          <a:bodyPr wrap="square" lIns="0" tIns="0" rIns="0" bIns="0" rtlCol="0" anchor="ctr"/>
          <a:lstStyle/>
          <a:p>
            <a:pPr algn="ctr" indent="0" marL="0">
              <a:buNone/>
            </a:pPr>
            <a:r>
              <a:rPr lang="en-US" sz="1000" dirty="0">
                <a:solidFill>
                  <a:srgbClr val="9B8A6B"/>
                </a:solidFill>
                <a:latin typeface="Calibri" pitchFamily="34" charset="0"/>
                <a:ea typeface="Calibri" pitchFamily="34" charset="-122"/>
                <a:cs typeface="Calibri" pitchFamily="34" charset="-120"/>
              </a:rPr>
              <a:t>Sources · Global Findex 2025 (World Bank) · Building Blocks (UN WFP) · BCG, BCG with Ripple, Standard Chartered</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711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23560" y="731520"/>
            <a:ext cx="914400" cy="914400"/>
          </a:xfrm>
          <a:prstGeom prst="rect">
            <a:avLst/>
          </a:prstGeom>
        </p:spPr>
      </p:pic>
      <p:sp>
        <p:nvSpPr>
          <p:cNvPr id="3" name="Text 0"/>
          <p:cNvSpPr/>
          <p:nvPr/>
        </p:nvSpPr>
        <p:spPr>
          <a:xfrm>
            <a:off x="640080" y="1874520"/>
            <a:ext cx="10881360" cy="640080"/>
          </a:xfrm>
          <a:prstGeom prst="rect">
            <a:avLst/>
          </a:prstGeom>
          <a:noFill/>
          <a:ln/>
        </p:spPr>
        <p:txBody>
          <a:bodyPr wrap="square" lIns="0" tIns="0" rIns="0" bIns="0" rtlCol="0" anchor="ctr"/>
          <a:lstStyle/>
          <a:p>
            <a:pPr algn="ctr" indent="0" marL="0">
              <a:buNone/>
            </a:pPr>
            <a:r>
              <a:rPr lang="en-US" sz="3800" b="1" dirty="0">
                <a:solidFill>
                  <a:srgbClr val="FBF4E2"/>
                </a:solidFill>
                <a:latin typeface="Cambria" pitchFamily="34" charset="0"/>
                <a:ea typeface="Cambria" pitchFamily="34" charset="-122"/>
                <a:cs typeface="Cambria" pitchFamily="34" charset="-120"/>
              </a:rPr>
              <a:t>Free Energy = Free Money</a:t>
            </a:r>
            <a:endParaRPr lang="en-US" sz="3800" dirty="0"/>
          </a:p>
        </p:txBody>
      </p:sp>
      <p:sp>
        <p:nvSpPr>
          <p:cNvPr id="4" name="Text 1"/>
          <p:cNvSpPr/>
          <p:nvPr/>
        </p:nvSpPr>
        <p:spPr>
          <a:xfrm>
            <a:off x="640080" y="2560320"/>
            <a:ext cx="10881360" cy="365760"/>
          </a:xfrm>
          <a:prstGeom prst="rect">
            <a:avLst/>
          </a:prstGeom>
          <a:noFill/>
          <a:ln/>
        </p:spPr>
        <p:txBody>
          <a:bodyPr wrap="square" lIns="0" tIns="0" rIns="0" bIns="0" rtlCol="0" anchor="ctr"/>
          <a:lstStyle/>
          <a:p>
            <a:pPr algn="ctr" indent="0" marL="0">
              <a:buNone/>
            </a:pPr>
            <a:r>
              <a:rPr lang="en-US" sz="1600" dirty="0">
                <a:solidFill>
                  <a:srgbClr val="C8960A"/>
                </a:solidFill>
                <a:latin typeface="Calibri" pitchFamily="34" charset="0"/>
                <a:ea typeface="Calibri" pitchFamily="34" charset="-122"/>
                <a:cs typeface="Calibri" pitchFamily="34" charset="-120"/>
              </a:rPr>
              <a:t>∞ · 3 · 6 · 9 · ∞</a:t>
            </a:r>
            <a:endParaRPr lang="en-US" sz="1600" dirty="0"/>
          </a:p>
        </p:txBody>
      </p:sp>
      <p:sp>
        <p:nvSpPr>
          <p:cNvPr id="5" name="Text 2"/>
          <p:cNvSpPr/>
          <p:nvPr/>
        </p:nvSpPr>
        <p:spPr>
          <a:xfrm>
            <a:off x="1737360" y="3108960"/>
            <a:ext cx="8686800" cy="914400"/>
          </a:xfrm>
          <a:prstGeom prst="rect">
            <a:avLst/>
          </a:prstGeom>
          <a:noFill/>
          <a:ln/>
        </p:spPr>
        <p:txBody>
          <a:bodyPr wrap="square" lIns="0" tIns="0" rIns="0" bIns="0" rtlCol="0" anchor="ctr"/>
          <a:lstStyle/>
          <a:p>
            <a:pPr algn="ctr" indent="0" marL="0">
              <a:lnSpc>
                <a:spcPct val="130000"/>
              </a:lnSpc>
              <a:buNone/>
            </a:pPr>
            <a:r>
              <a:rPr lang="en-US" sz="1400" i="1" dirty="0">
                <a:solidFill>
                  <a:srgbClr val="9B8A6B"/>
                </a:solidFill>
                <a:latin typeface="Cambria" pitchFamily="34" charset="0"/>
                <a:ea typeface="Cambria" pitchFamily="34" charset="-122"/>
                <a:cs typeface="Cambria" pitchFamily="34" charset="-120"/>
              </a:rPr>
              <a:t>Stay honest when no one is watching. Protect the people who trust you.</a:t>
            </a:r>
            <a:endParaRPr lang="en-US" sz="1400" dirty="0"/>
          </a:p>
          <a:p>
            <a:pPr algn="ctr" indent="0" marL="0">
              <a:lnSpc>
                <a:spcPct val="130000"/>
              </a:lnSpc>
              <a:buNone/>
            </a:pPr>
            <a:r>
              <a:rPr lang="en-US" sz="1400" i="1" dirty="0">
                <a:solidFill>
                  <a:srgbClr val="9B8A6B"/>
                </a:solidFill>
                <a:latin typeface="Cambria" pitchFamily="34" charset="0"/>
                <a:ea typeface="Cambria" pitchFamily="34" charset="-122"/>
                <a:cs typeface="Cambria" pitchFamily="34" charset="-120"/>
              </a:rPr>
              <a:t>Add value before you take any. Reward the builders, not the hoarders. Keep the books open, always.</a:t>
            </a:r>
            <a:endParaRPr lang="en-US" sz="1400" dirty="0"/>
          </a:p>
        </p:txBody>
      </p:sp>
      <p:sp>
        <p:nvSpPr>
          <p:cNvPr id="6" name="Text 3"/>
          <p:cNvSpPr/>
          <p:nvPr/>
        </p:nvSpPr>
        <p:spPr>
          <a:xfrm>
            <a:off x="640080" y="4251960"/>
            <a:ext cx="10881360" cy="320040"/>
          </a:xfrm>
          <a:prstGeom prst="rect">
            <a:avLst/>
          </a:prstGeom>
          <a:noFill/>
          <a:ln/>
        </p:spPr>
        <p:txBody>
          <a:bodyPr wrap="square" lIns="0" tIns="0" rIns="0" bIns="0" rtlCol="0" anchor="ctr"/>
          <a:lstStyle/>
          <a:p>
            <a:pPr algn="ctr" indent="0" marL="0">
              <a:buNone/>
            </a:pPr>
            <a:r>
              <a:rPr lang="en-US" sz="1300" dirty="0">
                <a:solidFill>
                  <a:srgbClr val="FBF4E2"/>
                </a:solidFill>
                <a:latin typeface="Calibri" pitchFamily="34" charset="0"/>
                <a:ea typeface="Calibri" pitchFamily="34" charset="-122"/>
                <a:cs typeface="Calibri" pitchFamily="34" charset="-120"/>
              </a:rPr>
              <a:t>zapp369.energy   ·   zapp369.com   ·   t.me/ZAPP369   ·   @ZAPPonSOL</a:t>
            </a:r>
            <a:endParaRPr lang="en-US" sz="1300" dirty="0"/>
          </a:p>
        </p:txBody>
      </p:sp>
      <p:sp>
        <p:nvSpPr>
          <p:cNvPr id="7" name="Text 4"/>
          <p:cNvSpPr/>
          <p:nvPr/>
        </p:nvSpPr>
        <p:spPr>
          <a:xfrm>
            <a:off x="640080" y="4617720"/>
            <a:ext cx="10881360" cy="274320"/>
          </a:xfrm>
          <a:prstGeom prst="rect">
            <a:avLst/>
          </a:prstGeom>
          <a:noFill/>
          <a:ln/>
        </p:spPr>
        <p:txBody>
          <a:bodyPr wrap="square" lIns="0" tIns="0" rIns="0" bIns="0" rtlCol="0" anchor="ctr"/>
          <a:lstStyle/>
          <a:p>
            <a:pPr algn="ctr" indent="0" marL="0">
              <a:buNone/>
            </a:pPr>
            <a:r>
              <a:rPr lang="en-US" sz="1000" dirty="0">
                <a:solidFill>
                  <a:srgbClr val="9B8A6B"/>
                </a:solidFill>
                <a:latin typeface="Courier New" pitchFamily="34" charset="0"/>
                <a:ea typeface="Courier New" pitchFamily="34" charset="-122"/>
                <a:cs typeface="Courier New" pitchFamily="34" charset="-120"/>
              </a:rPr>
              <a:t>Ab16ce5SDbibTbXevxHLpqUnUvu9tNkkpaJcSDvCpump</a:t>
            </a:r>
            <a:endParaRPr lang="en-US" sz="1000" dirty="0"/>
          </a:p>
        </p:txBody>
      </p:sp>
      <p:sp>
        <p:nvSpPr>
          <p:cNvPr id="8" name="Text 5"/>
          <p:cNvSpPr/>
          <p:nvPr/>
        </p:nvSpPr>
        <p:spPr>
          <a:xfrm>
            <a:off x="1188720" y="5257800"/>
            <a:ext cx="9784080" cy="1005840"/>
          </a:xfrm>
          <a:prstGeom prst="rect">
            <a:avLst/>
          </a:prstGeom>
          <a:noFill/>
          <a:ln/>
        </p:spPr>
        <p:txBody>
          <a:bodyPr wrap="square" lIns="0" tIns="0" rIns="0" bIns="0" rtlCol="0" anchor="ctr"/>
          <a:lstStyle/>
          <a:p>
            <a:pPr algn="ctr" indent="0" marL="0">
              <a:lnSpc>
                <a:spcPct val="125000"/>
              </a:lnSpc>
              <a:buNone/>
            </a:pPr>
            <a:r>
              <a:rPr lang="en-US" sz="1000" dirty="0">
                <a:solidFill>
                  <a:srgbClr val="9B8A6B"/>
                </a:solidFill>
                <a:latin typeface="Calibri" pitchFamily="34" charset="0"/>
                <a:ea typeface="Calibri" pitchFamily="34" charset="-122"/>
                <a:cs typeface="Calibri" pitchFamily="34" charset="-120"/>
              </a:rPr>
              <a:t>⚡ZAPP is a community brand and a meme coin, for entertainment purposes only. Nothing in this deck is financial, investment, legal or tax advice, and nothing here is a promise that any token will rise in value. Figures marked illustrative are examples of how the maths behaves under the inputs shown, not forecasts. Any figure about past performance is history, not a prediction.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ZAPP - Tesla's Revolution</dc:title>
  <dc:subject>PptxGenJS Presentation</dc:subject>
  <dc:creator>Radam DiBabel</dc:creator>
  <cp:lastModifiedBy>Radam DiBabel</cp:lastModifiedBy>
  <cp:revision>1</cp:revision>
  <dcterms:created xsi:type="dcterms:W3CDTF">2026-08-21T18:08:17Z</dcterms:created>
  <dcterms:modified xsi:type="dcterms:W3CDTF">2026-08-21T18:08:17Z</dcterms:modified>
</cp:coreProperties>
</file>