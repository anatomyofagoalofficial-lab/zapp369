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BF4E2"/>
                </a:solidFill>
                <a:latin typeface="Cambria"/>
              </a:defRPr>
            </a:pPr>
            <a:r>
              <a:rPr sz="1400" b="0" i="0" u="none" strike="noStrike">
                <a:solidFill>
                  <a:srgbClr val="FBF4E2"/>
                </a:solidFill>
                <a:latin typeface="Cambria"/>
              </a:rPr>
              <a:t>The floor, built from real revenue</a:t>
            </a:r>
          </a:p>
        </c:rich>
      </c:tx>
      <c:layout/>
      <c:overlay val="0"/>
    </c:title>
    <c:autoTitleDeleted val="0"/>
    <c:plotArea>
      <c:layout/>
      <c:lineChart>
        <c:varyColors val="0"/>
        <c:ser>
          <c:idx val="0"/>
          <c:order val="0"/>
          <c:tx>
            <c:strRef>
              <c:f>Sheet1!$B$1</c:f>
              <c:strCache>
                <c:ptCount val="1"/>
                <c:pt idx="0">
                  <c:v>Value behind one coin</c:v>
                </c:pt>
              </c:strCache>
            </c:strRef>
          </c:tx>
          <c:spPr>
            <a:solidFill>
              <a:srgbClr val="C8960A"/>
            </a:solidFill>
            <a:ln w="38100" cap="flat">
              <a:solidFill>
                <a:srgbClr val="C8960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8960A"/>
              </a:solidFill>
              <a:ln w="9525" cap="flat">
                <a:solidFill>
                  <a:srgbClr val="C8960A"/>
                </a:solidFill>
                <a:prstDash val="solid"/>
                <a:round/>
              </a:ln>
              <a:effectLst/>
            </c:spPr>
          </c:marker>
          <c:cat>
            <c:multiLvlStrRef>
              <c:f>Sheet1!$A$2:$A$5</c:f>
              <c:multiLvlStrCache>
                <c:ptCount val="4"/>
                <c:lvl>
                  <c:pt idx="0">
                    <c:v>Today</c:v>
                  </c:pt>
                  <c:pt idx="1">
                    <c:v>Month 6</c:v>
                  </c:pt>
                  <c:pt idx="2">
                    <c:v>Month 12</c:v>
                  </c:pt>
                  <c:pt idx="3">
                    <c:v>Month 24</c:v>
                  </c:pt>
                </c:lvl>
              </c:multiLvlStrCache>
            </c:multiLvlStrRef>
          </c:cat>
          <c:val>
            <c:numRef>
              <c:f>Sheet1!$B$2:$B$5</c:f>
              <c:numCache>
                <c:formatCode>General</c:formatCode>
                <c:ptCount val="4"/>
                <c:pt idx="0">
                  <c:v>0</c:v>
                </c:pt>
                <c:pt idx="1">
                  <c:v>0.0000074</c:v>
                </c:pt>
                <c:pt idx="2">
                  <c:v>0.0000152</c:v>
                </c:pt>
                <c:pt idx="3">
                  <c:v>0.0000322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B8A6B"/>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3A2C1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B8A6B"/>
                </a:solidFill>
                <a:latin typeface="Calibri"/>
              </a:defRPr>
            </a:pPr>
            <a:endParaRPr lang="en-US"/>
          </a:p>
        </c:txPr>
        <c:crossAx val="2094734554"/>
        <c:crosses val="autoZero"/>
        <c:crossBetween val="between"/>
      </c:valAx>
      <c:spPr>
        <a:solidFill>
          <a:srgbClr val="17110A"/>
        </a:solidFill>
        <a:ln>
          <a:noFill/>
        </a:ln>
        <a:effectLst/>
      </c:spPr>
    </c:plotArea>
    <c:plotVisOnly val="1"/>
    <c:dispBlanksAs val="span"/>
  </c:chart>
  <c:spPr>
    <a:solidFill>
      <a:srgbClr val="17110A"/>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mission, never on the token. The token is how we fund it, not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room came for. Slow down. The store and the token both exist to pay for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ZAPP from a meme coin. Ten surfaces, most already shipped, built by one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these three are not live yet. Locking and staking in particular must wait for legal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early and without flinching. Anyone doing diligence finds the chart. Being first to tell them is worth more than the cap you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examples of how the maths behaves under the stated inputs. Not a forecast and not a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 percent to people is what stops this being a Ponzi. Say it plainly, an angel will be listening for exactly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Do not accept money for tokens before a lawyer has confirmed the structure in writing. In the EU that is very likely a securities offering and the liability is personal. Equity in the company achieves the same raise with none of that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10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394960" y="960120"/>
            <a:ext cx="1371600" cy="1371600"/>
          </a:xfrm>
          <a:prstGeom prst="rect">
            <a:avLst/>
          </a:prstGeom>
        </p:spPr>
      </p:pic>
      <p:sp>
        <p:nvSpPr>
          <p:cNvPr id="3" name="Text 0"/>
          <p:cNvSpPr/>
          <p:nvPr/>
        </p:nvSpPr>
        <p:spPr>
          <a:xfrm>
            <a:off x="640080" y="2560320"/>
            <a:ext cx="10881360" cy="1005840"/>
          </a:xfrm>
          <a:prstGeom prst="rect">
            <a:avLst/>
          </a:prstGeom>
          <a:noFill/>
          <a:ln/>
        </p:spPr>
        <p:txBody>
          <a:bodyPr wrap="square" lIns="0" tIns="0" rIns="0" bIns="0" rtlCol="0" anchor="ctr"/>
          <a:lstStyle/>
          <a:p>
            <a:pPr algn="ctr" indent="0" marL="0">
              <a:buNone/>
            </a:pPr>
            <a:r>
              <a:rPr lang="en-US" sz="6000" b="1" dirty="0">
                <a:solidFill>
                  <a:srgbClr val="FBF4E2"/>
                </a:solidFill>
                <a:latin typeface="Cambria" pitchFamily="34" charset="0"/>
                <a:ea typeface="Cambria" pitchFamily="34" charset="-122"/>
                <a:cs typeface="Cambria" pitchFamily="34" charset="-120"/>
              </a:rPr>
              <a:t>⚡ZAPP</a:t>
            </a:r>
            <a:endParaRPr lang="en-US" sz="6000" dirty="0"/>
          </a:p>
        </p:txBody>
      </p:sp>
      <p:sp>
        <p:nvSpPr>
          <p:cNvPr id="4" name="Text 1"/>
          <p:cNvSpPr/>
          <p:nvPr/>
        </p:nvSpPr>
        <p:spPr>
          <a:xfrm>
            <a:off x="640080" y="3611880"/>
            <a:ext cx="10881360" cy="457200"/>
          </a:xfrm>
          <a:prstGeom prst="rect">
            <a:avLst/>
          </a:prstGeom>
          <a:noFill/>
          <a:ln/>
        </p:spPr>
        <p:txBody>
          <a:bodyPr wrap="square" lIns="0" tIns="0" rIns="0" bIns="0" rtlCol="0" anchor="ctr"/>
          <a:lstStyle/>
          <a:p>
            <a:pPr algn="ctr" indent="0" marL="0">
              <a:buNone/>
            </a:pPr>
            <a:r>
              <a:rPr lang="en-US" sz="2400" dirty="0">
                <a:solidFill>
                  <a:srgbClr val="C8960A"/>
                </a:solidFill>
                <a:latin typeface="Cambria" pitchFamily="34" charset="0"/>
                <a:ea typeface="Cambria" pitchFamily="34" charset="-122"/>
                <a:cs typeface="Cambria" pitchFamily="34" charset="-120"/>
              </a:rPr>
              <a:t>Free Energy = Free Money  ∞</a:t>
            </a:r>
            <a:endParaRPr lang="en-US" sz="2400" dirty="0"/>
          </a:p>
        </p:txBody>
      </p:sp>
      <p:sp>
        <p:nvSpPr>
          <p:cNvPr id="5" name="Text 2"/>
          <p:cNvSpPr/>
          <p:nvPr/>
        </p:nvSpPr>
        <p:spPr>
          <a:xfrm>
            <a:off x="2194560" y="4160520"/>
            <a:ext cx="7772400" cy="822960"/>
          </a:xfrm>
          <a:prstGeom prst="rect">
            <a:avLst/>
          </a:prstGeom>
          <a:noFill/>
          <a:ln/>
        </p:spPr>
        <p:txBody>
          <a:bodyPr wrap="square" lIns="0" tIns="0" rIns="0" bIns="0" rtlCol="0" anchor="ctr"/>
          <a:lstStyle/>
          <a:p>
            <a:pPr algn="ctr" indent="0" marL="0">
              <a:lnSpc>
                <a:spcPct val="130000"/>
              </a:lnSpc>
              <a:buNone/>
            </a:pPr>
            <a:r>
              <a:rPr lang="en-US" sz="1500" dirty="0">
                <a:solidFill>
                  <a:srgbClr val="9B8A6B"/>
                </a:solidFill>
                <a:latin typeface="Calibri" pitchFamily="34" charset="0"/>
                <a:ea typeface="Calibri" pitchFamily="34" charset="-122"/>
                <a:cs typeface="Calibri" pitchFamily="34" charset="-120"/>
              </a:rPr>
              <a:t>Tesla wanted to give the world free energy.</a:t>
            </a:r>
            <a:endParaRPr lang="en-US" sz="1500" dirty="0"/>
          </a:p>
          <a:p>
            <a:pPr algn="ctr" indent="0" marL="0">
              <a:lnSpc>
                <a:spcPct val="130000"/>
              </a:lnSpc>
              <a:buNone/>
            </a:pPr>
            <a:r>
              <a:rPr lang="en-US" sz="1500" dirty="0">
                <a:solidFill>
                  <a:srgbClr val="9B8A6B"/>
                </a:solidFill>
                <a:latin typeface="Calibri" pitchFamily="34" charset="0"/>
                <a:ea typeface="Calibri" pitchFamily="34" charset="-122"/>
                <a:cs typeface="Calibri" pitchFamily="34" charset="-120"/>
              </a:rPr>
              <a:t>We are building the thing he never got to finish.</a:t>
            </a:r>
            <a:endParaRPr lang="en-US" sz="1500" dirty="0"/>
          </a:p>
        </p:txBody>
      </p:sp>
      <p:sp>
        <p:nvSpPr>
          <p:cNvPr id="6" name="Text 3"/>
          <p:cNvSpPr/>
          <p:nvPr/>
        </p:nvSpPr>
        <p:spPr>
          <a:xfrm>
            <a:off x="640080" y="5715000"/>
            <a:ext cx="10881360" cy="320040"/>
          </a:xfrm>
          <a:prstGeom prst="rect">
            <a:avLst/>
          </a:prstGeom>
          <a:noFill/>
          <a:ln/>
        </p:spPr>
        <p:txBody>
          <a:bodyPr wrap="square" lIns="0" tIns="0" rIns="0" bIns="0" rtlCol="0" anchor="ctr"/>
          <a:lstStyle/>
          <a:p>
            <a:pPr algn="ctr" indent="0" marL="0">
              <a:buNone/>
            </a:pPr>
            <a:r>
              <a:rPr lang="en-US" sz="1300" dirty="0">
                <a:solidFill>
                  <a:srgbClr val="FBF4E2"/>
                </a:solidFill>
                <a:latin typeface="Calibri" pitchFamily="34" charset="0"/>
                <a:ea typeface="Calibri" pitchFamily="34" charset="-122"/>
                <a:cs typeface="Calibri" pitchFamily="34" charset="-120"/>
              </a:rPr>
              <a:t>zapp369.energy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ONE IDEA</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Money is energy. Energy travels at the speed of light.</a:t>
            </a:r>
            <a:endParaRPr lang="en-US" sz="3400" dirty="0"/>
          </a:p>
        </p:txBody>
      </p:sp>
      <p:sp>
        <p:nvSpPr>
          <p:cNvPr id="4" name="Text 2"/>
          <p:cNvSpPr/>
          <p:nvPr/>
        </p:nvSpPr>
        <p:spPr>
          <a:xfrm>
            <a:off x="640080" y="1691640"/>
            <a:ext cx="6675120" cy="411480"/>
          </a:xfrm>
          <a:prstGeom prst="rect">
            <a:avLst/>
          </a:prstGeom>
          <a:noFill/>
          <a:ln/>
        </p:spPr>
        <p:txBody>
          <a:bodyPr wrap="square" lIns="0" tIns="0" rIns="0" bIns="0" rtlCol="0" anchor="ctr"/>
          <a:lstStyle/>
          <a:p>
            <a:pPr indent="0" marL="0">
              <a:buNone/>
            </a:pPr>
            <a:r>
              <a:rPr lang="en-US" sz="1600" dirty="0">
                <a:solidFill>
                  <a:srgbClr val="FBF4E2"/>
                </a:solidFill>
                <a:latin typeface="Calibri" pitchFamily="34" charset="0"/>
                <a:ea typeface="Calibri" pitchFamily="34" charset="-122"/>
                <a:cs typeface="Calibri" pitchFamily="34" charset="-120"/>
              </a:rPr>
              <a:t>So why does it still take days to reach Africa, Asia, the Americas?</a:t>
            </a:r>
            <a:endParaRPr lang="en-US" sz="1600" dirty="0"/>
          </a:p>
        </p:txBody>
      </p:sp>
      <p:sp>
        <p:nvSpPr>
          <p:cNvPr id="5" name="Text 3"/>
          <p:cNvSpPr/>
          <p:nvPr/>
        </p:nvSpPr>
        <p:spPr>
          <a:xfrm>
            <a:off x="640080" y="2286000"/>
            <a:ext cx="6675120" cy="219456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9B8A6B"/>
                </a:solidFill>
                <a:latin typeface="Calibri" pitchFamily="34" charset="0"/>
                <a:ea typeface="Calibri" pitchFamily="34" charset="-122"/>
                <a:cs typeface="Calibri" pitchFamily="34" charset="-120"/>
              </a:rPr>
              <a:t>Free energy should mean free money. No banks. No borders.</a:t>
            </a:r>
            <a:endParaRPr lang="en-US" sz="1350" dirty="0"/>
          </a:p>
          <a:p>
            <a:pPr marL="342900" indent="-342900">
              <a:spcAft>
                <a:spcPts val="1000"/>
              </a:spcAft>
              <a:buSzPct val="100000"/>
              <a:buChar char="•"/>
            </a:pPr>
            <a:r>
              <a:rPr lang="en-US" sz="1350" dirty="0">
                <a:solidFill>
                  <a:srgbClr val="9B8A6B"/>
                </a:solidFill>
                <a:latin typeface="Calibri" pitchFamily="34" charset="0"/>
                <a:ea typeface="Calibri" pitchFamily="34" charset="-122"/>
                <a:cs typeface="Calibri" pitchFamily="34" charset="-120"/>
              </a:rPr>
              <a:t>Zapped instantly to anyone, anywhere on Earth, for a fraction of a cent.</a:t>
            </a:r>
            <a:endParaRPr lang="en-US" sz="1350" dirty="0"/>
          </a:p>
          <a:p>
            <a:pPr marL="342900" indent="-342900">
              <a:spcAft>
                <a:spcPts val="1000"/>
              </a:spcAft>
              <a:buSzPct val="100000"/>
              <a:buChar char="•"/>
            </a:pPr>
            <a:r>
              <a:rPr lang="en-US" sz="1350" dirty="0">
                <a:solidFill>
                  <a:srgbClr val="9B8A6B"/>
                </a:solidFill>
                <a:latin typeface="Calibri" pitchFamily="34" charset="0"/>
                <a:ea typeface="Calibri" pitchFamily="34" charset="-122"/>
                <a:cs typeface="Calibri" pitchFamily="34" charset="-120"/>
              </a:rPr>
              <a:t>Tesla understood this a century ago. The code was always there.</a:t>
            </a:r>
            <a:endParaRPr lang="en-US" sz="1350" dirty="0"/>
          </a:p>
          <a:p>
            <a:pPr marL="342900" indent="-342900">
              <a:spcAft>
                <a:spcPts val="1000"/>
              </a:spcAft>
              <a:buSzPct val="100000"/>
              <a:buChar char="•"/>
            </a:pPr>
            <a:r>
              <a:rPr lang="en-US" sz="1350" dirty="0">
                <a:solidFill>
                  <a:srgbClr val="9B8A6B"/>
                </a:solidFill>
                <a:latin typeface="Calibri" pitchFamily="34" charset="0"/>
                <a:ea typeface="Calibri" pitchFamily="34" charset="-122"/>
                <a:cs typeface="Calibri" pitchFamily="34" charset="-120"/>
              </a:rPr>
              <a:t>People arrive for the meme. Underneath sits a real machine.</a:t>
            </a:r>
            <a:endParaRPr lang="en-US" sz="1350" dirty="0"/>
          </a:p>
        </p:txBody>
      </p:sp>
      <p:sp>
        <p:nvSpPr>
          <p:cNvPr id="6" name="Shape 4"/>
          <p:cNvSpPr/>
          <p:nvPr/>
        </p:nvSpPr>
        <p:spPr>
          <a:xfrm>
            <a:off x="7635240" y="1645920"/>
            <a:ext cx="3886200" cy="3291840"/>
          </a:xfrm>
          <a:prstGeom prst="roundRect">
            <a:avLst>
              <a:gd name="adj" fmla="val 2778"/>
            </a:avLst>
          </a:prstGeom>
          <a:solidFill>
            <a:srgbClr val="241A0E"/>
          </a:solidFill>
          <a:ln w="12700">
            <a:solidFill>
              <a:srgbClr val="3A2C18"/>
            </a:solidFill>
            <a:prstDash val="solid"/>
          </a:ln>
        </p:spPr>
      </p:sp>
      <p:sp>
        <p:nvSpPr>
          <p:cNvPr id="7" name="Shape 5"/>
          <p:cNvSpPr/>
          <p:nvPr/>
        </p:nvSpPr>
        <p:spPr>
          <a:xfrm>
            <a:off x="7872984" y="1883664"/>
            <a:ext cx="420624" cy="420624"/>
          </a:xfrm>
          <a:prstGeom prst="ellipse">
            <a:avLst/>
          </a:prstGeom>
          <a:solidFill>
            <a:srgbClr val="C8960A"/>
          </a:solidFill>
          <a:ln/>
        </p:spPr>
      </p:sp>
      <p:sp>
        <p:nvSpPr>
          <p:cNvPr id="8" name="Text 6"/>
          <p:cNvSpPr/>
          <p:nvPr/>
        </p:nvSpPr>
        <p:spPr>
          <a:xfrm>
            <a:off x="7872984" y="188366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01</a:t>
            </a:r>
            <a:endParaRPr lang="en-US" sz="1400" dirty="0"/>
          </a:p>
        </p:txBody>
      </p:sp>
      <p:sp>
        <p:nvSpPr>
          <p:cNvPr id="9" name="Text 7"/>
          <p:cNvSpPr/>
          <p:nvPr/>
        </p:nvSpPr>
        <p:spPr>
          <a:xfrm>
            <a:off x="7872984" y="2377440"/>
            <a:ext cx="341071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Not a guess</a:t>
            </a:r>
            <a:endParaRPr lang="en-US" sz="1500" dirty="0"/>
          </a:p>
        </p:txBody>
      </p:sp>
      <p:sp>
        <p:nvSpPr>
          <p:cNvPr id="10" name="Text 8"/>
          <p:cNvSpPr/>
          <p:nvPr/>
        </p:nvSpPr>
        <p:spPr>
          <a:xfrm>
            <a:off x="7872984" y="2779776"/>
            <a:ext cx="3410712" cy="193852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This grew out of a 2023 bachelor thesis, Digital Currencies, The New Wealth of International Organizations. It argued the real purpose of crypto is not overnight millionaires but modernising money and reaching the people banks never served.</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⚡ZAPP is that thesis with a heartbeat.</a:t>
            </a:r>
            <a:endParaRPr lang="en-US" sz="1150" dirty="0"/>
          </a:p>
        </p:txBody>
      </p:sp>
      <p:sp>
        <p:nvSpPr>
          <p:cNvPr id="11" name="Text 9"/>
          <p:cNvSpPr/>
          <p:nvPr/>
        </p:nvSpPr>
        <p:spPr>
          <a:xfrm>
            <a:off x="640080" y="5212080"/>
            <a:ext cx="10881360" cy="365760"/>
          </a:xfrm>
          <a:prstGeom prst="rect">
            <a:avLst/>
          </a:prstGeom>
          <a:noFill/>
          <a:ln/>
        </p:spPr>
        <p:txBody>
          <a:bodyPr wrap="square" lIns="0" tIns="0" rIns="0" bIns="0" rtlCol="0" anchor="ctr"/>
          <a:lstStyle/>
          <a:p>
            <a:pPr algn="ctr" indent="0" marL="0">
              <a:buNone/>
            </a:pPr>
            <a:r>
              <a:rPr lang="en-US" sz="1400" i="1" dirty="0">
                <a:solidFill>
                  <a:srgbClr val="C8960A"/>
                </a:solidFill>
                <a:latin typeface="Cambria" pitchFamily="34" charset="0"/>
                <a:ea typeface="Cambria" pitchFamily="34" charset="-122"/>
                <a:cs typeface="Cambria" pitchFamily="34" charset="-120"/>
              </a:rPr>
              <a:t>"If you knew the magnificence of 3, 6 and 9, you would have a key to the universe." — Nikola Tesla</a:t>
            </a:r>
            <a:endParaRPr lang="en-US" sz="1400" dirty="0"/>
          </a:p>
        </p:txBody>
      </p:sp>
      <p:sp>
        <p:nvSpPr>
          <p:cNvPr id="12" name="Text 10"/>
          <p:cNvSpPr/>
          <p:nvPr/>
        </p:nvSpPr>
        <p:spPr>
          <a:xfrm>
            <a:off x="640080" y="6382512"/>
            <a:ext cx="10881360" cy="274320"/>
          </a:xfrm>
          <a:prstGeom prst="rect">
            <a:avLst/>
          </a:prstGeom>
          <a:noFill/>
          <a:ln/>
        </p:spPr>
        <p:txBody>
          <a:bodyPr wrap="square" lIns="0" tIns="0" rIns="0" bIns="0" rtlCol="0" anchor="ctr"/>
          <a:lstStyle/>
          <a:p>
            <a:pPr algn="ctr" indent="0" marL="0">
              <a:buNone/>
            </a:pPr>
            <a:r>
              <a:rPr lang="en-US" sz="1000" dirty="0">
                <a:solidFill>
                  <a:srgbClr val="5E4C2E"/>
                </a:solidFill>
                <a:latin typeface="Calibri" pitchFamily="34" charset="0"/>
                <a:ea typeface="Calibri" pitchFamily="34" charset="-122"/>
                <a:cs typeface="Calibri" pitchFamily="34" charset="-120"/>
              </a:rPr>
              <a:t>3 · 6 · 9 · ∞</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DESTINATION</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Where this actually goes</a:t>
            </a:r>
            <a:endParaRPr lang="en-US" sz="3400" dirty="0"/>
          </a:p>
        </p:txBody>
      </p:sp>
      <p:sp>
        <p:nvSpPr>
          <p:cNvPr id="4" name="Text 2"/>
          <p:cNvSpPr/>
          <p:nvPr/>
        </p:nvSpPr>
        <p:spPr>
          <a:xfrm>
            <a:off x="640080" y="1554480"/>
            <a:ext cx="10881360" cy="548640"/>
          </a:xfrm>
          <a:prstGeom prst="rect">
            <a:avLst/>
          </a:prstGeom>
          <a:noFill/>
          <a:ln/>
        </p:spPr>
        <p:txBody>
          <a:bodyPr wrap="square" lIns="0" tIns="0" rIns="0" bIns="0" rtlCol="0" anchor="ctr"/>
          <a:lstStyle/>
          <a:p>
            <a:pPr indent="0" marL="0">
              <a:lnSpc>
                <a:spcPct val="120000"/>
              </a:lnSpc>
              <a:buNone/>
            </a:pPr>
            <a:r>
              <a:rPr lang="en-US" sz="1400" dirty="0">
                <a:solidFill>
                  <a:srgbClr val="FBF4E2"/>
                </a:solidFill>
                <a:latin typeface="Calibri" pitchFamily="34" charset="0"/>
                <a:ea typeface="Calibri" pitchFamily="34" charset="-122"/>
                <a:cs typeface="Calibri" pitchFamily="34" charset="-120"/>
              </a:rPr>
              <a:t>Tesla's Wardenclyffe tower was meant to give the world free energy. He ran out of money and it was torn down. That is the unfinished business ⚡ZAPP exists to pick up.</a:t>
            </a:r>
            <a:endParaRPr lang="en-US" sz="1400" dirty="0"/>
          </a:p>
        </p:txBody>
      </p:sp>
      <p:sp>
        <p:nvSpPr>
          <p:cNvPr id="5" name="Shape 3"/>
          <p:cNvSpPr/>
          <p:nvPr/>
        </p:nvSpPr>
        <p:spPr>
          <a:xfrm>
            <a:off x="640080" y="2286000"/>
            <a:ext cx="3520440" cy="3200400"/>
          </a:xfrm>
          <a:prstGeom prst="roundRect">
            <a:avLst>
              <a:gd name="adj" fmla="val 2857"/>
            </a:avLst>
          </a:prstGeom>
          <a:solidFill>
            <a:srgbClr val="241A0E"/>
          </a:solidFill>
          <a:ln w="12700">
            <a:solidFill>
              <a:srgbClr val="3A2C18"/>
            </a:solidFill>
            <a:prstDash val="solid"/>
          </a:ln>
        </p:spPr>
      </p:sp>
      <p:sp>
        <p:nvSpPr>
          <p:cNvPr id="6" name="Shape 4"/>
          <p:cNvSpPr/>
          <p:nvPr/>
        </p:nvSpPr>
        <p:spPr>
          <a:xfrm>
            <a:off x="877824" y="2523744"/>
            <a:ext cx="420624" cy="420624"/>
          </a:xfrm>
          <a:prstGeom prst="ellipse">
            <a:avLst/>
          </a:prstGeom>
          <a:solidFill>
            <a:srgbClr val="C8960A"/>
          </a:solidFill>
          <a:ln/>
        </p:spPr>
      </p:sp>
      <p:sp>
        <p:nvSpPr>
          <p:cNvPr id="7" name="Text 5"/>
          <p:cNvSpPr/>
          <p:nvPr/>
        </p:nvSpPr>
        <p:spPr>
          <a:xfrm>
            <a:off x="877824" y="252374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877824" y="3017520"/>
            <a:ext cx="3044952" cy="58521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Communities that make their own power</a:t>
            </a:r>
            <a:endParaRPr lang="en-US" sz="1500" dirty="0"/>
          </a:p>
        </p:txBody>
      </p:sp>
      <p:sp>
        <p:nvSpPr>
          <p:cNvPr id="9" name="Text 7"/>
          <p:cNvSpPr/>
          <p:nvPr/>
        </p:nvSpPr>
        <p:spPr>
          <a:xfrm>
            <a:off x="877824" y="3694176"/>
            <a:ext cx="3044952" cy="157276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Ecovillages running on sun and wind, generating more than they consume. Not a metaphor. Panels, turbines, storage, and a community that owns the lot.</a:t>
            </a:r>
            <a:endParaRPr lang="en-US" sz="1150" dirty="0"/>
          </a:p>
        </p:txBody>
      </p:sp>
      <p:sp>
        <p:nvSpPr>
          <p:cNvPr id="10" name="Shape 8"/>
          <p:cNvSpPr/>
          <p:nvPr/>
        </p:nvSpPr>
        <p:spPr>
          <a:xfrm>
            <a:off x="4343400" y="2286000"/>
            <a:ext cx="3520440" cy="3200400"/>
          </a:xfrm>
          <a:prstGeom prst="roundRect">
            <a:avLst>
              <a:gd name="adj" fmla="val 2857"/>
            </a:avLst>
          </a:prstGeom>
          <a:solidFill>
            <a:srgbClr val="241A0E"/>
          </a:solidFill>
          <a:ln w="12700">
            <a:solidFill>
              <a:srgbClr val="3A2C18"/>
            </a:solidFill>
            <a:prstDash val="solid"/>
          </a:ln>
        </p:spPr>
      </p:sp>
      <p:sp>
        <p:nvSpPr>
          <p:cNvPr id="11" name="Shape 9"/>
          <p:cNvSpPr/>
          <p:nvPr/>
        </p:nvSpPr>
        <p:spPr>
          <a:xfrm>
            <a:off x="4581144" y="2523744"/>
            <a:ext cx="420624" cy="420624"/>
          </a:xfrm>
          <a:prstGeom prst="ellipse">
            <a:avLst/>
          </a:prstGeom>
          <a:solidFill>
            <a:srgbClr val="C8960A"/>
          </a:solidFill>
          <a:ln/>
        </p:spPr>
      </p:sp>
      <p:sp>
        <p:nvSpPr>
          <p:cNvPr id="12" name="Text 10"/>
          <p:cNvSpPr/>
          <p:nvPr/>
        </p:nvSpPr>
        <p:spPr>
          <a:xfrm>
            <a:off x="4581144" y="252374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4581144" y="3017520"/>
            <a:ext cx="3044952" cy="58521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Funded by a treasury anyone can watch</a:t>
            </a:r>
            <a:endParaRPr lang="en-US" sz="1500" dirty="0"/>
          </a:p>
        </p:txBody>
      </p:sp>
      <p:sp>
        <p:nvSpPr>
          <p:cNvPr id="14" name="Text 12"/>
          <p:cNvSpPr/>
          <p:nvPr/>
        </p:nvSpPr>
        <p:spPr>
          <a:xfrm>
            <a:off x="4581144" y="3694176"/>
            <a:ext cx="3044952" cy="157276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Every euro that goes in and every euro that comes out, on chain and public. No committee, no closed books, no trust required.</a:t>
            </a:r>
            <a:endParaRPr lang="en-US" sz="1150" dirty="0"/>
          </a:p>
        </p:txBody>
      </p:sp>
      <p:sp>
        <p:nvSpPr>
          <p:cNvPr id="15" name="Shape 13"/>
          <p:cNvSpPr/>
          <p:nvPr/>
        </p:nvSpPr>
        <p:spPr>
          <a:xfrm>
            <a:off x="8046720" y="2286000"/>
            <a:ext cx="3474720" cy="3200400"/>
          </a:xfrm>
          <a:prstGeom prst="roundRect">
            <a:avLst>
              <a:gd name="adj" fmla="val 2857"/>
            </a:avLst>
          </a:prstGeom>
          <a:solidFill>
            <a:srgbClr val="241A0E"/>
          </a:solidFill>
          <a:ln w="12700">
            <a:solidFill>
              <a:srgbClr val="3A2C18"/>
            </a:solidFill>
            <a:prstDash val="solid"/>
          </a:ln>
        </p:spPr>
      </p:sp>
      <p:sp>
        <p:nvSpPr>
          <p:cNvPr id="16" name="Shape 14"/>
          <p:cNvSpPr/>
          <p:nvPr/>
        </p:nvSpPr>
        <p:spPr>
          <a:xfrm>
            <a:off x="8284464" y="2523744"/>
            <a:ext cx="420624" cy="420624"/>
          </a:xfrm>
          <a:prstGeom prst="ellipse">
            <a:avLst/>
          </a:prstGeom>
          <a:solidFill>
            <a:srgbClr val="C8960A"/>
          </a:solidFill>
          <a:ln/>
        </p:spPr>
      </p:sp>
      <p:sp>
        <p:nvSpPr>
          <p:cNvPr id="17" name="Text 15"/>
          <p:cNvSpPr/>
          <p:nvPr/>
        </p:nvSpPr>
        <p:spPr>
          <a:xfrm>
            <a:off x="8284464" y="252374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3</a:t>
            </a:r>
            <a:endParaRPr lang="en-US" sz="1400" dirty="0"/>
          </a:p>
        </p:txBody>
      </p:sp>
      <p:sp>
        <p:nvSpPr>
          <p:cNvPr id="18" name="Text 16"/>
          <p:cNvSpPr/>
          <p:nvPr/>
        </p:nvSpPr>
        <p:spPr>
          <a:xfrm>
            <a:off x="8284464" y="3017520"/>
            <a:ext cx="299923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Proven before it is scaled</a:t>
            </a:r>
            <a:endParaRPr lang="en-US" sz="1500" dirty="0"/>
          </a:p>
        </p:txBody>
      </p:sp>
      <p:sp>
        <p:nvSpPr>
          <p:cNvPr id="19" name="Text 17"/>
          <p:cNvSpPr/>
          <p:nvPr/>
        </p:nvSpPr>
        <p:spPr>
          <a:xfrm>
            <a:off x="8284464" y="3419856"/>
            <a:ext cx="2999232" cy="184708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One site first, fully documented, audited in the open. If it works it repeats. If it does not, everyone sees why.</a:t>
            </a:r>
            <a:endParaRPr lang="en-US" sz="1150" dirty="0"/>
          </a:p>
        </p:txBody>
      </p:sp>
      <p:sp>
        <p:nvSpPr>
          <p:cNvPr id="20" name="Text 18"/>
          <p:cNvSpPr/>
          <p:nvPr/>
        </p:nvSpPr>
        <p:spPr>
          <a:xfrm>
            <a:off x="640080" y="5715000"/>
            <a:ext cx="10881360" cy="457200"/>
          </a:xfrm>
          <a:prstGeom prst="rect">
            <a:avLst/>
          </a:prstGeom>
          <a:noFill/>
          <a:ln/>
        </p:spPr>
        <p:txBody>
          <a:bodyPr wrap="square" lIns="0" tIns="0" rIns="0" bIns="0" rtlCol="0" anchor="ctr"/>
          <a:lstStyle/>
          <a:p>
            <a:pPr algn="ctr" indent="0" marL="0">
              <a:buNone/>
            </a:pPr>
            <a:r>
              <a:rPr lang="en-US" sz="1500" i="1" dirty="0">
                <a:solidFill>
                  <a:srgbClr val="C8960A"/>
                </a:solidFill>
                <a:latin typeface="Cambria" pitchFamily="34" charset="0"/>
                <a:ea typeface="Cambria" pitchFamily="34" charset="-122"/>
                <a:cs typeface="Cambria" pitchFamily="34" charset="-120"/>
              </a:rPr>
              <a:t>Free energy is not a slogan here. It is a physical thing we intend to build, with sunlight and wind, for people who currently pay someone else for both.</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EVIDENCE</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Why this is possible now</a:t>
            </a:r>
            <a:endParaRPr lang="en-US" sz="3400" dirty="0"/>
          </a:p>
        </p:txBody>
      </p:sp>
      <p:sp>
        <p:nvSpPr>
          <p:cNvPr id="4" name="Text 2"/>
          <p:cNvSpPr/>
          <p:nvPr/>
        </p:nvSpPr>
        <p:spPr>
          <a:xfrm>
            <a:off x="640080" y="1536192"/>
            <a:ext cx="10881360" cy="365760"/>
          </a:xfrm>
          <a:prstGeom prst="rect">
            <a:avLst/>
          </a:prstGeom>
          <a:noFill/>
          <a:ln/>
        </p:spPr>
        <p:txBody>
          <a:bodyPr wrap="square" lIns="0" tIns="0" rIns="0" bIns="0" rtlCol="0" anchor="ctr"/>
          <a:lstStyle/>
          <a:p>
            <a:pPr indent="0" marL="0">
              <a:buNone/>
            </a:pPr>
            <a:r>
              <a:rPr lang="en-US" sz="1350" dirty="0">
                <a:solidFill>
                  <a:srgbClr val="9B8A6B"/>
                </a:solidFill>
                <a:latin typeface="Calibri" pitchFamily="34" charset="0"/>
                <a:ea typeface="Calibri" pitchFamily="34" charset="-122"/>
                <a:cs typeface="Calibri" pitchFamily="34" charset="-120"/>
              </a:rPr>
              <a:t>None of this needed to be invented. The need is documented, the technology is deployed, and the cost curve has already turned.</a:t>
            </a:r>
            <a:endParaRPr lang="en-US" sz="1350" dirty="0"/>
          </a:p>
        </p:txBody>
      </p:sp>
      <p:sp>
        <p:nvSpPr>
          <p:cNvPr id="5" name="Shape 3"/>
          <p:cNvSpPr/>
          <p:nvPr/>
        </p:nvSpPr>
        <p:spPr>
          <a:xfrm>
            <a:off x="640080" y="2103120"/>
            <a:ext cx="2583180" cy="1371600"/>
          </a:xfrm>
          <a:prstGeom prst="roundRect">
            <a:avLst>
              <a:gd name="adj" fmla="val 6667"/>
            </a:avLst>
          </a:prstGeom>
          <a:solidFill>
            <a:srgbClr val="241A0E"/>
          </a:solidFill>
          <a:ln w="12700">
            <a:solidFill>
              <a:srgbClr val="3A2C18"/>
            </a:solidFill>
            <a:prstDash val="solid"/>
          </a:ln>
        </p:spPr>
      </p:sp>
      <p:sp>
        <p:nvSpPr>
          <p:cNvPr id="6" name="Text 4"/>
          <p:cNvSpPr/>
          <p:nvPr/>
        </p:nvSpPr>
        <p:spPr>
          <a:xfrm>
            <a:off x="640080" y="22677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1.3B</a:t>
            </a:r>
            <a:endParaRPr lang="en-US" sz="3000" dirty="0"/>
          </a:p>
        </p:txBody>
      </p:sp>
      <p:sp>
        <p:nvSpPr>
          <p:cNvPr id="7" name="Text 5"/>
          <p:cNvSpPr/>
          <p:nvPr/>
        </p:nvSpPr>
        <p:spPr>
          <a:xfrm>
            <a:off x="749808" y="29443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adults still have no bank</a:t>
            </a:r>
            <a:endParaRPr lang="en-US" sz="1100" dirty="0"/>
          </a:p>
        </p:txBody>
      </p:sp>
      <p:sp>
        <p:nvSpPr>
          <p:cNvPr id="8" name="Shape 6"/>
          <p:cNvSpPr/>
          <p:nvPr/>
        </p:nvSpPr>
        <p:spPr>
          <a:xfrm>
            <a:off x="3406140" y="2103120"/>
            <a:ext cx="2583180" cy="1371600"/>
          </a:xfrm>
          <a:prstGeom prst="roundRect">
            <a:avLst>
              <a:gd name="adj" fmla="val 6667"/>
            </a:avLst>
          </a:prstGeom>
          <a:solidFill>
            <a:srgbClr val="241A0E"/>
          </a:solidFill>
          <a:ln w="12700">
            <a:solidFill>
              <a:srgbClr val="3A2C18"/>
            </a:solidFill>
            <a:prstDash val="solid"/>
          </a:ln>
        </p:spPr>
      </p:sp>
      <p:sp>
        <p:nvSpPr>
          <p:cNvPr id="9" name="Text 7"/>
          <p:cNvSpPr/>
          <p:nvPr/>
        </p:nvSpPr>
        <p:spPr>
          <a:xfrm>
            <a:off x="3406140" y="22677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$760M+</a:t>
            </a:r>
            <a:endParaRPr lang="en-US" sz="3000" dirty="0"/>
          </a:p>
        </p:txBody>
      </p:sp>
      <p:sp>
        <p:nvSpPr>
          <p:cNvPr id="10" name="Text 8"/>
          <p:cNvSpPr/>
          <p:nvPr/>
        </p:nvSpPr>
        <p:spPr>
          <a:xfrm>
            <a:off x="3515868" y="29443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aid already sent on chain</a:t>
            </a:r>
            <a:endParaRPr lang="en-US" sz="1100" dirty="0"/>
          </a:p>
        </p:txBody>
      </p:sp>
      <p:sp>
        <p:nvSpPr>
          <p:cNvPr id="11" name="Shape 9"/>
          <p:cNvSpPr/>
          <p:nvPr/>
        </p:nvSpPr>
        <p:spPr>
          <a:xfrm>
            <a:off x="6172200" y="2103120"/>
            <a:ext cx="2583180" cy="1371600"/>
          </a:xfrm>
          <a:prstGeom prst="roundRect">
            <a:avLst>
              <a:gd name="adj" fmla="val 6667"/>
            </a:avLst>
          </a:prstGeom>
          <a:solidFill>
            <a:srgbClr val="241A0E"/>
          </a:solidFill>
          <a:ln w="12700">
            <a:solidFill>
              <a:srgbClr val="3A2C18"/>
            </a:solidFill>
            <a:prstDash val="solid"/>
          </a:ln>
        </p:spPr>
      </p:sp>
      <p:sp>
        <p:nvSpPr>
          <p:cNvPr id="12" name="Text 10"/>
          <p:cNvSpPr/>
          <p:nvPr/>
        </p:nvSpPr>
        <p:spPr>
          <a:xfrm>
            <a:off x="6172200" y="22677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6M</a:t>
            </a:r>
            <a:endParaRPr lang="en-US" sz="3000" dirty="0"/>
          </a:p>
        </p:txBody>
      </p:sp>
      <p:sp>
        <p:nvSpPr>
          <p:cNvPr id="13" name="Text 11"/>
          <p:cNvSpPr/>
          <p:nvPr/>
        </p:nvSpPr>
        <p:spPr>
          <a:xfrm>
            <a:off x="6281928" y="29443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people already helped</a:t>
            </a:r>
            <a:endParaRPr lang="en-US" sz="1100" dirty="0"/>
          </a:p>
        </p:txBody>
      </p:sp>
      <p:sp>
        <p:nvSpPr>
          <p:cNvPr id="14" name="Shape 12"/>
          <p:cNvSpPr/>
          <p:nvPr/>
        </p:nvSpPr>
        <p:spPr>
          <a:xfrm>
            <a:off x="8938260" y="2103120"/>
            <a:ext cx="2583180" cy="1371600"/>
          </a:xfrm>
          <a:prstGeom prst="roundRect">
            <a:avLst>
              <a:gd name="adj" fmla="val 6667"/>
            </a:avLst>
          </a:prstGeom>
          <a:solidFill>
            <a:srgbClr val="241A0E"/>
          </a:solidFill>
          <a:ln w="12700">
            <a:solidFill>
              <a:srgbClr val="3A2C18"/>
            </a:solidFill>
            <a:prstDash val="solid"/>
          </a:ln>
        </p:spPr>
      </p:sp>
      <p:sp>
        <p:nvSpPr>
          <p:cNvPr id="15" name="Text 13"/>
          <p:cNvSpPr/>
          <p:nvPr/>
        </p:nvSpPr>
        <p:spPr>
          <a:xfrm>
            <a:off x="8938260" y="22677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$16T</a:t>
            </a:r>
            <a:endParaRPr lang="en-US" sz="3000" dirty="0"/>
          </a:p>
        </p:txBody>
      </p:sp>
      <p:sp>
        <p:nvSpPr>
          <p:cNvPr id="16" name="Text 14"/>
          <p:cNvSpPr/>
          <p:nvPr/>
        </p:nvSpPr>
        <p:spPr>
          <a:xfrm>
            <a:off x="9047988" y="29443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assets on chain by 2030</a:t>
            </a:r>
            <a:endParaRPr lang="en-US" sz="1100" dirty="0"/>
          </a:p>
        </p:txBody>
      </p:sp>
      <p:sp>
        <p:nvSpPr>
          <p:cNvPr id="17" name="Shape 15"/>
          <p:cNvSpPr/>
          <p:nvPr/>
        </p:nvSpPr>
        <p:spPr>
          <a:xfrm>
            <a:off x="640080" y="3703320"/>
            <a:ext cx="5349240" cy="2057400"/>
          </a:xfrm>
          <a:prstGeom prst="roundRect">
            <a:avLst>
              <a:gd name="adj" fmla="val 4444"/>
            </a:avLst>
          </a:prstGeom>
          <a:solidFill>
            <a:srgbClr val="241A0E"/>
          </a:solidFill>
          <a:ln w="12700">
            <a:solidFill>
              <a:srgbClr val="3A2C18"/>
            </a:solidFill>
            <a:prstDash val="solid"/>
          </a:ln>
        </p:spPr>
      </p:sp>
      <p:sp>
        <p:nvSpPr>
          <p:cNvPr id="18" name="Text 16"/>
          <p:cNvSpPr/>
          <p:nvPr/>
        </p:nvSpPr>
        <p:spPr>
          <a:xfrm>
            <a:off x="877824" y="3922776"/>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energy side has already turned</a:t>
            </a:r>
            <a:endParaRPr lang="en-US" sz="1500" dirty="0"/>
          </a:p>
        </p:txBody>
      </p:sp>
      <p:sp>
        <p:nvSpPr>
          <p:cNvPr id="19" name="Text 17"/>
          <p:cNvSpPr/>
          <p:nvPr/>
        </p:nvSpPr>
        <p:spPr>
          <a:xfrm>
            <a:off x="877824" y="4325112"/>
            <a:ext cx="4873752" cy="121615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Spain plans to pass 76 GW of solar by 2030 and already has roughly 31 GW of wind, which has given it some of the cheapest power in Europe. Off grid solar and wind hybrid systems are projected to fall a further 30 to 55 percent in cost by 2030.</a:t>
            </a:r>
            <a:endParaRPr lang="en-US" sz="1150" dirty="0"/>
          </a:p>
        </p:txBody>
      </p:sp>
      <p:sp>
        <p:nvSpPr>
          <p:cNvPr id="20" name="Shape 18"/>
          <p:cNvSpPr/>
          <p:nvPr/>
        </p:nvSpPr>
        <p:spPr>
          <a:xfrm>
            <a:off x="6172200" y="3703320"/>
            <a:ext cx="5349240" cy="2057400"/>
          </a:xfrm>
          <a:prstGeom prst="roundRect">
            <a:avLst>
              <a:gd name="adj" fmla="val 4444"/>
            </a:avLst>
          </a:prstGeom>
          <a:solidFill>
            <a:srgbClr val="241A0E"/>
          </a:solidFill>
          <a:ln w="12700">
            <a:solidFill>
              <a:srgbClr val="3A2C18"/>
            </a:solidFill>
            <a:prstDash val="solid"/>
          </a:ln>
        </p:spPr>
      </p:sp>
      <p:sp>
        <p:nvSpPr>
          <p:cNvPr id="21" name="Text 19"/>
          <p:cNvSpPr/>
          <p:nvPr/>
        </p:nvSpPr>
        <p:spPr>
          <a:xfrm>
            <a:off x="6409944" y="3922776"/>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And the money side already works</a:t>
            </a:r>
            <a:endParaRPr lang="en-US" sz="1500" dirty="0"/>
          </a:p>
        </p:txBody>
      </p:sp>
      <p:sp>
        <p:nvSpPr>
          <p:cNvPr id="22" name="Text 20"/>
          <p:cNvSpPr/>
          <p:nvPr/>
        </p:nvSpPr>
        <p:spPr>
          <a:xfrm>
            <a:off x="6409944" y="4325112"/>
            <a:ext cx="4873752" cy="121615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UN World Food Programme has moved over $760 million in food and cash to more than six million people across 40 million blockchain transactions, saving millions in bank fees. This road is already proven. We are not the first ones on it.</a:t>
            </a:r>
            <a:endParaRPr lang="en-US" sz="1150" dirty="0"/>
          </a:p>
        </p:txBody>
      </p:sp>
      <p:sp>
        <p:nvSpPr>
          <p:cNvPr id="23" name="Text 21"/>
          <p:cNvSpPr/>
          <p:nvPr/>
        </p:nvSpPr>
        <p:spPr>
          <a:xfrm>
            <a:off x="640080" y="5943600"/>
            <a:ext cx="10881360" cy="274320"/>
          </a:xfrm>
          <a:prstGeom prst="rect">
            <a:avLst/>
          </a:prstGeom>
          <a:noFill/>
          <a:ln/>
        </p:spPr>
        <p:txBody>
          <a:bodyPr wrap="square" lIns="0" tIns="0" rIns="0" bIns="0" rtlCol="0" anchor="ctr"/>
          <a:lstStyle/>
          <a:p>
            <a:pPr algn="ctr" indent="0" marL="0">
              <a:buNone/>
            </a:pPr>
            <a:r>
              <a:rPr lang="en-US" sz="1000" dirty="0">
                <a:solidFill>
                  <a:srgbClr val="9B8A6B"/>
                </a:solidFill>
                <a:latin typeface="Calibri" pitchFamily="34" charset="0"/>
                <a:ea typeface="Calibri" pitchFamily="34" charset="-122"/>
                <a:cs typeface="Calibri" pitchFamily="34" charset="-120"/>
              </a:rPr>
              <a:t>Sources · World Bank Global Findex 2025 · UN WFP Building Blocks · BCG and Standard Chartered · Spain PNIEC</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WHERE WE STAND · AUGUST 2026</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Everything that is already real</a:t>
            </a:r>
            <a:endParaRPr lang="en-US" sz="3400" dirty="0"/>
          </a:p>
        </p:txBody>
      </p:sp>
      <p:sp>
        <p:nvSpPr>
          <p:cNvPr id="4" name="Text 2"/>
          <p:cNvSpPr/>
          <p:nvPr/>
        </p:nvSpPr>
        <p:spPr>
          <a:xfrm>
            <a:off x="640080" y="1536192"/>
            <a:ext cx="10881360" cy="365760"/>
          </a:xfrm>
          <a:prstGeom prst="rect">
            <a:avLst/>
          </a:prstGeom>
          <a:noFill/>
          <a:ln/>
        </p:spPr>
        <p:txBody>
          <a:bodyPr wrap="square" lIns="0" tIns="0" rIns="0" bIns="0" rtlCol="0" anchor="ctr"/>
          <a:lstStyle/>
          <a:p>
            <a:pPr indent="0" marL="0">
              <a:buNone/>
            </a:pPr>
            <a:r>
              <a:rPr lang="en-US" sz="1350" dirty="0">
                <a:solidFill>
                  <a:srgbClr val="9B8A6B"/>
                </a:solidFill>
                <a:latin typeface="Calibri" pitchFamily="34" charset="0"/>
                <a:ea typeface="Calibri" pitchFamily="34" charset="-122"/>
                <a:cs typeface="Calibri" pitchFamily="34" charset="-120"/>
              </a:rPr>
              <a:t>Three and a half months. No fund, no backer, no paid promotion. Nothing below is a projection.</a:t>
            </a:r>
            <a:endParaRPr lang="en-US" sz="1350" dirty="0"/>
          </a:p>
        </p:txBody>
      </p:sp>
      <p:sp>
        <p:nvSpPr>
          <p:cNvPr id="5" name="Shape 3"/>
          <p:cNvSpPr/>
          <p:nvPr/>
        </p:nvSpPr>
        <p:spPr>
          <a:xfrm>
            <a:off x="640080" y="2103120"/>
            <a:ext cx="2583180" cy="1371600"/>
          </a:xfrm>
          <a:prstGeom prst="roundRect">
            <a:avLst>
              <a:gd name="adj" fmla="val 6667"/>
            </a:avLst>
          </a:prstGeom>
          <a:solidFill>
            <a:srgbClr val="241A0E"/>
          </a:solidFill>
          <a:ln w="12700">
            <a:solidFill>
              <a:srgbClr val="3A2C18"/>
            </a:solidFill>
            <a:prstDash val="solid"/>
          </a:ln>
        </p:spPr>
      </p:sp>
      <p:sp>
        <p:nvSpPr>
          <p:cNvPr id="6" name="Text 4"/>
          <p:cNvSpPr/>
          <p:nvPr/>
        </p:nvSpPr>
        <p:spPr>
          <a:xfrm>
            <a:off x="640080" y="22677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0%</a:t>
            </a:r>
            <a:endParaRPr lang="en-US" sz="3000" dirty="0"/>
          </a:p>
        </p:txBody>
      </p:sp>
      <p:sp>
        <p:nvSpPr>
          <p:cNvPr id="7" name="Text 5"/>
          <p:cNvSpPr/>
          <p:nvPr/>
        </p:nvSpPr>
        <p:spPr>
          <a:xfrm>
            <a:off x="749808" y="29443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tax, liquidity burned</a:t>
            </a:r>
            <a:endParaRPr lang="en-US" sz="1100" dirty="0"/>
          </a:p>
        </p:txBody>
      </p:sp>
      <p:sp>
        <p:nvSpPr>
          <p:cNvPr id="8" name="Shape 6"/>
          <p:cNvSpPr/>
          <p:nvPr/>
        </p:nvSpPr>
        <p:spPr>
          <a:xfrm>
            <a:off x="3406140" y="2103120"/>
            <a:ext cx="2583180" cy="1371600"/>
          </a:xfrm>
          <a:prstGeom prst="roundRect">
            <a:avLst>
              <a:gd name="adj" fmla="val 6667"/>
            </a:avLst>
          </a:prstGeom>
          <a:solidFill>
            <a:srgbClr val="241A0E"/>
          </a:solidFill>
          <a:ln w="12700">
            <a:solidFill>
              <a:srgbClr val="3A2C18"/>
            </a:solidFill>
            <a:prstDash val="solid"/>
          </a:ln>
        </p:spPr>
      </p:sp>
      <p:sp>
        <p:nvSpPr>
          <p:cNvPr id="9" name="Text 7"/>
          <p:cNvSpPr/>
          <p:nvPr/>
        </p:nvSpPr>
        <p:spPr>
          <a:xfrm>
            <a:off x="3406140" y="22677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3.69M</a:t>
            </a:r>
            <a:endParaRPr lang="en-US" sz="3000" dirty="0"/>
          </a:p>
        </p:txBody>
      </p:sp>
      <p:sp>
        <p:nvSpPr>
          <p:cNvPr id="10" name="Text 8"/>
          <p:cNvSpPr/>
          <p:nvPr/>
        </p:nvSpPr>
        <p:spPr>
          <a:xfrm>
            <a:off x="3515868" y="29443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⚡ZAPP in the treasury</a:t>
            </a:r>
            <a:endParaRPr lang="en-US" sz="1100" dirty="0"/>
          </a:p>
        </p:txBody>
      </p:sp>
      <p:sp>
        <p:nvSpPr>
          <p:cNvPr id="11" name="Shape 9"/>
          <p:cNvSpPr/>
          <p:nvPr/>
        </p:nvSpPr>
        <p:spPr>
          <a:xfrm>
            <a:off x="6172200" y="2103120"/>
            <a:ext cx="2583180" cy="1371600"/>
          </a:xfrm>
          <a:prstGeom prst="roundRect">
            <a:avLst>
              <a:gd name="adj" fmla="val 6667"/>
            </a:avLst>
          </a:prstGeom>
          <a:solidFill>
            <a:srgbClr val="241A0E"/>
          </a:solidFill>
          <a:ln w="12700">
            <a:solidFill>
              <a:srgbClr val="3A2C18"/>
            </a:solidFill>
            <a:prstDash val="solid"/>
          </a:ln>
        </p:spPr>
      </p:sp>
      <p:sp>
        <p:nvSpPr>
          <p:cNvPr id="12" name="Text 10"/>
          <p:cNvSpPr/>
          <p:nvPr/>
        </p:nvSpPr>
        <p:spPr>
          <a:xfrm>
            <a:off x="6172200" y="22677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6</a:t>
            </a:r>
            <a:endParaRPr lang="en-US" sz="3000" dirty="0"/>
          </a:p>
        </p:txBody>
      </p:sp>
      <p:sp>
        <p:nvSpPr>
          <p:cNvPr id="13" name="Text 11"/>
          <p:cNvSpPr/>
          <p:nvPr/>
        </p:nvSpPr>
        <p:spPr>
          <a:xfrm>
            <a:off x="6281928" y="29443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places you can find it</a:t>
            </a:r>
            <a:endParaRPr lang="en-US" sz="1100" dirty="0"/>
          </a:p>
        </p:txBody>
      </p:sp>
      <p:sp>
        <p:nvSpPr>
          <p:cNvPr id="14" name="Shape 12"/>
          <p:cNvSpPr/>
          <p:nvPr/>
        </p:nvSpPr>
        <p:spPr>
          <a:xfrm>
            <a:off x="8938260" y="2103120"/>
            <a:ext cx="2583180" cy="1371600"/>
          </a:xfrm>
          <a:prstGeom prst="roundRect">
            <a:avLst>
              <a:gd name="adj" fmla="val 6667"/>
            </a:avLst>
          </a:prstGeom>
          <a:solidFill>
            <a:srgbClr val="241A0E"/>
          </a:solidFill>
          <a:ln w="12700">
            <a:solidFill>
              <a:srgbClr val="3A2C18"/>
            </a:solidFill>
            <a:prstDash val="solid"/>
          </a:ln>
        </p:spPr>
      </p:sp>
      <p:sp>
        <p:nvSpPr>
          <p:cNvPr id="15" name="Text 13"/>
          <p:cNvSpPr/>
          <p:nvPr/>
        </p:nvSpPr>
        <p:spPr>
          <a:xfrm>
            <a:off x="8938260" y="22677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6</a:t>
            </a:r>
            <a:endParaRPr lang="en-US" sz="3000" dirty="0"/>
          </a:p>
        </p:txBody>
      </p:sp>
      <p:sp>
        <p:nvSpPr>
          <p:cNvPr id="16" name="Text 14"/>
          <p:cNvSpPr/>
          <p:nvPr/>
        </p:nvSpPr>
        <p:spPr>
          <a:xfrm>
            <a:off x="9047988" y="29443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community channels</a:t>
            </a:r>
            <a:endParaRPr lang="en-US" sz="1100" dirty="0"/>
          </a:p>
        </p:txBody>
      </p:sp>
      <p:sp>
        <p:nvSpPr>
          <p:cNvPr id="17" name="Shape 15"/>
          <p:cNvSpPr/>
          <p:nvPr/>
        </p:nvSpPr>
        <p:spPr>
          <a:xfrm>
            <a:off x="640080" y="3703320"/>
            <a:ext cx="2583180" cy="1371600"/>
          </a:xfrm>
          <a:prstGeom prst="roundRect">
            <a:avLst>
              <a:gd name="adj" fmla="val 6667"/>
            </a:avLst>
          </a:prstGeom>
          <a:solidFill>
            <a:srgbClr val="241A0E"/>
          </a:solidFill>
          <a:ln w="12700">
            <a:solidFill>
              <a:srgbClr val="3A2C18"/>
            </a:solidFill>
            <a:prstDash val="solid"/>
          </a:ln>
        </p:spPr>
      </p:sp>
      <p:sp>
        <p:nvSpPr>
          <p:cNvPr id="18" name="Text 16"/>
          <p:cNvSpPr/>
          <p:nvPr/>
        </p:nvSpPr>
        <p:spPr>
          <a:xfrm>
            <a:off x="640080" y="38679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1M+</a:t>
            </a:r>
            <a:endParaRPr lang="en-US" sz="3000" dirty="0"/>
          </a:p>
        </p:txBody>
      </p:sp>
      <p:sp>
        <p:nvSpPr>
          <p:cNvPr id="19" name="Text 17"/>
          <p:cNvSpPr/>
          <p:nvPr/>
        </p:nvSpPr>
        <p:spPr>
          <a:xfrm>
            <a:off x="749808" y="45445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views on TikTok</a:t>
            </a:r>
            <a:endParaRPr lang="en-US" sz="1100" dirty="0"/>
          </a:p>
        </p:txBody>
      </p:sp>
      <p:sp>
        <p:nvSpPr>
          <p:cNvPr id="20" name="Shape 18"/>
          <p:cNvSpPr/>
          <p:nvPr/>
        </p:nvSpPr>
        <p:spPr>
          <a:xfrm>
            <a:off x="3406140" y="3703320"/>
            <a:ext cx="2583180" cy="1371600"/>
          </a:xfrm>
          <a:prstGeom prst="roundRect">
            <a:avLst>
              <a:gd name="adj" fmla="val 6667"/>
            </a:avLst>
          </a:prstGeom>
          <a:solidFill>
            <a:srgbClr val="241A0E"/>
          </a:solidFill>
          <a:ln w="12700">
            <a:solidFill>
              <a:srgbClr val="3A2C18"/>
            </a:solidFill>
            <a:prstDash val="solid"/>
          </a:ln>
        </p:spPr>
      </p:sp>
      <p:sp>
        <p:nvSpPr>
          <p:cNvPr id="21" name="Text 19"/>
          <p:cNvSpPr/>
          <p:nvPr/>
        </p:nvSpPr>
        <p:spPr>
          <a:xfrm>
            <a:off x="3406140" y="38679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198</a:t>
            </a:r>
            <a:endParaRPr lang="en-US" sz="3000" dirty="0"/>
          </a:p>
        </p:txBody>
      </p:sp>
      <p:sp>
        <p:nvSpPr>
          <p:cNvPr id="22" name="Text 20"/>
          <p:cNvSpPr/>
          <p:nvPr/>
        </p:nvSpPr>
        <p:spPr>
          <a:xfrm>
            <a:off x="3515868" y="45445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bot commands running</a:t>
            </a:r>
            <a:endParaRPr lang="en-US" sz="1100" dirty="0"/>
          </a:p>
        </p:txBody>
      </p:sp>
      <p:sp>
        <p:nvSpPr>
          <p:cNvPr id="23" name="Shape 21"/>
          <p:cNvSpPr/>
          <p:nvPr/>
        </p:nvSpPr>
        <p:spPr>
          <a:xfrm>
            <a:off x="6172200" y="3703320"/>
            <a:ext cx="2583180" cy="1371600"/>
          </a:xfrm>
          <a:prstGeom prst="roundRect">
            <a:avLst>
              <a:gd name="adj" fmla="val 6667"/>
            </a:avLst>
          </a:prstGeom>
          <a:solidFill>
            <a:srgbClr val="241A0E"/>
          </a:solidFill>
          <a:ln w="12700">
            <a:solidFill>
              <a:srgbClr val="3A2C18"/>
            </a:solidFill>
            <a:prstDash val="solid"/>
          </a:ln>
        </p:spPr>
      </p:sp>
      <p:sp>
        <p:nvSpPr>
          <p:cNvPr id="24" name="Text 22"/>
          <p:cNvSpPr/>
          <p:nvPr/>
        </p:nvSpPr>
        <p:spPr>
          <a:xfrm>
            <a:off x="6172200" y="38679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39</a:t>
            </a:r>
            <a:endParaRPr lang="en-US" sz="3000" dirty="0"/>
          </a:p>
        </p:txBody>
      </p:sp>
      <p:sp>
        <p:nvSpPr>
          <p:cNvPr id="25" name="Text 23"/>
          <p:cNvSpPr/>
          <p:nvPr/>
        </p:nvSpPr>
        <p:spPr>
          <a:xfrm>
            <a:off x="6281928" y="45445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products in the shop</a:t>
            </a:r>
            <a:endParaRPr lang="en-US" sz="1100" dirty="0"/>
          </a:p>
        </p:txBody>
      </p:sp>
      <p:sp>
        <p:nvSpPr>
          <p:cNvPr id="26" name="Shape 24"/>
          <p:cNvSpPr/>
          <p:nvPr/>
        </p:nvSpPr>
        <p:spPr>
          <a:xfrm>
            <a:off x="8938260" y="3703320"/>
            <a:ext cx="2583180" cy="1371600"/>
          </a:xfrm>
          <a:prstGeom prst="roundRect">
            <a:avLst>
              <a:gd name="adj" fmla="val 6667"/>
            </a:avLst>
          </a:prstGeom>
          <a:solidFill>
            <a:srgbClr val="241A0E"/>
          </a:solidFill>
          <a:ln w="12700">
            <a:solidFill>
              <a:srgbClr val="3A2C18"/>
            </a:solidFill>
            <a:prstDash val="solid"/>
          </a:ln>
        </p:spPr>
      </p:sp>
      <p:sp>
        <p:nvSpPr>
          <p:cNvPr id="27" name="Text 25"/>
          <p:cNvSpPr/>
          <p:nvPr/>
        </p:nvSpPr>
        <p:spPr>
          <a:xfrm>
            <a:off x="8938260" y="38679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28</a:t>
            </a:r>
            <a:endParaRPr lang="en-US" sz="3000" dirty="0"/>
          </a:p>
        </p:txBody>
      </p:sp>
      <p:sp>
        <p:nvSpPr>
          <p:cNvPr id="28" name="Text 26"/>
          <p:cNvSpPr/>
          <p:nvPr/>
        </p:nvSpPr>
        <p:spPr>
          <a:xfrm>
            <a:off x="9047988" y="45445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countries reached</a:t>
            </a:r>
            <a:endParaRPr lang="en-US" sz="1100" dirty="0"/>
          </a:p>
        </p:txBody>
      </p:sp>
      <p:sp>
        <p:nvSpPr>
          <p:cNvPr id="29" name="Text 27"/>
          <p:cNvSpPr/>
          <p:nvPr/>
        </p:nvSpPr>
        <p:spPr>
          <a:xfrm>
            <a:off x="640080" y="5349240"/>
            <a:ext cx="10881360" cy="365760"/>
          </a:xfrm>
          <a:prstGeom prst="rect">
            <a:avLst/>
          </a:prstGeom>
          <a:noFill/>
          <a:ln/>
        </p:spPr>
        <p:txBody>
          <a:bodyPr wrap="square" lIns="0" tIns="0" rIns="0" bIns="0" rtlCol="0" anchor="ctr"/>
          <a:lstStyle/>
          <a:p>
            <a:pPr algn="ctr" indent="0" marL="0">
              <a:buNone/>
            </a:pPr>
            <a:r>
              <a:rPr lang="en-US" sz="1300" dirty="0">
                <a:solidFill>
                  <a:srgbClr val="FBF4E2"/>
                </a:solidFill>
                <a:latin typeface="Calibri" pitchFamily="34" charset="0"/>
                <a:ea typeface="Calibri" pitchFamily="34" charset="-122"/>
                <a:cs typeface="Calibri" pitchFamily="34" charset="-120"/>
              </a:rPr>
              <a:t>CoinGecko  ·  DexScreener  ·  DexTools  ·  GeckoTerminal  ·  RugCheck  ·  Jupiter  ·  and Ledger, because it is Solana</a:t>
            </a:r>
            <a:endParaRPr lang="en-US" sz="1300" dirty="0"/>
          </a:p>
        </p:txBody>
      </p:sp>
      <p:sp>
        <p:nvSpPr>
          <p:cNvPr id="30" name="Text 28"/>
          <p:cNvSpPr/>
          <p:nvPr/>
        </p:nvSpPr>
        <p:spPr>
          <a:xfrm>
            <a:off x="640080" y="6382512"/>
            <a:ext cx="10881360" cy="274320"/>
          </a:xfrm>
          <a:prstGeom prst="rect">
            <a:avLst/>
          </a:prstGeom>
          <a:noFill/>
          <a:ln/>
        </p:spPr>
        <p:txBody>
          <a:bodyPr wrap="square" lIns="0" tIns="0" rIns="0" bIns="0" rtlCol="0" anchor="ctr"/>
          <a:lstStyle/>
          <a:p>
            <a:pPr algn="ctr" indent="0" marL="0">
              <a:buNone/>
            </a:pPr>
            <a:r>
              <a:rPr lang="en-US" sz="1000" dirty="0">
                <a:solidFill>
                  <a:srgbClr val="5E4C2E"/>
                </a:solidFill>
                <a:latin typeface="Calibri" pitchFamily="34" charset="0"/>
                <a:ea typeface="Calibri" pitchFamily="34" charset="-122"/>
                <a:cs typeface="Calibri" pitchFamily="34" charset="-120"/>
              </a:rPr>
              <a:t>3 · 6 · 9 ·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WHAT IS ALREADY LIVE</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This is not a token with a website</a:t>
            </a:r>
            <a:endParaRPr lang="en-US" sz="3400" dirty="0"/>
          </a:p>
        </p:txBody>
      </p:sp>
      <p:sp>
        <p:nvSpPr>
          <p:cNvPr id="4" name="Text 2"/>
          <p:cNvSpPr/>
          <p:nvPr/>
        </p:nvSpPr>
        <p:spPr>
          <a:xfrm>
            <a:off x="640080" y="1536192"/>
            <a:ext cx="10881360" cy="365760"/>
          </a:xfrm>
          <a:prstGeom prst="rect">
            <a:avLst/>
          </a:prstGeom>
          <a:noFill/>
          <a:ln/>
        </p:spPr>
        <p:txBody>
          <a:bodyPr wrap="square" lIns="0" tIns="0" rIns="0" bIns="0" rtlCol="0" anchor="ctr"/>
          <a:lstStyle/>
          <a:p>
            <a:pPr indent="0" marL="0">
              <a:buNone/>
            </a:pPr>
            <a:r>
              <a:rPr lang="en-US" sz="1350" dirty="0">
                <a:solidFill>
                  <a:srgbClr val="9B8A6B"/>
                </a:solidFill>
                <a:latin typeface="Calibri" pitchFamily="34" charset="0"/>
                <a:ea typeface="Calibri" pitchFamily="34" charset="-122"/>
                <a:cs typeface="Calibri" pitchFamily="34" charset="-120"/>
              </a:rPr>
              <a:t>zapp369.energy is a working product. Every card below is built and running today, not a mockup and not a promise.</a:t>
            </a:r>
            <a:endParaRPr lang="en-US" sz="1350" dirty="0"/>
          </a:p>
        </p:txBody>
      </p:sp>
      <p:sp>
        <p:nvSpPr>
          <p:cNvPr id="5" name="Shape 3"/>
          <p:cNvSpPr/>
          <p:nvPr/>
        </p:nvSpPr>
        <p:spPr>
          <a:xfrm>
            <a:off x="640080" y="2057400"/>
            <a:ext cx="2583180" cy="1874520"/>
          </a:xfrm>
          <a:prstGeom prst="roundRect">
            <a:avLst>
              <a:gd name="adj" fmla="val 4878"/>
            </a:avLst>
          </a:prstGeom>
          <a:solidFill>
            <a:srgbClr val="241A0E"/>
          </a:solidFill>
          <a:ln w="12700">
            <a:solidFill>
              <a:srgbClr val="3A2C18"/>
            </a:solidFill>
            <a:prstDash val="solid"/>
          </a:ln>
        </p:spPr>
      </p:sp>
      <p:sp>
        <p:nvSpPr>
          <p:cNvPr id="6" name="Shape 4"/>
          <p:cNvSpPr/>
          <p:nvPr/>
        </p:nvSpPr>
        <p:spPr>
          <a:xfrm>
            <a:off x="877824" y="2295144"/>
            <a:ext cx="420624" cy="420624"/>
          </a:xfrm>
          <a:prstGeom prst="ellipse">
            <a:avLst/>
          </a:prstGeom>
          <a:solidFill>
            <a:srgbClr val="C8960A"/>
          </a:solidFill>
          <a:ln/>
        </p:spPr>
      </p:sp>
      <p:sp>
        <p:nvSpPr>
          <p:cNvPr id="7" name="Text 5"/>
          <p:cNvSpPr/>
          <p:nvPr/>
        </p:nvSpPr>
        <p:spPr>
          <a:xfrm>
            <a:off x="877824" y="229514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01</a:t>
            </a:r>
            <a:endParaRPr lang="en-US" sz="1400" dirty="0"/>
          </a:p>
        </p:txBody>
      </p:sp>
      <p:sp>
        <p:nvSpPr>
          <p:cNvPr id="8" name="Text 6"/>
          <p:cNvSpPr/>
          <p:nvPr/>
        </p:nvSpPr>
        <p:spPr>
          <a:xfrm>
            <a:off x="877824" y="2788920"/>
            <a:ext cx="210769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Meme Lab</a:t>
            </a:r>
            <a:endParaRPr lang="en-US" sz="1500" dirty="0"/>
          </a:p>
        </p:txBody>
      </p:sp>
      <p:sp>
        <p:nvSpPr>
          <p:cNvPr id="9" name="Text 7"/>
          <p:cNvSpPr/>
          <p:nvPr/>
        </p:nvSpPr>
        <p:spPr>
          <a:xfrm>
            <a:off x="877824" y="3191256"/>
            <a:ext cx="2107692" cy="52120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Mint Tesla grade memes from the archive or your own image. The culture engine.</a:t>
            </a:r>
            <a:endParaRPr lang="en-US" sz="1150" dirty="0"/>
          </a:p>
        </p:txBody>
      </p:sp>
      <p:sp>
        <p:nvSpPr>
          <p:cNvPr id="10" name="Shape 8"/>
          <p:cNvSpPr/>
          <p:nvPr/>
        </p:nvSpPr>
        <p:spPr>
          <a:xfrm>
            <a:off x="3406140" y="2057400"/>
            <a:ext cx="2583180" cy="1874520"/>
          </a:xfrm>
          <a:prstGeom prst="roundRect">
            <a:avLst>
              <a:gd name="adj" fmla="val 4878"/>
            </a:avLst>
          </a:prstGeom>
          <a:solidFill>
            <a:srgbClr val="241A0E"/>
          </a:solidFill>
          <a:ln w="12700">
            <a:solidFill>
              <a:srgbClr val="3A2C18"/>
            </a:solidFill>
            <a:prstDash val="solid"/>
          </a:ln>
        </p:spPr>
      </p:sp>
      <p:sp>
        <p:nvSpPr>
          <p:cNvPr id="11" name="Shape 9"/>
          <p:cNvSpPr/>
          <p:nvPr/>
        </p:nvSpPr>
        <p:spPr>
          <a:xfrm>
            <a:off x="3643884" y="2295144"/>
            <a:ext cx="420624" cy="420624"/>
          </a:xfrm>
          <a:prstGeom prst="ellipse">
            <a:avLst/>
          </a:prstGeom>
          <a:solidFill>
            <a:srgbClr val="C8960A"/>
          </a:solidFill>
          <a:ln/>
        </p:spPr>
      </p:sp>
      <p:sp>
        <p:nvSpPr>
          <p:cNvPr id="12" name="Text 10"/>
          <p:cNvSpPr/>
          <p:nvPr/>
        </p:nvSpPr>
        <p:spPr>
          <a:xfrm>
            <a:off x="3643884" y="229514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02</a:t>
            </a:r>
            <a:endParaRPr lang="en-US" sz="1400" dirty="0"/>
          </a:p>
        </p:txBody>
      </p:sp>
      <p:sp>
        <p:nvSpPr>
          <p:cNvPr id="13" name="Text 11"/>
          <p:cNvSpPr/>
          <p:nvPr/>
        </p:nvSpPr>
        <p:spPr>
          <a:xfrm>
            <a:off x="3643884" y="2788920"/>
            <a:ext cx="210769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Academy</a:t>
            </a:r>
            <a:endParaRPr lang="en-US" sz="1500" dirty="0"/>
          </a:p>
        </p:txBody>
      </p:sp>
      <p:sp>
        <p:nvSpPr>
          <p:cNvPr id="14" name="Text 12"/>
          <p:cNvSpPr/>
          <p:nvPr/>
        </p:nvSpPr>
        <p:spPr>
          <a:xfrm>
            <a:off x="3643884" y="3191256"/>
            <a:ext cx="2107692" cy="52120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Crypto lessons, Solana basics and financial education, written plain. Teaching, not shilling.</a:t>
            </a:r>
            <a:endParaRPr lang="en-US" sz="1150" dirty="0"/>
          </a:p>
        </p:txBody>
      </p:sp>
      <p:sp>
        <p:nvSpPr>
          <p:cNvPr id="15" name="Shape 13"/>
          <p:cNvSpPr/>
          <p:nvPr/>
        </p:nvSpPr>
        <p:spPr>
          <a:xfrm>
            <a:off x="6172200" y="2057400"/>
            <a:ext cx="2583180" cy="1874520"/>
          </a:xfrm>
          <a:prstGeom prst="roundRect">
            <a:avLst>
              <a:gd name="adj" fmla="val 4878"/>
            </a:avLst>
          </a:prstGeom>
          <a:solidFill>
            <a:srgbClr val="241A0E"/>
          </a:solidFill>
          <a:ln w="12700">
            <a:solidFill>
              <a:srgbClr val="3A2C18"/>
            </a:solidFill>
            <a:prstDash val="solid"/>
          </a:ln>
        </p:spPr>
      </p:sp>
      <p:sp>
        <p:nvSpPr>
          <p:cNvPr id="16" name="Shape 14"/>
          <p:cNvSpPr/>
          <p:nvPr/>
        </p:nvSpPr>
        <p:spPr>
          <a:xfrm>
            <a:off x="6409944" y="2295144"/>
            <a:ext cx="420624" cy="420624"/>
          </a:xfrm>
          <a:prstGeom prst="ellipse">
            <a:avLst/>
          </a:prstGeom>
          <a:solidFill>
            <a:srgbClr val="C8960A"/>
          </a:solidFill>
          <a:ln/>
        </p:spPr>
      </p:sp>
      <p:sp>
        <p:nvSpPr>
          <p:cNvPr id="17" name="Text 15"/>
          <p:cNvSpPr/>
          <p:nvPr/>
        </p:nvSpPr>
        <p:spPr>
          <a:xfrm>
            <a:off x="6409944" y="229514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03</a:t>
            </a:r>
            <a:endParaRPr lang="en-US" sz="1400" dirty="0"/>
          </a:p>
        </p:txBody>
      </p:sp>
      <p:sp>
        <p:nvSpPr>
          <p:cNvPr id="18" name="Text 16"/>
          <p:cNvSpPr/>
          <p:nvPr/>
        </p:nvSpPr>
        <p:spPr>
          <a:xfrm>
            <a:off x="6409944" y="2788920"/>
            <a:ext cx="210769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Earn + Burn</a:t>
            </a:r>
            <a:endParaRPr lang="en-US" sz="1500" dirty="0"/>
          </a:p>
        </p:txBody>
      </p:sp>
      <p:sp>
        <p:nvSpPr>
          <p:cNvPr id="19" name="Text 17"/>
          <p:cNvSpPr/>
          <p:nvPr/>
        </p:nvSpPr>
        <p:spPr>
          <a:xfrm>
            <a:off x="6409944" y="3191256"/>
            <a:ext cx="2107692" cy="52120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Refer and earn, and watch the buyback and the double burn happen live, in public.</a:t>
            </a:r>
            <a:endParaRPr lang="en-US" sz="1150" dirty="0"/>
          </a:p>
        </p:txBody>
      </p:sp>
      <p:sp>
        <p:nvSpPr>
          <p:cNvPr id="20" name="Shape 18"/>
          <p:cNvSpPr/>
          <p:nvPr/>
        </p:nvSpPr>
        <p:spPr>
          <a:xfrm>
            <a:off x="8938260" y="2057400"/>
            <a:ext cx="2583180" cy="1874520"/>
          </a:xfrm>
          <a:prstGeom prst="roundRect">
            <a:avLst>
              <a:gd name="adj" fmla="val 4878"/>
            </a:avLst>
          </a:prstGeom>
          <a:solidFill>
            <a:srgbClr val="241A0E"/>
          </a:solidFill>
          <a:ln w="12700">
            <a:solidFill>
              <a:srgbClr val="3A2C18"/>
            </a:solidFill>
            <a:prstDash val="solid"/>
          </a:ln>
        </p:spPr>
      </p:sp>
      <p:sp>
        <p:nvSpPr>
          <p:cNvPr id="21" name="Shape 19"/>
          <p:cNvSpPr/>
          <p:nvPr/>
        </p:nvSpPr>
        <p:spPr>
          <a:xfrm>
            <a:off x="9176004" y="2295144"/>
            <a:ext cx="420624" cy="420624"/>
          </a:xfrm>
          <a:prstGeom prst="ellipse">
            <a:avLst/>
          </a:prstGeom>
          <a:solidFill>
            <a:srgbClr val="C8960A"/>
          </a:solidFill>
          <a:ln/>
        </p:spPr>
      </p:sp>
      <p:sp>
        <p:nvSpPr>
          <p:cNvPr id="22" name="Text 20"/>
          <p:cNvSpPr/>
          <p:nvPr/>
        </p:nvSpPr>
        <p:spPr>
          <a:xfrm>
            <a:off x="9176004" y="229514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04</a:t>
            </a:r>
            <a:endParaRPr lang="en-US" sz="1400" dirty="0"/>
          </a:p>
        </p:txBody>
      </p:sp>
      <p:sp>
        <p:nvSpPr>
          <p:cNvPr id="23" name="Text 21"/>
          <p:cNvSpPr/>
          <p:nvPr/>
        </p:nvSpPr>
        <p:spPr>
          <a:xfrm>
            <a:off x="9176004" y="2788920"/>
            <a:ext cx="210769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⚡ZAPP Jobs</a:t>
            </a:r>
            <a:endParaRPr lang="en-US" sz="1500" dirty="0"/>
          </a:p>
        </p:txBody>
      </p:sp>
      <p:sp>
        <p:nvSpPr>
          <p:cNvPr id="24" name="Text 22"/>
          <p:cNvSpPr/>
          <p:nvPr/>
        </p:nvSpPr>
        <p:spPr>
          <a:xfrm>
            <a:off x="9176004" y="3191256"/>
            <a:ext cx="2107692" cy="52120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Builders, curators and ambassadors, paid from the honest engine.</a:t>
            </a:r>
            <a:endParaRPr lang="en-US" sz="1150" dirty="0"/>
          </a:p>
        </p:txBody>
      </p:sp>
      <p:sp>
        <p:nvSpPr>
          <p:cNvPr id="25" name="Shape 23"/>
          <p:cNvSpPr/>
          <p:nvPr/>
        </p:nvSpPr>
        <p:spPr>
          <a:xfrm>
            <a:off x="640080" y="4160520"/>
            <a:ext cx="2583180" cy="1874520"/>
          </a:xfrm>
          <a:prstGeom prst="roundRect">
            <a:avLst>
              <a:gd name="adj" fmla="val 4878"/>
            </a:avLst>
          </a:prstGeom>
          <a:solidFill>
            <a:srgbClr val="241A0E"/>
          </a:solidFill>
          <a:ln w="12700">
            <a:solidFill>
              <a:srgbClr val="3A2C18"/>
            </a:solidFill>
            <a:prstDash val="solid"/>
          </a:ln>
        </p:spPr>
      </p:sp>
      <p:sp>
        <p:nvSpPr>
          <p:cNvPr id="26" name="Shape 24"/>
          <p:cNvSpPr/>
          <p:nvPr/>
        </p:nvSpPr>
        <p:spPr>
          <a:xfrm>
            <a:off x="877824" y="4398264"/>
            <a:ext cx="420624" cy="420624"/>
          </a:xfrm>
          <a:prstGeom prst="ellipse">
            <a:avLst/>
          </a:prstGeom>
          <a:solidFill>
            <a:srgbClr val="C8960A"/>
          </a:solidFill>
          <a:ln/>
        </p:spPr>
      </p:sp>
      <p:sp>
        <p:nvSpPr>
          <p:cNvPr id="27" name="Text 25"/>
          <p:cNvSpPr/>
          <p:nvPr/>
        </p:nvSpPr>
        <p:spPr>
          <a:xfrm>
            <a:off x="877824" y="439826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05</a:t>
            </a:r>
            <a:endParaRPr lang="en-US" sz="1400" dirty="0"/>
          </a:p>
        </p:txBody>
      </p:sp>
      <p:sp>
        <p:nvSpPr>
          <p:cNvPr id="28" name="Text 26"/>
          <p:cNvSpPr/>
          <p:nvPr/>
        </p:nvSpPr>
        <p:spPr>
          <a:xfrm>
            <a:off x="877824" y="4892040"/>
            <a:ext cx="210769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Wallet</a:t>
            </a:r>
            <a:endParaRPr lang="en-US" sz="1500" dirty="0"/>
          </a:p>
        </p:txBody>
      </p:sp>
      <p:sp>
        <p:nvSpPr>
          <p:cNvPr id="29" name="Text 27"/>
          <p:cNvSpPr/>
          <p:nvPr/>
        </p:nvSpPr>
        <p:spPr>
          <a:xfrm>
            <a:off x="877824" y="5294376"/>
            <a:ext cx="2107692" cy="52120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Hold and move ⚡ZAPP. Ledger compatible, because it is Solana.</a:t>
            </a:r>
            <a:endParaRPr lang="en-US" sz="1150" dirty="0"/>
          </a:p>
        </p:txBody>
      </p:sp>
      <p:sp>
        <p:nvSpPr>
          <p:cNvPr id="30" name="Shape 28"/>
          <p:cNvSpPr/>
          <p:nvPr/>
        </p:nvSpPr>
        <p:spPr>
          <a:xfrm>
            <a:off x="3406140" y="4160520"/>
            <a:ext cx="2583180" cy="1874520"/>
          </a:xfrm>
          <a:prstGeom prst="roundRect">
            <a:avLst>
              <a:gd name="adj" fmla="val 4878"/>
            </a:avLst>
          </a:prstGeom>
          <a:solidFill>
            <a:srgbClr val="241A0E"/>
          </a:solidFill>
          <a:ln w="12700">
            <a:solidFill>
              <a:srgbClr val="3A2C18"/>
            </a:solidFill>
            <a:prstDash val="solid"/>
          </a:ln>
        </p:spPr>
      </p:sp>
      <p:sp>
        <p:nvSpPr>
          <p:cNvPr id="31" name="Shape 29"/>
          <p:cNvSpPr/>
          <p:nvPr/>
        </p:nvSpPr>
        <p:spPr>
          <a:xfrm>
            <a:off x="3643884" y="4398264"/>
            <a:ext cx="420624" cy="420624"/>
          </a:xfrm>
          <a:prstGeom prst="ellipse">
            <a:avLst/>
          </a:prstGeom>
          <a:solidFill>
            <a:srgbClr val="C8960A"/>
          </a:solidFill>
          <a:ln/>
        </p:spPr>
      </p:sp>
      <p:sp>
        <p:nvSpPr>
          <p:cNvPr id="32" name="Text 30"/>
          <p:cNvSpPr/>
          <p:nvPr/>
        </p:nvSpPr>
        <p:spPr>
          <a:xfrm>
            <a:off x="3643884" y="439826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06</a:t>
            </a:r>
            <a:endParaRPr lang="en-US" sz="1400" dirty="0"/>
          </a:p>
        </p:txBody>
      </p:sp>
      <p:sp>
        <p:nvSpPr>
          <p:cNvPr id="33" name="Text 31"/>
          <p:cNvSpPr/>
          <p:nvPr/>
        </p:nvSpPr>
        <p:spPr>
          <a:xfrm>
            <a:off x="3643884" y="4892040"/>
            <a:ext cx="210769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Game</a:t>
            </a:r>
            <a:endParaRPr lang="en-US" sz="1500" dirty="0"/>
          </a:p>
        </p:txBody>
      </p:sp>
      <p:sp>
        <p:nvSpPr>
          <p:cNvPr id="34" name="Text 32"/>
          <p:cNvSpPr/>
          <p:nvPr/>
        </p:nvSpPr>
        <p:spPr>
          <a:xfrm>
            <a:off x="3643884" y="5294376"/>
            <a:ext cx="2107692" cy="52120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arcade layer. The doorway most people walk through first.</a:t>
            </a:r>
            <a:endParaRPr lang="en-US" sz="1150" dirty="0"/>
          </a:p>
        </p:txBody>
      </p:sp>
      <p:sp>
        <p:nvSpPr>
          <p:cNvPr id="35" name="Shape 33"/>
          <p:cNvSpPr/>
          <p:nvPr/>
        </p:nvSpPr>
        <p:spPr>
          <a:xfrm>
            <a:off x="6172200" y="4160520"/>
            <a:ext cx="2583180" cy="1874520"/>
          </a:xfrm>
          <a:prstGeom prst="roundRect">
            <a:avLst>
              <a:gd name="adj" fmla="val 4878"/>
            </a:avLst>
          </a:prstGeom>
          <a:solidFill>
            <a:srgbClr val="241A0E"/>
          </a:solidFill>
          <a:ln w="12700">
            <a:solidFill>
              <a:srgbClr val="3A2C18"/>
            </a:solidFill>
            <a:prstDash val="solid"/>
          </a:ln>
        </p:spPr>
      </p:sp>
      <p:sp>
        <p:nvSpPr>
          <p:cNvPr id="36" name="Shape 34"/>
          <p:cNvSpPr/>
          <p:nvPr/>
        </p:nvSpPr>
        <p:spPr>
          <a:xfrm>
            <a:off x="6409944" y="4398264"/>
            <a:ext cx="420624" cy="420624"/>
          </a:xfrm>
          <a:prstGeom prst="ellipse">
            <a:avLst/>
          </a:prstGeom>
          <a:solidFill>
            <a:srgbClr val="C8960A"/>
          </a:solidFill>
          <a:ln/>
        </p:spPr>
      </p:sp>
      <p:sp>
        <p:nvSpPr>
          <p:cNvPr id="37" name="Text 35"/>
          <p:cNvSpPr/>
          <p:nvPr/>
        </p:nvSpPr>
        <p:spPr>
          <a:xfrm>
            <a:off x="6409944" y="439826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07</a:t>
            </a:r>
            <a:endParaRPr lang="en-US" sz="1400" dirty="0"/>
          </a:p>
        </p:txBody>
      </p:sp>
      <p:sp>
        <p:nvSpPr>
          <p:cNvPr id="38" name="Text 36"/>
          <p:cNvSpPr/>
          <p:nvPr/>
        </p:nvSpPr>
        <p:spPr>
          <a:xfrm>
            <a:off x="6409944" y="4892040"/>
            <a:ext cx="210769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Dispatches</a:t>
            </a:r>
            <a:endParaRPr lang="en-US" sz="1500" dirty="0"/>
          </a:p>
        </p:txBody>
      </p:sp>
      <p:sp>
        <p:nvSpPr>
          <p:cNvPr id="39" name="Text 37"/>
          <p:cNvSpPr/>
          <p:nvPr/>
        </p:nvSpPr>
        <p:spPr>
          <a:xfrm>
            <a:off x="6409944" y="5294376"/>
            <a:ext cx="2107692" cy="52120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News from the tower, dated and archived. Every update on the record.</a:t>
            </a:r>
            <a:endParaRPr lang="en-US" sz="1150" dirty="0"/>
          </a:p>
        </p:txBody>
      </p:sp>
      <p:sp>
        <p:nvSpPr>
          <p:cNvPr id="40" name="Shape 38"/>
          <p:cNvSpPr/>
          <p:nvPr/>
        </p:nvSpPr>
        <p:spPr>
          <a:xfrm>
            <a:off x="8938260" y="4160520"/>
            <a:ext cx="2583180" cy="1874520"/>
          </a:xfrm>
          <a:prstGeom prst="roundRect">
            <a:avLst>
              <a:gd name="adj" fmla="val 4878"/>
            </a:avLst>
          </a:prstGeom>
          <a:solidFill>
            <a:srgbClr val="241A0E"/>
          </a:solidFill>
          <a:ln w="12700">
            <a:solidFill>
              <a:srgbClr val="3A2C18"/>
            </a:solidFill>
            <a:prstDash val="solid"/>
          </a:ln>
        </p:spPr>
      </p:sp>
      <p:sp>
        <p:nvSpPr>
          <p:cNvPr id="41" name="Shape 39"/>
          <p:cNvSpPr/>
          <p:nvPr/>
        </p:nvSpPr>
        <p:spPr>
          <a:xfrm>
            <a:off x="9176004" y="4398264"/>
            <a:ext cx="420624" cy="420624"/>
          </a:xfrm>
          <a:prstGeom prst="ellipse">
            <a:avLst/>
          </a:prstGeom>
          <a:solidFill>
            <a:srgbClr val="C8960A"/>
          </a:solidFill>
          <a:ln/>
        </p:spPr>
      </p:sp>
      <p:sp>
        <p:nvSpPr>
          <p:cNvPr id="42" name="Text 40"/>
          <p:cNvSpPr/>
          <p:nvPr/>
        </p:nvSpPr>
        <p:spPr>
          <a:xfrm>
            <a:off x="9176004" y="439826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08</a:t>
            </a:r>
            <a:endParaRPr lang="en-US" sz="1400" dirty="0"/>
          </a:p>
        </p:txBody>
      </p:sp>
      <p:sp>
        <p:nvSpPr>
          <p:cNvPr id="43" name="Text 41"/>
          <p:cNvSpPr/>
          <p:nvPr/>
        </p:nvSpPr>
        <p:spPr>
          <a:xfrm>
            <a:off x="9176004" y="4892040"/>
            <a:ext cx="210769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Roadmap</a:t>
            </a:r>
            <a:endParaRPr lang="en-US" sz="1500" dirty="0"/>
          </a:p>
        </p:txBody>
      </p:sp>
      <p:sp>
        <p:nvSpPr>
          <p:cNvPr id="44" name="Text 42"/>
          <p:cNvSpPr/>
          <p:nvPr/>
        </p:nvSpPr>
        <p:spPr>
          <a:xfrm>
            <a:off x="9176004" y="5294376"/>
            <a:ext cx="2107692" cy="52120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Phase zero to infinity, the whole master plan, public and kept current.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NEXT BUILD</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What is coming</a:t>
            </a:r>
            <a:endParaRPr lang="en-US" sz="3400" dirty="0"/>
          </a:p>
        </p:txBody>
      </p:sp>
      <p:sp>
        <p:nvSpPr>
          <p:cNvPr id="4" name="Shape 2"/>
          <p:cNvSpPr/>
          <p:nvPr/>
        </p:nvSpPr>
        <p:spPr>
          <a:xfrm>
            <a:off x="640080" y="1737360"/>
            <a:ext cx="3520440" cy="3794760"/>
          </a:xfrm>
          <a:prstGeom prst="roundRect">
            <a:avLst>
              <a:gd name="adj" fmla="val 2597"/>
            </a:avLst>
          </a:prstGeom>
          <a:solidFill>
            <a:srgbClr val="241A0E"/>
          </a:solidFill>
          <a:ln w="12700">
            <a:solidFill>
              <a:srgbClr val="3A2C18"/>
            </a:solidFill>
            <a:prstDash val="solid"/>
          </a:ln>
        </p:spPr>
      </p:sp>
      <p:sp>
        <p:nvSpPr>
          <p:cNvPr id="5" name="Shape 3"/>
          <p:cNvSpPr/>
          <p:nvPr/>
        </p:nvSpPr>
        <p:spPr>
          <a:xfrm>
            <a:off x="877824" y="1975104"/>
            <a:ext cx="420624" cy="420624"/>
          </a:xfrm>
          <a:prstGeom prst="ellipse">
            <a:avLst/>
          </a:prstGeom>
          <a:solidFill>
            <a:srgbClr val="C8960A"/>
          </a:solidFill>
          <a:ln/>
        </p:spPr>
      </p:sp>
      <p:sp>
        <p:nvSpPr>
          <p:cNvPr id="6" name="Text 4"/>
          <p:cNvSpPr/>
          <p:nvPr/>
        </p:nvSpPr>
        <p:spPr>
          <a:xfrm>
            <a:off x="87782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7" name="Text 5"/>
          <p:cNvSpPr/>
          <p:nvPr/>
        </p:nvSpPr>
        <p:spPr>
          <a:xfrm>
            <a:off x="877824" y="246888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⚡ZAPP AI Agents</a:t>
            </a:r>
            <a:endParaRPr lang="en-US" sz="1500" dirty="0"/>
          </a:p>
        </p:txBody>
      </p:sp>
      <p:sp>
        <p:nvSpPr>
          <p:cNvPr id="8" name="Text 6"/>
          <p:cNvSpPr/>
          <p:nvPr/>
        </p:nvSpPr>
        <p:spPr>
          <a:xfrm>
            <a:off x="877824" y="2871216"/>
            <a:ext cx="3044952" cy="244144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Hire an agent to do your work. Research, content, moderation, admin, the jobs nobody wants to sit through.</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Paid in ⚡ZAPP, so the token becomes the unit of account for real work rather than a thing people only trade.</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It closes the loop with ⚡ZAPP Jobs. Humans and agents on the same board, doing the same tasks, paid from the same engine.</a:t>
            </a:r>
            <a:endParaRPr lang="en-US" sz="1150" dirty="0"/>
          </a:p>
        </p:txBody>
      </p:sp>
      <p:sp>
        <p:nvSpPr>
          <p:cNvPr id="9" name="Shape 7"/>
          <p:cNvSpPr/>
          <p:nvPr/>
        </p:nvSpPr>
        <p:spPr>
          <a:xfrm>
            <a:off x="4343400" y="1737360"/>
            <a:ext cx="3520440" cy="3794760"/>
          </a:xfrm>
          <a:prstGeom prst="roundRect">
            <a:avLst>
              <a:gd name="adj" fmla="val 2597"/>
            </a:avLst>
          </a:prstGeom>
          <a:solidFill>
            <a:srgbClr val="241A0E"/>
          </a:solidFill>
          <a:ln w="12700">
            <a:solidFill>
              <a:srgbClr val="3A2C18"/>
            </a:solidFill>
            <a:prstDash val="solid"/>
          </a:ln>
        </p:spPr>
      </p:sp>
      <p:sp>
        <p:nvSpPr>
          <p:cNvPr id="10" name="Shape 8"/>
          <p:cNvSpPr/>
          <p:nvPr/>
        </p:nvSpPr>
        <p:spPr>
          <a:xfrm>
            <a:off x="4581144" y="1975104"/>
            <a:ext cx="420624" cy="420624"/>
          </a:xfrm>
          <a:prstGeom prst="ellipse">
            <a:avLst/>
          </a:prstGeom>
          <a:solidFill>
            <a:srgbClr val="C8960A"/>
          </a:solidFill>
          <a:ln/>
        </p:spPr>
      </p:sp>
      <p:sp>
        <p:nvSpPr>
          <p:cNvPr id="11" name="Text 9"/>
          <p:cNvSpPr/>
          <p:nvPr/>
        </p:nvSpPr>
        <p:spPr>
          <a:xfrm>
            <a:off x="458114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2" name="Text 10"/>
          <p:cNvSpPr/>
          <p:nvPr/>
        </p:nvSpPr>
        <p:spPr>
          <a:xfrm>
            <a:off x="4581144" y="246888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Locking and Staking</a:t>
            </a:r>
            <a:endParaRPr lang="en-US" sz="1500" dirty="0"/>
          </a:p>
        </p:txBody>
      </p:sp>
      <p:sp>
        <p:nvSpPr>
          <p:cNvPr id="13" name="Text 11"/>
          <p:cNvSpPr/>
          <p:nvPr/>
        </p:nvSpPr>
        <p:spPr>
          <a:xfrm>
            <a:off x="4581144" y="2871216"/>
            <a:ext cx="3044952" cy="244144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Lock ⚡ZAPP into the tower and the vault deepens. Fewer coins moving, a steadier market, and a reason to hold that is not a promise about price.</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Already designed. Waiting on the entity and the legal review before it ships, because this is exactly the kind of feature that needs a lawyer looking at it first.</a:t>
            </a:r>
            <a:endParaRPr lang="en-US" sz="1150" dirty="0"/>
          </a:p>
        </p:txBody>
      </p:sp>
      <p:sp>
        <p:nvSpPr>
          <p:cNvPr id="14" name="Shape 12"/>
          <p:cNvSpPr/>
          <p:nvPr/>
        </p:nvSpPr>
        <p:spPr>
          <a:xfrm>
            <a:off x="8046720" y="1737360"/>
            <a:ext cx="3474720" cy="3794760"/>
          </a:xfrm>
          <a:prstGeom prst="roundRect">
            <a:avLst>
              <a:gd name="adj" fmla="val 2632"/>
            </a:avLst>
          </a:prstGeom>
          <a:solidFill>
            <a:srgbClr val="241A0E"/>
          </a:solidFill>
          <a:ln w="12700">
            <a:solidFill>
              <a:srgbClr val="3A2C18"/>
            </a:solidFill>
            <a:prstDash val="solid"/>
          </a:ln>
        </p:spPr>
      </p:sp>
      <p:sp>
        <p:nvSpPr>
          <p:cNvPr id="15" name="Shape 13"/>
          <p:cNvSpPr/>
          <p:nvPr/>
        </p:nvSpPr>
        <p:spPr>
          <a:xfrm>
            <a:off x="8284464" y="1975104"/>
            <a:ext cx="420624" cy="420624"/>
          </a:xfrm>
          <a:prstGeom prst="ellipse">
            <a:avLst/>
          </a:prstGeom>
          <a:solidFill>
            <a:srgbClr val="C8960A"/>
          </a:solidFill>
          <a:ln/>
        </p:spPr>
      </p:sp>
      <p:sp>
        <p:nvSpPr>
          <p:cNvPr id="16" name="Text 14"/>
          <p:cNvSpPr/>
          <p:nvPr/>
        </p:nvSpPr>
        <p:spPr>
          <a:xfrm>
            <a:off x="828446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7" name="Text 15"/>
          <p:cNvSpPr/>
          <p:nvPr/>
        </p:nvSpPr>
        <p:spPr>
          <a:xfrm>
            <a:off x="8284464" y="2468880"/>
            <a:ext cx="299923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⚡ZAPP App</a:t>
            </a:r>
            <a:endParaRPr lang="en-US" sz="1500" dirty="0"/>
          </a:p>
        </p:txBody>
      </p:sp>
      <p:sp>
        <p:nvSpPr>
          <p:cNvPr id="18" name="Text 16"/>
          <p:cNvSpPr/>
          <p:nvPr/>
        </p:nvSpPr>
        <p:spPr>
          <a:xfrm>
            <a:off x="8284464" y="2871216"/>
            <a:ext cx="2999232" cy="244144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whole tower in your pocket, heading to the App Store.</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Wallet, academy, memes, jobs and the live burn in one place. The moment a community stops living inside someone else's feed and starts living somewhere it owns.</a:t>
            </a:r>
            <a:endParaRPr lang="en-US" sz="1150" dirty="0"/>
          </a:p>
        </p:txBody>
      </p:sp>
      <p:sp>
        <p:nvSpPr>
          <p:cNvPr id="19" name="Text 17"/>
          <p:cNvSpPr/>
          <p:nvPr/>
        </p:nvSpPr>
        <p:spPr>
          <a:xfrm>
            <a:off x="640080" y="5760720"/>
            <a:ext cx="10881360" cy="365760"/>
          </a:xfrm>
          <a:prstGeom prst="rect">
            <a:avLst/>
          </a:prstGeom>
          <a:noFill/>
          <a:ln/>
        </p:spPr>
        <p:txBody>
          <a:bodyPr wrap="square" lIns="0" tIns="0" rIns="0" bIns="0" rtlCol="0" anchor="ctr"/>
          <a:lstStyle/>
          <a:p>
            <a:pPr algn="ctr" indent="0" marL="0">
              <a:buNone/>
            </a:pPr>
            <a:r>
              <a:rPr lang="en-US" sz="1500" i="1" dirty="0">
                <a:solidFill>
                  <a:srgbClr val="C8960A"/>
                </a:solidFill>
                <a:latin typeface="Cambria" pitchFamily="34" charset="0"/>
                <a:ea typeface="Cambria" pitchFamily="34" charset="-122"/>
                <a:cs typeface="Cambria" pitchFamily="34" charset="-120"/>
              </a:rPr>
              <a:t>Every one of these is funded by the same engine. Real revenue in, floor up, builders paid, mission funded.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VERIFIABLE, NOT CLAIMED</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The token, in the open</a:t>
            </a:r>
            <a:endParaRPr lang="en-US" sz="3400" dirty="0"/>
          </a:p>
        </p:txBody>
      </p:sp>
      <p:sp>
        <p:nvSpPr>
          <p:cNvPr id="4" name="Shape 2"/>
          <p:cNvSpPr/>
          <p:nvPr/>
        </p:nvSpPr>
        <p:spPr>
          <a:xfrm>
            <a:off x="640080" y="1645920"/>
            <a:ext cx="2583180" cy="1371600"/>
          </a:xfrm>
          <a:prstGeom prst="roundRect">
            <a:avLst>
              <a:gd name="adj" fmla="val 6667"/>
            </a:avLst>
          </a:prstGeom>
          <a:solidFill>
            <a:srgbClr val="241A0E"/>
          </a:solidFill>
          <a:ln w="12700">
            <a:solidFill>
              <a:srgbClr val="3A2C18"/>
            </a:solidFill>
            <a:prstDash val="solid"/>
          </a:ln>
        </p:spPr>
      </p:sp>
      <p:sp>
        <p:nvSpPr>
          <p:cNvPr id="5" name="Text 3"/>
          <p:cNvSpPr/>
          <p:nvPr/>
        </p:nvSpPr>
        <p:spPr>
          <a:xfrm>
            <a:off x="640080" y="1810512"/>
            <a:ext cx="2583180" cy="658368"/>
          </a:xfrm>
          <a:prstGeom prst="rect">
            <a:avLst/>
          </a:prstGeom>
          <a:noFill/>
          <a:ln/>
        </p:spPr>
        <p:txBody>
          <a:bodyPr wrap="square" lIns="0" tIns="0" rIns="0" bIns="0" rtlCol="0" anchor="ctr"/>
          <a:lstStyle/>
          <a:p>
            <a:pPr algn="ctr" indent="0" marL="0">
              <a:buNone/>
            </a:pPr>
            <a:r>
              <a:rPr lang="en-US" sz="2200" b="1" dirty="0">
                <a:solidFill>
                  <a:srgbClr val="C8960A"/>
                </a:solidFill>
                <a:latin typeface="Cambria" pitchFamily="34" charset="0"/>
                <a:ea typeface="Cambria" pitchFamily="34" charset="-122"/>
                <a:cs typeface="Cambria" pitchFamily="34" charset="-120"/>
              </a:rPr>
              <a:t>$0.000110</a:t>
            </a:r>
            <a:endParaRPr lang="en-US" sz="2200" dirty="0"/>
          </a:p>
        </p:txBody>
      </p:sp>
      <p:sp>
        <p:nvSpPr>
          <p:cNvPr id="6" name="Text 4"/>
          <p:cNvSpPr/>
          <p:nvPr/>
        </p:nvSpPr>
        <p:spPr>
          <a:xfrm>
            <a:off x="749808" y="24871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price today</a:t>
            </a:r>
            <a:endParaRPr lang="en-US" sz="1100" dirty="0"/>
          </a:p>
        </p:txBody>
      </p:sp>
      <p:sp>
        <p:nvSpPr>
          <p:cNvPr id="7" name="Shape 5"/>
          <p:cNvSpPr/>
          <p:nvPr/>
        </p:nvSpPr>
        <p:spPr>
          <a:xfrm>
            <a:off x="3406140" y="1645920"/>
            <a:ext cx="2583180" cy="1371600"/>
          </a:xfrm>
          <a:prstGeom prst="roundRect">
            <a:avLst>
              <a:gd name="adj" fmla="val 6667"/>
            </a:avLst>
          </a:prstGeom>
          <a:solidFill>
            <a:srgbClr val="241A0E"/>
          </a:solidFill>
          <a:ln w="12700">
            <a:solidFill>
              <a:srgbClr val="3A2C18"/>
            </a:solidFill>
            <a:prstDash val="solid"/>
          </a:ln>
        </p:spPr>
      </p:sp>
      <p:sp>
        <p:nvSpPr>
          <p:cNvPr id="8" name="Text 6"/>
          <p:cNvSpPr/>
          <p:nvPr/>
        </p:nvSpPr>
        <p:spPr>
          <a:xfrm>
            <a:off x="3406140" y="18105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$110K</a:t>
            </a:r>
            <a:endParaRPr lang="en-US" sz="3000" dirty="0"/>
          </a:p>
        </p:txBody>
      </p:sp>
      <p:sp>
        <p:nvSpPr>
          <p:cNvPr id="9" name="Text 7"/>
          <p:cNvSpPr/>
          <p:nvPr/>
        </p:nvSpPr>
        <p:spPr>
          <a:xfrm>
            <a:off x="3515868" y="24871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market cap</a:t>
            </a:r>
            <a:endParaRPr lang="en-US" sz="1100" dirty="0"/>
          </a:p>
        </p:txBody>
      </p:sp>
      <p:sp>
        <p:nvSpPr>
          <p:cNvPr id="10" name="Shape 8"/>
          <p:cNvSpPr/>
          <p:nvPr/>
        </p:nvSpPr>
        <p:spPr>
          <a:xfrm>
            <a:off x="6172200" y="1645920"/>
            <a:ext cx="2583180" cy="1371600"/>
          </a:xfrm>
          <a:prstGeom prst="roundRect">
            <a:avLst>
              <a:gd name="adj" fmla="val 6667"/>
            </a:avLst>
          </a:prstGeom>
          <a:solidFill>
            <a:srgbClr val="241A0E"/>
          </a:solidFill>
          <a:ln w="12700">
            <a:solidFill>
              <a:srgbClr val="3A2C18"/>
            </a:solidFill>
            <a:prstDash val="solid"/>
          </a:ln>
        </p:spPr>
      </p:sp>
      <p:sp>
        <p:nvSpPr>
          <p:cNvPr id="11" name="Text 9"/>
          <p:cNvSpPr/>
          <p:nvPr/>
        </p:nvSpPr>
        <p:spPr>
          <a:xfrm>
            <a:off x="6172200" y="18105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$27.2K</a:t>
            </a:r>
            <a:endParaRPr lang="en-US" sz="3000" dirty="0"/>
          </a:p>
        </p:txBody>
      </p:sp>
      <p:sp>
        <p:nvSpPr>
          <p:cNvPr id="12" name="Text 10"/>
          <p:cNvSpPr/>
          <p:nvPr/>
        </p:nvSpPr>
        <p:spPr>
          <a:xfrm>
            <a:off x="6281928" y="24871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liquidity, burned</a:t>
            </a:r>
            <a:endParaRPr lang="en-US" sz="1100" dirty="0"/>
          </a:p>
        </p:txBody>
      </p:sp>
      <p:sp>
        <p:nvSpPr>
          <p:cNvPr id="13" name="Shape 11"/>
          <p:cNvSpPr/>
          <p:nvPr/>
        </p:nvSpPr>
        <p:spPr>
          <a:xfrm>
            <a:off x="8938260" y="1645920"/>
            <a:ext cx="2583180" cy="1371600"/>
          </a:xfrm>
          <a:prstGeom prst="roundRect">
            <a:avLst>
              <a:gd name="adj" fmla="val 6667"/>
            </a:avLst>
          </a:prstGeom>
          <a:solidFill>
            <a:srgbClr val="241A0E"/>
          </a:solidFill>
          <a:ln w="12700">
            <a:solidFill>
              <a:srgbClr val="3A2C18"/>
            </a:solidFill>
            <a:prstDash val="solid"/>
          </a:ln>
        </p:spPr>
      </p:sp>
      <p:sp>
        <p:nvSpPr>
          <p:cNvPr id="14" name="Text 12"/>
          <p:cNvSpPr/>
          <p:nvPr/>
        </p:nvSpPr>
        <p:spPr>
          <a:xfrm>
            <a:off x="8938260" y="181051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0%</a:t>
            </a:r>
            <a:endParaRPr lang="en-US" sz="3000" dirty="0"/>
          </a:p>
        </p:txBody>
      </p:sp>
      <p:sp>
        <p:nvSpPr>
          <p:cNvPr id="15" name="Text 13"/>
          <p:cNvSpPr/>
          <p:nvPr/>
        </p:nvSpPr>
        <p:spPr>
          <a:xfrm>
            <a:off x="9047988" y="248716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buy and sell tax</a:t>
            </a:r>
            <a:endParaRPr lang="en-US" sz="1100" dirty="0"/>
          </a:p>
        </p:txBody>
      </p:sp>
      <p:sp>
        <p:nvSpPr>
          <p:cNvPr id="16" name="Shape 14"/>
          <p:cNvSpPr/>
          <p:nvPr/>
        </p:nvSpPr>
        <p:spPr>
          <a:xfrm>
            <a:off x="640080" y="3246120"/>
            <a:ext cx="5349240" cy="2423160"/>
          </a:xfrm>
          <a:prstGeom prst="roundRect">
            <a:avLst>
              <a:gd name="adj" fmla="val 3774"/>
            </a:avLst>
          </a:prstGeom>
          <a:solidFill>
            <a:srgbClr val="241A0E"/>
          </a:solidFill>
          <a:ln w="12700">
            <a:solidFill>
              <a:srgbClr val="3A2C18"/>
            </a:solidFill>
            <a:prstDash val="solid"/>
          </a:ln>
        </p:spPr>
      </p:sp>
      <p:sp>
        <p:nvSpPr>
          <p:cNvPr id="17" name="Shape 15"/>
          <p:cNvSpPr/>
          <p:nvPr/>
        </p:nvSpPr>
        <p:spPr>
          <a:xfrm>
            <a:off x="877824" y="3483864"/>
            <a:ext cx="420624" cy="420624"/>
          </a:xfrm>
          <a:prstGeom prst="ellipse">
            <a:avLst/>
          </a:prstGeom>
          <a:solidFill>
            <a:srgbClr val="C8960A"/>
          </a:solidFill>
          <a:ln/>
        </p:spPr>
      </p:sp>
      <p:sp>
        <p:nvSpPr>
          <p:cNvPr id="18" name="Text 16"/>
          <p:cNvSpPr/>
          <p:nvPr/>
        </p:nvSpPr>
        <p:spPr>
          <a:xfrm>
            <a:off x="877824" y="348386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9" name="Text 17"/>
          <p:cNvSpPr/>
          <p:nvPr/>
        </p:nvSpPr>
        <p:spPr>
          <a:xfrm>
            <a:off x="877824" y="3977640"/>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Why this matters</a:t>
            </a:r>
            <a:endParaRPr lang="en-US" sz="1500" dirty="0"/>
          </a:p>
        </p:txBody>
      </p:sp>
      <p:sp>
        <p:nvSpPr>
          <p:cNvPr id="20" name="Text 18"/>
          <p:cNvSpPr/>
          <p:nvPr/>
        </p:nvSpPr>
        <p:spPr>
          <a:xfrm>
            <a:off x="877824" y="4379976"/>
            <a:ext cx="4873752" cy="106984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Liquidity is burned, so it can never be pulled. Tax is zero, so the contract takes nothing from anyone who trades it.</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You do not have to trust us on either. Both are on chain and can be checked right now, without our permission.</a:t>
            </a:r>
            <a:endParaRPr lang="en-US" sz="1150" dirty="0"/>
          </a:p>
        </p:txBody>
      </p:sp>
      <p:sp>
        <p:nvSpPr>
          <p:cNvPr id="21" name="Shape 19"/>
          <p:cNvSpPr/>
          <p:nvPr/>
        </p:nvSpPr>
        <p:spPr>
          <a:xfrm>
            <a:off x="6172200" y="3246120"/>
            <a:ext cx="5349240" cy="2423160"/>
          </a:xfrm>
          <a:prstGeom prst="roundRect">
            <a:avLst>
              <a:gd name="adj" fmla="val 3774"/>
            </a:avLst>
          </a:prstGeom>
          <a:solidFill>
            <a:srgbClr val="241A0E"/>
          </a:solidFill>
          <a:ln w="12700">
            <a:solidFill>
              <a:srgbClr val="3A2C18"/>
            </a:solidFill>
            <a:prstDash val="solid"/>
          </a:ln>
        </p:spPr>
      </p:sp>
      <p:sp>
        <p:nvSpPr>
          <p:cNvPr id="22" name="Shape 20"/>
          <p:cNvSpPr/>
          <p:nvPr/>
        </p:nvSpPr>
        <p:spPr>
          <a:xfrm>
            <a:off x="6409944" y="3483864"/>
            <a:ext cx="420624" cy="420624"/>
          </a:xfrm>
          <a:prstGeom prst="ellipse">
            <a:avLst/>
          </a:prstGeom>
          <a:solidFill>
            <a:srgbClr val="C8960A"/>
          </a:solidFill>
          <a:ln/>
        </p:spPr>
      </p:sp>
      <p:sp>
        <p:nvSpPr>
          <p:cNvPr id="23" name="Text 21"/>
          <p:cNvSpPr/>
          <p:nvPr/>
        </p:nvSpPr>
        <p:spPr>
          <a:xfrm>
            <a:off x="6409944" y="348386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24" name="Text 22"/>
          <p:cNvSpPr/>
          <p:nvPr/>
        </p:nvSpPr>
        <p:spPr>
          <a:xfrm>
            <a:off x="6409944" y="3977640"/>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Honest about the stage</a:t>
            </a:r>
            <a:endParaRPr lang="en-US" sz="1500" dirty="0"/>
          </a:p>
        </p:txBody>
      </p:sp>
      <p:sp>
        <p:nvSpPr>
          <p:cNvPr id="25" name="Text 23"/>
          <p:cNvSpPr/>
          <p:nvPr/>
        </p:nvSpPr>
        <p:spPr>
          <a:xfrm>
            <a:off x="6409944" y="4379976"/>
            <a:ext cx="4873752" cy="106984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A small cap in its first months, and it has taken real damage. The chart is a long way down from its high and we are not going to dress that up.</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What we point at instead is the last 24 hours. 22 buys against 14 sells, and the most recent 6 hours all buys and no sells.</a:t>
            </a:r>
            <a:endParaRPr lang="en-US" sz="1150" dirty="0"/>
          </a:p>
        </p:txBody>
      </p:sp>
      <p:sp>
        <p:nvSpPr>
          <p:cNvPr id="26" name="Text 24"/>
          <p:cNvSpPr/>
          <p:nvPr/>
        </p:nvSpPr>
        <p:spPr>
          <a:xfrm>
            <a:off x="640080" y="5897880"/>
            <a:ext cx="10881360" cy="274320"/>
          </a:xfrm>
          <a:prstGeom prst="rect">
            <a:avLst/>
          </a:prstGeom>
          <a:noFill/>
          <a:ln/>
        </p:spPr>
        <p:txBody>
          <a:bodyPr wrap="square" lIns="0" tIns="0" rIns="0" bIns="0" rtlCol="0" anchor="ctr"/>
          <a:lstStyle/>
          <a:p>
            <a:pPr algn="ctr" indent="0" marL="0">
              <a:buNone/>
            </a:pPr>
            <a:r>
              <a:rPr lang="en-US" sz="1000" dirty="0">
                <a:solidFill>
                  <a:srgbClr val="9B8A6B"/>
                </a:solidFill>
                <a:latin typeface="Courier New" pitchFamily="34" charset="0"/>
                <a:ea typeface="Courier New" pitchFamily="34" charset="-122"/>
                <a:cs typeface="Courier New" pitchFamily="34" charset="-120"/>
              </a:rPr>
              <a:t>Contract  ·  Ab16ce5SDbibTbXevxHLpqUnUvu9tNkkpaJcSDvCpump</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PART MOST DECKS LEAVE OUT</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What we came through</a:t>
            </a:r>
            <a:endParaRPr lang="en-US" sz="3400" dirty="0"/>
          </a:p>
        </p:txBody>
      </p:sp>
      <p:sp>
        <p:nvSpPr>
          <p:cNvPr id="4" name="Text 2"/>
          <p:cNvSpPr/>
          <p:nvPr/>
        </p:nvSpPr>
        <p:spPr>
          <a:xfrm>
            <a:off x="640080" y="1536192"/>
            <a:ext cx="10881360" cy="365760"/>
          </a:xfrm>
          <a:prstGeom prst="rect">
            <a:avLst/>
          </a:prstGeom>
          <a:noFill/>
          <a:ln/>
        </p:spPr>
        <p:txBody>
          <a:bodyPr wrap="square" lIns="0" tIns="0" rIns="0" bIns="0" rtlCol="0" anchor="ctr"/>
          <a:lstStyle/>
          <a:p>
            <a:pPr indent="0" marL="0">
              <a:buNone/>
            </a:pPr>
            <a:r>
              <a:rPr lang="en-US" sz="1350" dirty="0">
                <a:solidFill>
                  <a:srgbClr val="9B8A6B"/>
                </a:solidFill>
                <a:latin typeface="Calibri" pitchFamily="34" charset="0"/>
                <a:ea typeface="Calibri" pitchFamily="34" charset="-122"/>
                <a:cs typeface="Calibri" pitchFamily="34" charset="-120"/>
              </a:rPr>
              <a:t>Every number on the previous slide is lower than it was in May. Here is why, said plainly, because you will find it anyway.</a:t>
            </a:r>
            <a:endParaRPr lang="en-US" sz="1350" dirty="0"/>
          </a:p>
        </p:txBody>
      </p:sp>
      <p:sp>
        <p:nvSpPr>
          <p:cNvPr id="5" name="Shape 3"/>
          <p:cNvSpPr/>
          <p:nvPr/>
        </p:nvSpPr>
        <p:spPr>
          <a:xfrm>
            <a:off x="640080" y="2057400"/>
            <a:ext cx="3520440" cy="2651760"/>
          </a:xfrm>
          <a:prstGeom prst="roundRect">
            <a:avLst>
              <a:gd name="adj" fmla="val 3448"/>
            </a:avLst>
          </a:prstGeom>
          <a:solidFill>
            <a:srgbClr val="241A0E"/>
          </a:solidFill>
          <a:ln w="12700">
            <a:solidFill>
              <a:srgbClr val="3A2C18"/>
            </a:solidFill>
            <a:prstDash val="solid"/>
          </a:ln>
        </p:spPr>
      </p:sp>
      <p:sp>
        <p:nvSpPr>
          <p:cNvPr id="6" name="Shape 4"/>
          <p:cNvSpPr/>
          <p:nvPr/>
        </p:nvSpPr>
        <p:spPr>
          <a:xfrm>
            <a:off x="877824" y="2295144"/>
            <a:ext cx="420624" cy="420624"/>
          </a:xfrm>
          <a:prstGeom prst="ellipse">
            <a:avLst/>
          </a:prstGeom>
          <a:solidFill>
            <a:srgbClr val="C8960A"/>
          </a:solidFill>
          <a:ln/>
        </p:spPr>
      </p:sp>
      <p:sp>
        <p:nvSpPr>
          <p:cNvPr id="7" name="Text 5"/>
          <p:cNvSpPr/>
          <p:nvPr/>
        </p:nvSpPr>
        <p:spPr>
          <a:xfrm>
            <a:off x="877824" y="229514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877824" y="278892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A founder account compromised</a:t>
            </a:r>
            <a:endParaRPr lang="en-US" sz="1500" dirty="0"/>
          </a:p>
        </p:txBody>
      </p:sp>
      <p:sp>
        <p:nvSpPr>
          <p:cNvPr id="9" name="Text 7"/>
          <p:cNvSpPr/>
          <p:nvPr/>
        </p:nvSpPr>
        <p:spPr>
          <a:xfrm>
            <a:off x="877824" y="3191256"/>
            <a:ext cx="3044952" cy="129844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One of the founding members had their account compromised. It was contained, but the damage to confidence was immediate and it showed on the chart within hours.</a:t>
            </a:r>
            <a:endParaRPr lang="en-US" sz="1150" dirty="0"/>
          </a:p>
        </p:txBody>
      </p:sp>
      <p:sp>
        <p:nvSpPr>
          <p:cNvPr id="10" name="Shape 8"/>
          <p:cNvSpPr/>
          <p:nvPr/>
        </p:nvSpPr>
        <p:spPr>
          <a:xfrm>
            <a:off x="4343400" y="2057400"/>
            <a:ext cx="3520440" cy="2651760"/>
          </a:xfrm>
          <a:prstGeom prst="roundRect">
            <a:avLst>
              <a:gd name="adj" fmla="val 3448"/>
            </a:avLst>
          </a:prstGeom>
          <a:solidFill>
            <a:srgbClr val="241A0E"/>
          </a:solidFill>
          <a:ln w="12700">
            <a:solidFill>
              <a:srgbClr val="3A2C18"/>
            </a:solidFill>
            <a:prstDash val="solid"/>
          </a:ln>
        </p:spPr>
      </p:sp>
      <p:sp>
        <p:nvSpPr>
          <p:cNvPr id="11" name="Shape 9"/>
          <p:cNvSpPr/>
          <p:nvPr/>
        </p:nvSpPr>
        <p:spPr>
          <a:xfrm>
            <a:off x="4581144" y="2295144"/>
            <a:ext cx="420624" cy="420624"/>
          </a:xfrm>
          <a:prstGeom prst="ellipse">
            <a:avLst/>
          </a:prstGeom>
          <a:solidFill>
            <a:srgbClr val="C8960A"/>
          </a:solidFill>
          <a:ln/>
        </p:spPr>
      </p:sp>
      <p:sp>
        <p:nvSpPr>
          <p:cNvPr id="12" name="Text 10"/>
          <p:cNvSpPr/>
          <p:nvPr/>
        </p:nvSpPr>
        <p:spPr>
          <a:xfrm>
            <a:off x="4581144" y="229514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4581144" y="278892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Two founders walked away</a:t>
            </a:r>
            <a:endParaRPr lang="en-US" sz="1500" dirty="0"/>
          </a:p>
        </p:txBody>
      </p:sp>
      <p:sp>
        <p:nvSpPr>
          <p:cNvPr id="14" name="Text 12"/>
          <p:cNvSpPr/>
          <p:nvPr/>
        </p:nvSpPr>
        <p:spPr>
          <a:xfrm>
            <a:off x="4581144" y="3191256"/>
            <a:ext cx="3044952" cy="129844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Two of the founding group chose to exit. People are allowed to leave. What matters is what the ones who stay do next.</a:t>
            </a:r>
            <a:endParaRPr lang="en-US" sz="1150" dirty="0"/>
          </a:p>
        </p:txBody>
      </p:sp>
      <p:sp>
        <p:nvSpPr>
          <p:cNvPr id="15" name="Shape 13"/>
          <p:cNvSpPr/>
          <p:nvPr/>
        </p:nvSpPr>
        <p:spPr>
          <a:xfrm>
            <a:off x="8046720" y="2057400"/>
            <a:ext cx="3474720" cy="2651760"/>
          </a:xfrm>
          <a:prstGeom prst="roundRect">
            <a:avLst>
              <a:gd name="adj" fmla="val 3448"/>
            </a:avLst>
          </a:prstGeom>
          <a:solidFill>
            <a:srgbClr val="241A0E"/>
          </a:solidFill>
          <a:ln w="12700">
            <a:solidFill>
              <a:srgbClr val="3A2C18"/>
            </a:solidFill>
            <a:prstDash val="solid"/>
          </a:ln>
        </p:spPr>
      </p:sp>
      <p:sp>
        <p:nvSpPr>
          <p:cNvPr id="16" name="Shape 14"/>
          <p:cNvSpPr/>
          <p:nvPr/>
        </p:nvSpPr>
        <p:spPr>
          <a:xfrm>
            <a:off x="8284464" y="2295144"/>
            <a:ext cx="420624" cy="420624"/>
          </a:xfrm>
          <a:prstGeom prst="ellipse">
            <a:avLst/>
          </a:prstGeom>
          <a:solidFill>
            <a:srgbClr val="C8960A"/>
          </a:solidFill>
          <a:ln/>
        </p:spPr>
      </p:sp>
      <p:sp>
        <p:nvSpPr>
          <p:cNvPr id="17" name="Text 15"/>
          <p:cNvSpPr/>
          <p:nvPr/>
        </p:nvSpPr>
        <p:spPr>
          <a:xfrm>
            <a:off x="8284464" y="229514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3</a:t>
            </a:r>
            <a:endParaRPr lang="en-US" sz="1400" dirty="0"/>
          </a:p>
        </p:txBody>
      </p:sp>
      <p:sp>
        <p:nvSpPr>
          <p:cNvPr id="18" name="Text 16"/>
          <p:cNvSpPr/>
          <p:nvPr/>
        </p:nvSpPr>
        <p:spPr>
          <a:xfrm>
            <a:off x="8284464" y="2788920"/>
            <a:ext cx="299923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token took the hit</a:t>
            </a:r>
            <a:endParaRPr lang="en-US" sz="1500" dirty="0"/>
          </a:p>
        </p:txBody>
      </p:sp>
      <p:sp>
        <p:nvSpPr>
          <p:cNvPr id="19" name="Text 17"/>
          <p:cNvSpPr/>
          <p:nvPr/>
        </p:nvSpPr>
        <p:spPr>
          <a:xfrm>
            <a:off x="8284464" y="3191256"/>
            <a:ext cx="2999232" cy="129844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Market cap fell hard and liquidity thinned. We did not pretend otherwise, and we did not go quiet while it happened.</a:t>
            </a:r>
            <a:endParaRPr lang="en-US" sz="1150" dirty="0"/>
          </a:p>
        </p:txBody>
      </p:sp>
      <p:sp>
        <p:nvSpPr>
          <p:cNvPr id="20" name="Shape 18"/>
          <p:cNvSpPr/>
          <p:nvPr/>
        </p:nvSpPr>
        <p:spPr>
          <a:xfrm>
            <a:off x="640080" y="4892040"/>
            <a:ext cx="10881360" cy="1417320"/>
          </a:xfrm>
          <a:prstGeom prst="roundRect">
            <a:avLst>
              <a:gd name="adj" fmla="val 6452"/>
            </a:avLst>
          </a:prstGeom>
          <a:solidFill>
            <a:srgbClr val="241A0E"/>
          </a:solidFill>
          <a:ln w="12700">
            <a:solidFill>
              <a:srgbClr val="3A2C18"/>
            </a:solidFill>
            <a:prstDash val="solid"/>
          </a:ln>
        </p:spPr>
      </p:sp>
      <p:sp>
        <p:nvSpPr>
          <p:cNvPr id="21" name="Text 19"/>
          <p:cNvSpPr/>
          <p:nvPr/>
        </p:nvSpPr>
        <p:spPr>
          <a:xfrm>
            <a:off x="877824" y="5111496"/>
            <a:ext cx="1040587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And here is what did not move</a:t>
            </a:r>
            <a:endParaRPr lang="en-US" sz="1500" dirty="0"/>
          </a:p>
        </p:txBody>
      </p:sp>
      <p:sp>
        <p:nvSpPr>
          <p:cNvPr id="22" name="Text 20"/>
          <p:cNvSpPr/>
          <p:nvPr/>
        </p:nvSpPr>
        <p:spPr>
          <a:xfrm>
            <a:off x="877824" y="5513832"/>
            <a:ext cx="10405872" cy="57607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contract was never touched. Liquidity is still burned and still cannot be pulled. Tax is still zero. The treasury kept adding up, the community stayed, the bot kept running, and the work carried on. A project is not the price of its token. It is whether anyone is still building on the bad weeks.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HOW IT IS BUILT</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The three layers</a:t>
            </a:r>
            <a:endParaRPr lang="en-US" sz="3400" dirty="0"/>
          </a:p>
        </p:txBody>
      </p:sp>
      <p:sp>
        <p:nvSpPr>
          <p:cNvPr id="4" name="Shape 2"/>
          <p:cNvSpPr/>
          <p:nvPr/>
        </p:nvSpPr>
        <p:spPr>
          <a:xfrm>
            <a:off x="640080" y="1737360"/>
            <a:ext cx="3520440" cy="3383280"/>
          </a:xfrm>
          <a:prstGeom prst="roundRect">
            <a:avLst>
              <a:gd name="adj" fmla="val 2703"/>
            </a:avLst>
          </a:prstGeom>
          <a:solidFill>
            <a:srgbClr val="241A0E"/>
          </a:solidFill>
          <a:ln w="12700">
            <a:solidFill>
              <a:srgbClr val="3A2C18"/>
            </a:solidFill>
            <a:prstDash val="solid"/>
          </a:ln>
        </p:spPr>
      </p:sp>
      <p:sp>
        <p:nvSpPr>
          <p:cNvPr id="5" name="Shape 3"/>
          <p:cNvSpPr/>
          <p:nvPr/>
        </p:nvSpPr>
        <p:spPr>
          <a:xfrm>
            <a:off x="877824" y="1975104"/>
            <a:ext cx="420624" cy="420624"/>
          </a:xfrm>
          <a:prstGeom prst="ellipse">
            <a:avLst/>
          </a:prstGeom>
          <a:solidFill>
            <a:srgbClr val="C8960A"/>
          </a:solidFill>
          <a:ln/>
        </p:spPr>
      </p:sp>
      <p:sp>
        <p:nvSpPr>
          <p:cNvPr id="6" name="Text 4"/>
          <p:cNvSpPr/>
          <p:nvPr/>
        </p:nvSpPr>
        <p:spPr>
          <a:xfrm>
            <a:off x="87782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877824" y="246888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Surface</a:t>
            </a:r>
            <a:endParaRPr lang="en-US" sz="1500" dirty="0"/>
          </a:p>
        </p:txBody>
      </p:sp>
      <p:sp>
        <p:nvSpPr>
          <p:cNvPr id="8" name="Text 6"/>
          <p:cNvSpPr/>
          <p:nvPr/>
        </p:nvSpPr>
        <p:spPr>
          <a:xfrm>
            <a:off x="877824" y="2871216"/>
            <a:ext cx="3044952" cy="202996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⚡ZAPP, the mascot, the community, and a small merch line.</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Fun, loud, and the doorway. It is how people find us, and it is the smallest part of the plan.</a:t>
            </a:r>
            <a:endParaRPr lang="en-US" sz="1150" dirty="0"/>
          </a:p>
        </p:txBody>
      </p:sp>
      <p:sp>
        <p:nvSpPr>
          <p:cNvPr id="9" name="Shape 7"/>
          <p:cNvSpPr/>
          <p:nvPr/>
        </p:nvSpPr>
        <p:spPr>
          <a:xfrm>
            <a:off x="4343400" y="1737360"/>
            <a:ext cx="3520440" cy="3383280"/>
          </a:xfrm>
          <a:prstGeom prst="roundRect">
            <a:avLst>
              <a:gd name="adj" fmla="val 2703"/>
            </a:avLst>
          </a:prstGeom>
          <a:solidFill>
            <a:srgbClr val="241A0E"/>
          </a:solidFill>
          <a:ln w="12700">
            <a:solidFill>
              <a:srgbClr val="3A2C18"/>
            </a:solidFill>
            <a:prstDash val="solid"/>
          </a:ln>
        </p:spPr>
      </p:sp>
      <p:sp>
        <p:nvSpPr>
          <p:cNvPr id="10" name="Shape 8"/>
          <p:cNvSpPr/>
          <p:nvPr/>
        </p:nvSpPr>
        <p:spPr>
          <a:xfrm>
            <a:off x="4581144" y="1975104"/>
            <a:ext cx="420624" cy="420624"/>
          </a:xfrm>
          <a:prstGeom prst="ellipse">
            <a:avLst/>
          </a:prstGeom>
          <a:solidFill>
            <a:srgbClr val="C8960A"/>
          </a:solidFill>
          <a:ln/>
        </p:spPr>
      </p:sp>
      <p:sp>
        <p:nvSpPr>
          <p:cNvPr id="11" name="Text 9"/>
          <p:cNvSpPr/>
          <p:nvPr/>
        </p:nvSpPr>
        <p:spPr>
          <a:xfrm>
            <a:off x="458114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4581144" y="246888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Engine</a:t>
            </a:r>
            <a:endParaRPr lang="en-US" sz="1500" dirty="0"/>
          </a:p>
        </p:txBody>
      </p:sp>
      <p:sp>
        <p:nvSpPr>
          <p:cNvPr id="13" name="Text 11"/>
          <p:cNvSpPr/>
          <p:nvPr/>
        </p:nvSpPr>
        <p:spPr>
          <a:xfrm>
            <a:off x="4581144" y="2871216"/>
            <a:ext cx="3044952" cy="202996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A public treasury, buyback, burn and locked liquidity.</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A floor that compounds on real money. This is what turns attention into something that outlives a cycle.</a:t>
            </a:r>
            <a:endParaRPr lang="en-US" sz="1150" dirty="0"/>
          </a:p>
        </p:txBody>
      </p:sp>
      <p:sp>
        <p:nvSpPr>
          <p:cNvPr id="14" name="Shape 12"/>
          <p:cNvSpPr/>
          <p:nvPr/>
        </p:nvSpPr>
        <p:spPr>
          <a:xfrm>
            <a:off x="8046720" y="1737360"/>
            <a:ext cx="3474720" cy="3383280"/>
          </a:xfrm>
          <a:prstGeom prst="roundRect">
            <a:avLst>
              <a:gd name="adj" fmla="val 2703"/>
            </a:avLst>
          </a:prstGeom>
          <a:solidFill>
            <a:srgbClr val="241A0E"/>
          </a:solidFill>
          <a:ln w="12700">
            <a:solidFill>
              <a:srgbClr val="3A2C18"/>
            </a:solidFill>
            <a:prstDash val="solid"/>
          </a:ln>
        </p:spPr>
      </p:sp>
      <p:sp>
        <p:nvSpPr>
          <p:cNvPr id="15" name="Shape 13"/>
          <p:cNvSpPr/>
          <p:nvPr/>
        </p:nvSpPr>
        <p:spPr>
          <a:xfrm>
            <a:off x="8284464" y="1975104"/>
            <a:ext cx="420624" cy="420624"/>
          </a:xfrm>
          <a:prstGeom prst="ellipse">
            <a:avLst/>
          </a:prstGeom>
          <a:solidFill>
            <a:srgbClr val="C8960A"/>
          </a:solidFill>
          <a:ln/>
        </p:spPr>
      </p:sp>
      <p:sp>
        <p:nvSpPr>
          <p:cNvPr id="16" name="Text 14"/>
          <p:cNvSpPr/>
          <p:nvPr/>
        </p:nvSpPr>
        <p:spPr>
          <a:xfrm>
            <a:off x="828446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8284464" y="2468880"/>
            <a:ext cx="299923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Mission</a:t>
            </a:r>
            <a:endParaRPr lang="en-US" sz="1500" dirty="0"/>
          </a:p>
        </p:txBody>
      </p:sp>
      <p:sp>
        <p:nvSpPr>
          <p:cNvPr id="18" name="Text 16"/>
          <p:cNvSpPr/>
          <p:nvPr/>
        </p:nvSpPr>
        <p:spPr>
          <a:xfrm>
            <a:off x="8284464" y="2871216"/>
            <a:ext cx="2999232" cy="202996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Free energy and real help, verifiable on chain.</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Ecovillages powered by sun and wind. The reason the other two layers exist at all.</a:t>
            </a:r>
            <a:endParaRPr lang="en-US" sz="1150" dirty="0"/>
          </a:p>
        </p:txBody>
      </p:sp>
      <p:sp>
        <p:nvSpPr>
          <p:cNvPr id="19" name="Text 17"/>
          <p:cNvSpPr/>
          <p:nvPr/>
        </p:nvSpPr>
        <p:spPr>
          <a:xfrm>
            <a:off x="640080" y="5349240"/>
            <a:ext cx="10881360" cy="365760"/>
          </a:xfrm>
          <a:prstGeom prst="rect">
            <a:avLst/>
          </a:prstGeom>
          <a:noFill/>
          <a:ln/>
        </p:spPr>
        <p:txBody>
          <a:bodyPr wrap="square" lIns="0" tIns="0" rIns="0" bIns="0" rtlCol="0" anchor="ctr"/>
          <a:lstStyle/>
          <a:p>
            <a:pPr algn="ctr" indent="0" marL="0">
              <a:buNone/>
            </a:pPr>
            <a:r>
              <a:rPr lang="en-US" sz="1500" i="1" dirty="0">
                <a:solidFill>
                  <a:srgbClr val="C8960A"/>
                </a:solidFill>
                <a:latin typeface="Cambria" pitchFamily="34" charset="0"/>
                <a:ea typeface="Cambria" pitchFamily="34" charset="-122"/>
                <a:cs typeface="Cambria" pitchFamily="34" charset="-120"/>
              </a:rPr>
              <a:t>The crowd only looks at the top. The engine and the mission carry the weight underneath.</a:t>
            </a:r>
            <a:endParaRPr lang="en-US" sz="1500" dirty="0"/>
          </a:p>
        </p:txBody>
      </p:sp>
      <p:sp>
        <p:nvSpPr>
          <p:cNvPr id="20" name="Text 18"/>
          <p:cNvSpPr/>
          <p:nvPr/>
        </p:nvSpPr>
        <p:spPr>
          <a:xfrm>
            <a:off x="640080" y="6382512"/>
            <a:ext cx="10881360" cy="274320"/>
          </a:xfrm>
          <a:prstGeom prst="rect">
            <a:avLst/>
          </a:prstGeom>
          <a:noFill/>
          <a:ln/>
        </p:spPr>
        <p:txBody>
          <a:bodyPr wrap="square" lIns="0" tIns="0" rIns="0" bIns="0" rtlCol="0" anchor="ctr"/>
          <a:lstStyle/>
          <a:p>
            <a:pPr algn="ctr" indent="0" marL="0">
              <a:buNone/>
            </a:pPr>
            <a:r>
              <a:rPr lang="en-US" sz="1000" dirty="0">
                <a:solidFill>
                  <a:srgbClr val="5E4C2E"/>
                </a:solidFill>
                <a:latin typeface="Calibri" pitchFamily="34" charset="0"/>
                <a:ea typeface="Calibri" pitchFamily="34" charset="-122"/>
                <a:cs typeface="Calibri" pitchFamily="34" charset="-120"/>
              </a:rPr>
              <a:t>3 · 6 · 9 ·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HEART OF IT</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The Floor Engine</a:t>
            </a:r>
            <a:endParaRPr lang="en-US" sz="3400" dirty="0"/>
          </a:p>
        </p:txBody>
      </p:sp>
      <p:sp>
        <p:nvSpPr>
          <p:cNvPr id="4" name="Text 2"/>
          <p:cNvSpPr/>
          <p:nvPr/>
        </p:nvSpPr>
        <p:spPr>
          <a:xfrm>
            <a:off x="640080" y="1554480"/>
            <a:ext cx="10881360" cy="411480"/>
          </a:xfrm>
          <a:prstGeom prst="rect">
            <a:avLst/>
          </a:prstGeom>
          <a:noFill/>
          <a:ln/>
        </p:spPr>
        <p:txBody>
          <a:bodyPr wrap="square" lIns="0" tIns="0" rIns="0" bIns="0" rtlCol="0" anchor="ctr"/>
          <a:lstStyle/>
          <a:p>
            <a:pPr algn="ctr" indent="0" marL="0">
              <a:buNone/>
            </a:pPr>
            <a:r>
              <a:rPr lang="en-US" sz="1500" b="1" dirty="0">
                <a:solidFill>
                  <a:srgbClr val="C8960A"/>
                </a:solidFill>
                <a:latin typeface="Courier New" pitchFamily="34" charset="0"/>
                <a:ea typeface="Courier New" pitchFamily="34" charset="-122"/>
                <a:cs typeface="Courier New" pitchFamily="34" charset="-120"/>
              </a:rPr>
              <a:t>value behind one coin  =  treasury value  ÷  number of coins</a:t>
            </a:r>
            <a:endParaRPr lang="en-US" sz="1500" dirty="0"/>
          </a:p>
        </p:txBody>
      </p:sp>
      <p:sp>
        <p:nvSpPr>
          <p:cNvPr id="5" name="Text 3"/>
          <p:cNvSpPr/>
          <p:nvPr/>
        </p:nvSpPr>
        <p:spPr>
          <a:xfrm>
            <a:off x="640080" y="2148840"/>
            <a:ext cx="4754880" cy="1828800"/>
          </a:xfrm>
          <a:prstGeom prst="rect">
            <a:avLst/>
          </a:prstGeom>
          <a:noFill/>
          <a:ln/>
        </p:spPr>
        <p:txBody>
          <a:bodyPr wrap="square" lIns="0" tIns="0" rIns="0" bIns="0" rtlCol="0" anchor="ctr"/>
          <a:lstStyle/>
          <a:p>
            <a:pPr indent="0" marL="0">
              <a:spcAft>
                <a:spcPts val="800"/>
              </a:spcAft>
              <a:buNone/>
            </a:pPr>
            <a:r>
              <a:rPr lang="en-US" sz="1300" dirty="0">
                <a:solidFill>
                  <a:srgbClr val="9B8A6B"/>
                </a:solidFill>
                <a:latin typeface="Calibri" pitchFamily="34" charset="0"/>
                <a:ea typeface="Calibri" pitchFamily="34" charset="-122"/>
                <a:cs typeface="Calibri" pitchFamily="34" charset="-120"/>
              </a:rPr>
              <a:t>Two honest ways to push it up, both paid by real money in.</a:t>
            </a:r>
            <a:endParaRPr lang="en-US" sz="1300" dirty="0"/>
          </a:p>
          <a:p>
            <a:pPr marL="342900" indent="-342900">
              <a:spcAft>
                <a:spcPts val="800"/>
              </a:spcAft>
              <a:buSzPct val="100000"/>
              <a:buChar char="•"/>
            </a:pPr>
            <a:r>
              <a:rPr lang="en-US" sz="1300" dirty="0">
                <a:solidFill>
                  <a:srgbClr val="9B8A6B"/>
                </a:solidFill>
                <a:latin typeface="Calibri" pitchFamily="34" charset="0"/>
                <a:ea typeface="Calibri" pitchFamily="34" charset="-122"/>
                <a:cs typeface="Calibri" pitchFamily="34" charset="-120"/>
              </a:rPr>
              <a:t>Grow the pot, so the top number rises.</a:t>
            </a:r>
            <a:endParaRPr lang="en-US" sz="1300" dirty="0"/>
          </a:p>
          <a:p>
            <a:pPr marL="342900" indent="-342900">
              <a:spcAft>
                <a:spcPts val="800"/>
              </a:spcAft>
              <a:buSzPct val="100000"/>
              <a:buChar char="•"/>
            </a:pPr>
            <a:r>
              <a:rPr lang="en-US" sz="1300" dirty="0">
                <a:solidFill>
                  <a:srgbClr val="9B8A6B"/>
                </a:solidFill>
                <a:latin typeface="Calibri" pitchFamily="34" charset="0"/>
                <a:ea typeface="Calibri" pitchFamily="34" charset="-122"/>
                <a:cs typeface="Calibri" pitchFamily="34" charset="-120"/>
              </a:rPr>
              <a:t>Buy coins back and remove them, so the bottom number falls.</a:t>
            </a:r>
            <a:endParaRPr lang="en-US" sz="1300" dirty="0"/>
          </a:p>
          <a:p>
            <a:pPr indent="0" marL="0">
              <a:spcAft>
                <a:spcPts val="800"/>
              </a:spcAft>
              <a:buNone/>
            </a:pPr>
            <a:r>
              <a:rPr lang="en-US" sz="1300" dirty="0">
                <a:solidFill>
                  <a:srgbClr val="9B8A6B"/>
                </a:solidFill>
                <a:latin typeface="Calibri" pitchFamily="34" charset="0"/>
                <a:ea typeface="Calibri" pitchFamily="34" charset="-122"/>
                <a:cs typeface="Calibri" pitchFamily="34" charset="-120"/>
              </a:rPr>
              <a:t>No trick anywhere. Anyone can audit the arithmetic.</a:t>
            </a:r>
            <a:endParaRPr lang="en-US" sz="1300" dirty="0"/>
          </a:p>
        </p:txBody>
      </p:sp>
      <p:sp>
        <p:nvSpPr>
          <p:cNvPr id="6" name="Shape 4"/>
          <p:cNvSpPr/>
          <p:nvPr/>
        </p:nvSpPr>
        <p:spPr>
          <a:xfrm>
            <a:off x="640080" y="4023360"/>
            <a:ext cx="4754880" cy="1828800"/>
          </a:xfrm>
          <a:prstGeom prst="roundRect">
            <a:avLst>
              <a:gd name="adj" fmla="val 5000"/>
            </a:avLst>
          </a:prstGeom>
          <a:solidFill>
            <a:srgbClr val="241A0E"/>
          </a:solidFill>
          <a:ln w="12700">
            <a:solidFill>
              <a:srgbClr val="3A2C18"/>
            </a:solidFill>
            <a:prstDash val="solid"/>
          </a:ln>
        </p:spPr>
      </p:sp>
      <p:sp>
        <p:nvSpPr>
          <p:cNvPr id="7" name="Text 5"/>
          <p:cNvSpPr/>
          <p:nvPr/>
        </p:nvSpPr>
        <p:spPr>
          <a:xfrm>
            <a:off x="877824" y="4242816"/>
            <a:ext cx="427939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pot is no longer empty</a:t>
            </a:r>
            <a:endParaRPr lang="en-US" sz="1500" dirty="0"/>
          </a:p>
        </p:txBody>
      </p:sp>
      <p:sp>
        <p:nvSpPr>
          <p:cNvPr id="8" name="Text 6"/>
          <p:cNvSpPr/>
          <p:nvPr/>
        </p:nvSpPr>
        <p:spPr>
          <a:xfrm>
            <a:off x="877824" y="4645152"/>
            <a:ext cx="4279392" cy="98755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treasury already holds about 3.69M ⚡ZAPP and is still adding up. The plan was written from zero and we are past that line. The curve is illustrative at about €3,000 a month of real revenue.</a:t>
            </a:r>
            <a:endParaRPr lang="en-US" sz="1150" dirty="0"/>
          </a:p>
        </p:txBody>
      </p:sp>
      <p:graphicFrame>
        <p:nvGraphicFramePr>
          <p:cNvPr id="9" name="Chart 0" descr=""/>
          <p:cNvGraphicFramePr/>
          <p:nvPr/>
        </p:nvGraphicFramePr>
        <p:xfrm>
          <a:off x="5852160" y="2057400"/>
          <a:ext cx="5669280" cy="38404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0% TAX · THE MONEY IS REAL</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Where every euro goes</a:t>
            </a:r>
            <a:endParaRPr lang="en-US" sz="3400" dirty="0"/>
          </a:p>
        </p:txBody>
      </p:sp>
      <p:sp>
        <p:nvSpPr>
          <p:cNvPr id="4" name="Shape 2"/>
          <p:cNvSpPr/>
          <p:nvPr/>
        </p:nvSpPr>
        <p:spPr>
          <a:xfrm>
            <a:off x="640080" y="1737360"/>
            <a:ext cx="2583180" cy="1371600"/>
          </a:xfrm>
          <a:prstGeom prst="roundRect">
            <a:avLst>
              <a:gd name="adj" fmla="val 6667"/>
            </a:avLst>
          </a:prstGeom>
          <a:solidFill>
            <a:srgbClr val="241A0E"/>
          </a:solidFill>
          <a:ln w="12700">
            <a:solidFill>
              <a:srgbClr val="3A2C18"/>
            </a:solidFill>
            <a:prstDash val="solid"/>
          </a:ln>
        </p:spPr>
      </p:sp>
      <p:sp>
        <p:nvSpPr>
          <p:cNvPr id="5" name="Text 3"/>
          <p:cNvSpPr/>
          <p:nvPr/>
        </p:nvSpPr>
        <p:spPr>
          <a:xfrm>
            <a:off x="640080" y="190195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40%</a:t>
            </a:r>
            <a:endParaRPr lang="en-US" sz="3000" dirty="0"/>
          </a:p>
        </p:txBody>
      </p:sp>
      <p:sp>
        <p:nvSpPr>
          <p:cNvPr id="6" name="Text 4"/>
          <p:cNvSpPr/>
          <p:nvPr/>
        </p:nvSpPr>
        <p:spPr>
          <a:xfrm>
            <a:off x="749808" y="257860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grows the treasury</a:t>
            </a:r>
            <a:endParaRPr lang="en-US" sz="1100" dirty="0"/>
          </a:p>
        </p:txBody>
      </p:sp>
      <p:sp>
        <p:nvSpPr>
          <p:cNvPr id="7" name="Shape 5"/>
          <p:cNvSpPr/>
          <p:nvPr/>
        </p:nvSpPr>
        <p:spPr>
          <a:xfrm>
            <a:off x="3406140" y="1737360"/>
            <a:ext cx="2583180" cy="1371600"/>
          </a:xfrm>
          <a:prstGeom prst="roundRect">
            <a:avLst>
              <a:gd name="adj" fmla="val 6667"/>
            </a:avLst>
          </a:prstGeom>
          <a:solidFill>
            <a:srgbClr val="241A0E"/>
          </a:solidFill>
          <a:ln w="12700">
            <a:solidFill>
              <a:srgbClr val="3A2C18"/>
            </a:solidFill>
            <a:prstDash val="solid"/>
          </a:ln>
        </p:spPr>
      </p:sp>
      <p:sp>
        <p:nvSpPr>
          <p:cNvPr id="8" name="Text 6"/>
          <p:cNvSpPr/>
          <p:nvPr/>
        </p:nvSpPr>
        <p:spPr>
          <a:xfrm>
            <a:off x="3406140" y="190195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30%</a:t>
            </a:r>
            <a:endParaRPr lang="en-US" sz="3000" dirty="0"/>
          </a:p>
        </p:txBody>
      </p:sp>
      <p:sp>
        <p:nvSpPr>
          <p:cNvPr id="9" name="Text 7"/>
          <p:cNvSpPr/>
          <p:nvPr/>
        </p:nvSpPr>
        <p:spPr>
          <a:xfrm>
            <a:off x="3515868" y="257860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buyback and burn</a:t>
            </a:r>
            <a:endParaRPr lang="en-US" sz="1100" dirty="0"/>
          </a:p>
        </p:txBody>
      </p:sp>
      <p:sp>
        <p:nvSpPr>
          <p:cNvPr id="10" name="Shape 8"/>
          <p:cNvSpPr/>
          <p:nvPr/>
        </p:nvSpPr>
        <p:spPr>
          <a:xfrm>
            <a:off x="6172200" y="1737360"/>
            <a:ext cx="2583180" cy="1371600"/>
          </a:xfrm>
          <a:prstGeom prst="roundRect">
            <a:avLst>
              <a:gd name="adj" fmla="val 6667"/>
            </a:avLst>
          </a:prstGeom>
          <a:solidFill>
            <a:srgbClr val="241A0E"/>
          </a:solidFill>
          <a:ln w="12700">
            <a:solidFill>
              <a:srgbClr val="3A2C18"/>
            </a:solidFill>
            <a:prstDash val="solid"/>
          </a:ln>
        </p:spPr>
      </p:sp>
      <p:sp>
        <p:nvSpPr>
          <p:cNvPr id="11" name="Text 9"/>
          <p:cNvSpPr/>
          <p:nvPr/>
        </p:nvSpPr>
        <p:spPr>
          <a:xfrm>
            <a:off x="6172200" y="190195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20%</a:t>
            </a:r>
            <a:endParaRPr lang="en-US" sz="3000" dirty="0"/>
          </a:p>
        </p:txBody>
      </p:sp>
      <p:sp>
        <p:nvSpPr>
          <p:cNvPr id="12" name="Text 10"/>
          <p:cNvSpPr/>
          <p:nvPr/>
        </p:nvSpPr>
        <p:spPr>
          <a:xfrm>
            <a:off x="6281928" y="257860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pays the people</a:t>
            </a:r>
            <a:endParaRPr lang="en-US" sz="1100" dirty="0"/>
          </a:p>
        </p:txBody>
      </p:sp>
      <p:sp>
        <p:nvSpPr>
          <p:cNvPr id="13" name="Shape 11"/>
          <p:cNvSpPr/>
          <p:nvPr/>
        </p:nvSpPr>
        <p:spPr>
          <a:xfrm>
            <a:off x="8938260" y="1737360"/>
            <a:ext cx="2583180" cy="1371600"/>
          </a:xfrm>
          <a:prstGeom prst="roundRect">
            <a:avLst>
              <a:gd name="adj" fmla="val 6667"/>
            </a:avLst>
          </a:prstGeom>
          <a:solidFill>
            <a:srgbClr val="241A0E"/>
          </a:solidFill>
          <a:ln w="12700">
            <a:solidFill>
              <a:srgbClr val="3A2C18"/>
            </a:solidFill>
            <a:prstDash val="solid"/>
          </a:ln>
        </p:spPr>
      </p:sp>
      <p:sp>
        <p:nvSpPr>
          <p:cNvPr id="14" name="Text 12"/>
          <p:cNvSpPr/>
          <p:nvPr/>
        </p:nvSpPr>
        <p:spPr>
          <a:xfrm>
            <a:off x="8938260" y="1901952"/>
            <a:ext cx="2583180" cy="658368"/>
          </a:xfrm>
          <a:prstGeom prst="rect">
            <a:avLst/>
          </a:prstGeom>
          <a:noFill/>
          <a:ln/>
        </p:spPr>
        <p:txBody>
          <a:bodyPr wrap="square" lIns="0" tIns="0" rIns="0" bIns="0" rtlCol="0" anchor="ctr"/>
          <a:lstStyle/>
          <a:p>
            <a:pPr algn="ctr" indent="0" marL="0">
              <a:buNone/>
            </a:pPr>
            <a:r>
              <a:rPr lang="en-US" sz="3000" b="1" dirty="0">
                <a:solidFill>
                  <a:srgbClr val="C8960A"/>
                </a:solidFill>
                <a:latin typeface="Cambria" pitchFamily="34" charset="0"/>
                <a:ea typeface="Cambria" pitchFamily="34" charset="-122"/>
                <a:cs typeface="Cambria" pitchFamily="34" charset="-120"/>
              </a:rPr>
              <a:t>10%</a:t>
            </a:r>
            <a:endParaRPr lang="en-US" sz="3000" dirty="0"/>
          </a:p>
        </p:txBody>
      </p:sp>
      <p:sp>
        <p:nvSpPr>
          <p:cNvPr id="15" name="Text 13"/>
          <p:cNvSpPr/>
          <p:nvPr/>
        </p:nvSpPr>
        <p:spPr>
          <a:xfrm>
            <a:off x="9047988" y="2578608"/>
            <a:ext cx="2363724" cy="438912"/>
          </a:xfrm>
          <a:prstGeom prst="rect">
            <a:avLst/>
          </a:prstGeom>
          <a:noFill/>
          <a:ln/>
        </p:spPr>
        <p:txBody>
          <a:bodyPr wrap="square" lIns="0" tIns="0" rIns="0" bIns="0" rtlCol="0" anchor="ctr"/>
          <a:lstStyle/>
          <a:p>
            <a:pPr algn="ctr" indent="0" marL="0">
              <a:buNone/>
            </a:pPr>
            <a:r>
              <a:rPr lang="en-US" sz="1100" dirty="0">
                <a:solidFill>
                  <a:srgbClr val="9B8A6B"/>
                </a:solidFill>
                <a:latin typeface="Calibri" pitchFamily="34" charset="0"/>
                <a:ea typeface="Calibri" pitchFamily="34" charset="-122"/>
                <a:cs typeface="Calibri" pitchFamily="34" charset="-120"/>
              </a:rPr>
              <a:t>the cause and costs</a:t>
            </a:r>
            <a:endParaRPr lang="en-US" sz="1100" dirty="0"/>
          </a:p>
        </p:txBody>
      </p:sp>
      <p:sp>
        <p:nvSpPr>
          <p:cNvPr id="16" name="Shape 14"/>
          <p:cNvSpPr/>
          <p:nvPr/>
        </p:nvSpPr>
        <p:spPr>
          <a:xfrm>
            <a:off x="640080" y="3383280"/>
            <a:ext cx="3520440" cy="2331720"/>
          </a:xfrm>
          <a:prstGeom prst="roundRect">
            <a:avLst>
              <a:gd name="adj" fmla="val 3922"/>
            </a:avLst>
          </a:prstGeom>
          <a:solidFill>
            <a:srgbClr val="241A0E"/>
          </a:solidFill>
          <a:ln w="12700">
            <a:solidFill>
              <a:srgbClr val="3A2C18"/>
            </a:solidFill>
            <a:prstDash val="solid"/>
          </a:ln>
        </p:spPr>
      </p:sp>
      <p:sp>
        <p:nvSpPr>
          <p:cNvPr id="17" name="Shape 15"/>
          <p:cNvSpPr/>
          <p:nvPr/>
        </p:nvSpPr>
        <p:spPr>
          <a:xfrm>
            <a:off x="877824" y="3621024"/>
            <a:ext cx="420624" cy="420624"/>
          </a:xfrm>
          <a:prstGeom prst="ellipse">
            <a:avLst/>
          </a:prstGeom>
          <a:solidFill>
            <a:srgbClr val="C8960A"/>
          </a:solidFill>
          <a:ln/>
        </p:spPr>
      </p:sp>
      <p:sp>
        <p:nvSpPr>
          <p:cNvPr id="18" name="Text 16"/>
          <p:cNvSpPr/>
          <p:nvPr/>
        </p:nvSpPr>
        <p:spPr>
          <a:xfrm>
            <a:off x="877824" y="362102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9" name="Text 17"/>
          <p:cNvSpPr/>
          <p:nvPr/>
        </p:nvSpPr>
        <p:spPr>
          <a:xfrm>
            <a:off x="877824" y="411480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double burn</a:t>
            </a:r>
            <a:endParaRPr lang="en-US" sz="1500" dirty="0"/>
          </a:p>
        </p:txBody>
      </p:sp>
      <p:sp>
        <p:nvSpPr>
          <p:cNvPr id="20" name="Text 18"/>
          <p:cNvSpPr/>
          <p:nvPr/>
        </p:nvSpPr>
        <p:spPr>
          <a:xfrm>
            <a:off x="877824" y="4517136"/>
            <a:ext cx="3044952" cy="97840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Bought coins go down one of two drains. Burned to null, gone forever, so the floor rises. Or locked into liquidity, so the market gets deeper and can never be pulled.</a:t>
            </a:r>
            <a:endParaRPr lang="en-US" sz="1150" dirty="0"/>
          </a:p>
        </p:txBody>
      </p:sp>
      <p:sp>
        <p:nvSpPr>
          <p:cNvPr id="21" name="Shape 19"/>
          <p:cNvSpPr/>
          <p:nvPr/>
        </p:nvSpPr>
        <p:spPr>
          <a:xfrm>
            <a:off x="4343400" y="3383280"/>
            <a:ext cx="3520440" cy="2331720"/>
          </a:xfrm>
          <a:prstGeom prst="roundRect">
            <a:avLst>
              <a:gd name="adj" fmla="val 3922"/>
            </a:avLst>
          </a:prstGeom>
          <a:solidFill>
            <a:srgbClr val="241A0E"/>
          </a:solidFill>
          <a:ln w="12700">
            <a:solidFill>
              <a:srgbClr val="3A2C18"/>
            </a:solidFill>
            <a:prstDash val="solid"/>
          </a:ln>
        </p:spPr>
      </p:sp>
      <p:sp>
        <p:nvSpPr>
          <p:cNvPr id="22" name="Shape 20"/>
          <p:cNvSpPr/>
          <p:nvPr/>
        </p:nvSpPr>
        <p:spPr>
          <a:xfrm>
            <a:off x="4581144" y="3621024"/>
            <a:ext cx="420624" cy="420624"/>
          </a:xfrm>
          <a:prstGeom prst="ellipse">
            <a:avLst/>
          </a:prstGeom>
          <a:solidFill>
            <a:srgbClr val="C8960A"/>
          </a:solidFill>
          <a:ln/>
        </p:spPr>
      </p:sp>
      <p:sp>
        <p:nvSpPr>
          <p:cNvPr id="23" name="Text 21"/>
          <p:cNvSpPr/>
          <p:nvPr/>
        </p:nvSpPr>
        <p:spPr>
          <a:xfrm>
            <a:off x="4581144" y="362102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24" name="Text 22"/>
          <p:cNvSpPr/>
          <p:nvPr/>
        </p:nvSpPr>
        <p:spPr>
          <a:xfrm>
            <a:off x="4581144" y="411480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Why it sums to two</a:t>
            </a:r>
            <a:endParaRPr lang="en-US" sz="1500" dirty="0"/>
          </a:p>
        </p:txBody>
      </p:sp>
      <p:sp>
        <p:nvSpPr>
          <p:cNvPr id="25" name="Text 23"/>
          <p:cNvSpPr/>
          <p:nvPr/>
        </p:nvSpPr>
        <p:spPr>
          <a:xfrm>
            <a:off x="4581144" y="4517136"/>
            <a:ext cx="3044952" cy="97840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1 + ½ + ¼ + ⅛ … = 2. Recycle a share each cycle and it settles instead of exploding. The part not recycled, paying people and funding the cause, is what keeps the maths honest.</a:t>
            </a:r>
            <a:endParaRPr lang="en-US" sz="1150" dirty="0"/>
          </a:p>
        </p:txBody>
      </p:sp>
      <p:sp>
        <p:nvSpPr>
          <p:cNvPr id="26" name="Shape 24"/>
          <p:cNvSpPr/>
          <p:nvPr/>
        </p:nvSpPr>
        <p:spPr>
          <a:xfrm>
            <a:off x="8046720" y="3383280"/>
            <a:ext cx="3474720" cy="2331720"/>
          </a:xfrm>
          <a:prstGeom prst="roundRect">
            <a:avLst>
              <a:gd name="adj" fmla="val 3922"/>
            </a:avLst>
          </a:prstGeom>
          <a:solidFill>
            <a:srgbClr val="241A0E"/>
          </a:solidFill>
          <a:ln w="12700">
            <a:solidFill>
              <a:srgbClr val="3A2C18"/>
            </a:solidFill>
            <a:prstDash val="solid"/>
          </a:ln>
        </p:spPr>
      </p:sp>
      <p:sp>
        <p:nvSpPr>
          <p:cNvPr id="27" name="Shape 25"/>
          <p:cNvSpPr/>
          <p:nvPr/>
        </p:nvSpPr>
        <p:spPr>
          <a:xfrm>
            <a:off x="8284464" y="3621024"/>
            <a:ext cx="420624" cy="420624"/>
          </a:xfrm>
          <a:prstGeom prst="ellipse">
            <a:avLst/>
          </a:prstGeom>
          <a:solidFill>
            <a:srgbClr val="C8960A"/>
          </a:solidFill>
          <a:ln/>
        </p:spPr>
      </p:sp>
      <p:sp>
        <p:nvSpPr>
          <p:cNvPr id="28" name="Text 26"/>
          <p:cNvSpPr/>
          <p:nvPr/>
        </p:nvSpPr>
        <p:spPr>
          <a:xfrm>
            <a:off x="8284464" y="362102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29" name="Text 27"/>
          <p:cNvSpPr/>
          <p:nvPr/>
        </p:nvSpPr>
        <p:spPr>
          <a:xfrm>
            <a:off x="8284464" y="4114800"/>
            <a:ext cx="299923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Reward the givers</a:t>
            </a:r>
            <a:endParaRPr lang="en-US" sz="1500" dirty="0"/>
          </a:p>
        </p:txBody>
      </p:sp>
      <p:sp>
        <p:nvSpPr>
          <p:cNvPr id="30" name="Text 28"/>
          <p:cNvSpPr/>
          <p:nvPr/>
        </p:nvSpPr>
        <p:spPr>
          <a:xfrm>
            <a:off x="8284464" y="4517136"/>
            <a:ext cx="2999232" cy="97840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You earn by giving value, never by depositing money. A reputation you cannot buy or fake. Reward what people do, never how much they hold.</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ONLY THREE THINGS A STRANGER CAN CHECK</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Speed, trust, transparency</a:t>
            </a:r>
            <a:endParaRPr lang="en-US" sz="3400" dirty="0"/>
          </a:p>
        </p:txBody>
      </p:sp>
      <p:sp>
        <p:nvSpPr>
          <p:cNvPr id="4" name="Shape 2"/>
          <p:cNvSpPr/>
          <p:nvPr/>
        </p:nvSpPr>
        <p:spPr>
          <a:xfrm>
            <a:off x="640080" y="1737360"/>
            <a:ext cx="3520440" cy="3749040"/>
          </a:xfrm>
          <a:prstGeom prst="roundRect">
            <a:avLst>
              <a:gd name="adj" fmla="val 2597"/>
            </a:avLst>
          </a:prstGeom>
          <a:solidFill>
            <a:srgbClr val="241A0E"/>
          </a:solidFill>
          <a:ln w="12700">
            <a:solidFill>
              <a:srgbClr val="3A2C18"/>
            </a:solidFill>
            <a:prstDash val="solid"/>
          </a:ln>
        </p:spPr>
      </p:sp>
      <p:sp>
        <p:nvSpPr>
          <p:cNvPr id="5" name="Shape 3"/>
          <p:cNvSpPr/>
          <p:nvPr/>
        </p:nvSpPr>
        <p:spPr>
          <a:xfrm>
            <a:off x="877824" y="1975104"/>
            <a:ext cx="420624" cy="420624"/>
          </a:xfrm>
          <a:prstGeom prst="ellipse">
            <a:avLst/>
          </a:prstGeom>
          <a:solidFill>
            <a:srgbClr val="C8960A"/>
          </a:solidFill>
          <a:ln/>
        </p:spPr>
      </p:sp>
      <p:sp>
        <p:nvSpPr>
          <p:cNvPr id="6" name="Text 4"/>
          <p:cNvSpPr/>
          <p:nvPr/>
        </p:nvSpPr>
        <p:spPr>
          <a:xfrm>
            <a:off x="87782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7" name="Text 5"/>
          <p:cNvSpPr/>
          <p:nvPr/>
        </p:nvSpPr>
        <p:spPr>
          <a:xfrm>
            <a:off x="877824" y="246888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Speed</a:t>
            </a:r>
            <a:endParaRPr lang="en-US" sz="1500" dirty="0"/>
          </a:p>
        </p:txBody>
      </p:sp>
      <p:sp>
        <p:nvSpPr>
          <p:cNvPr id="8" name="Text 6"/>
          <p:cNvSpPr/>
          <p:nvPr/>
        </p:nvSpPr>
        <p:spPr>
          <a:xfrm>
            <a:off x="877824" y="2871216"/>
            <a:ext cx="3044952" cy="239572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Solana settles in under a second for a fraction of a cent, with Proof of History keeping verifiable time.</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That is what makes constant transparent buybacks and a daily dollar possible at all. On a slow chain the fees would eat the whole idea.</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Money should move at the speed of light, because money is energy.</a:t>
            </a:r>
            <a:endParaRPr lang="en-US" sz="1150" dirty="0"/>
          </a:p>
        </p:txBody>
      </p:sp>
      <p:sp>
        <p:nvSpPr>
          <p:cNvPr id="9" name="Shape 7"/>
          <p:cNvSpPr/>
          <p:nvPr/>
        </p:nvSpPr>
        <p:spPr>
          <a:xfrm>
            <a:off x="4343400" y="1737360"/>
            <a:ext cx="3520440" cy="3749040"/>
          </a:xfrm>
          <a:prstGeom prst="roundRect">
            <a:avLst>
              <a:gd name="adj" fmla="val 2597"/>
            </a:avLst>
          </a:prstGeom>
          <a:solidFill>
            <a:srgbClr val="241A0E"/>
          </a:solidFill>
          <a:ln w="12700">
            <a:solidFill>
              <a:srgbClr val="3A2C18"/>
            </a:solidFill>
            <a:prstDash val="solid"/>
          </a:ln>
        </p:spPr>
      </p:sp>
      <p:sp>
        <p:nvSpPr>
          <p:cNvPr id="10" name="Shape 8"/>
          <p:cNvSpPr/>
          <p:nvPr/>
        </p:nvSpPr>
        <p:spPr>
          <a:xfrm>
            <a:off x="4581144" y="1975104"/>
            <a:ext cx="420624" cy="420624"/>
          </a:xfrm>
          <a:prstGeom prst="ellipse">
            <a:avLst/>
          </a:prstGeom>
          <a:solidFill>
            <a:srgbClr val="C8960A"/>
          </a:solidFill>
          <a:ln/>
        </p:spPr>
      </p:sp>
      <p:sp>
        <p:nvSpPr>
          <p:cNvPr id="11" name="Text 9"/>
          <p:cNvSpPr/>
          <p:nvPr/>
        </p:nvSpPr>
        <p:spPr>
          <a:xfrm>
            <a:off x="458114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2" name="Text 10"/>
          <p:cNvSpPr/>
          <p:nvPr/>
        </p:nvSpPr>
        <p:spPr>
          <a:xfrm>
            <a:off x="4581144" y="2468880"/>
            <a:ext cx="30449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Trust</a:t>
            </a:r>
            <a:endParaRPr lang="en-US" sz="1500" dirty="0"/>
          </a:p>
        </p:txBody>
      </p:sp>
      <p:sp>
        <p:nvSpPr>
          <p:cNvPr id="13" name="Text 11"/>
          <p:cNvSpPr/>
          <p:nvPr/>
        </p:nvSpPr>
        <p:spPr>
          <a:xfrm>
            <a:off x="4581144" y="2871216"/>
            <a:ext cx="3044952" cy="239572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Liquidity burned. Zero tax. A public contract anyone can read.</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We do not ask anyone to believe us. Every claim here resolves to something on chain that a stranger can verify without our permission.</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Trust that has to be requested is not trust. It is marketing.</a:t>
            </a:r>
            <a:endParaRPr lang="en-US" sz="1150" dirty="0"/>
          </a:p>
        </p:txBody>
      </p:sp>
      <p:sp>
        <p:nvSpPr>
          <p:cNvPr id="14" name="Shape 12"/>
          <p:cNvSpPr/>
          <p:nvPr/>
        </p:nvSpPr>
        <p:spPr>
          <a:xfrm>
            <a:off x="8046720" y="1737360"/>
            <a:ext cx="3474720" cy="3749040"/>
          </a:xfrm>
          <a:prstGeom prst="roundRect">
            <a:avLst>
              <a:gd name="adj" fmla="val 2632"/>
            </a:avLst>
          </a:prstGeom>
          <a:solidFill>
            <a:srgbClr val="241A0E"/>
          </a:solidFill>
          <a:ln w="12700">
            <a:solidFill>
              <a:srgbClr val="3A2C18"/>
            </a:solidFill>
            <a:prstDash val="solid"/>
          </a:ln>
        </p:spPr>
      </p:sp>
      <p:sp>
        <p:nvSpPr>
          <p:cNvPr id="15" name="Shape 13"/>
          <p:cNvSpPr/>
          <p:nvPr/>
        </p:nvSpPr>
        <p:spPr>
          <a:xfrm>
            <a:off x="8284464" y="1975104"/>
            <a:ext cx="420624" cy="420624"/>
          </a:xfrm>
          <a:prstGeom prst="ellipse">
            <a:avLst/>
          </a:prstGeom>
          <a:solidFill>
            <a:srgbClr val="C8960A"/>
          </a:solidFill>
          <a:ln/>
        </p:spPr>
      </p:sp>
      <p:sp>
        <p:nvSpPr>
          <p:cNvPr id="16" name="Text 14"/>
          <p:cNvSpPr/>
          <p:nvPr/>
        </p:nvSpPr>
        <p:spPr>
          <a:xfrm>
            <a:off x="828446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7" name="Text 15"/>
          <p:cNvSpPr/>
          <p:nvPr/>
        </p:nvSpPr>
        <p:spPr>
          <a:xfrm>
            <a:off x="8284464" y="2468880"/>
            <a:ext cx="299923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Transparency</a:t>
            </a:r>
            <a:endParaRPr lang="en-US" sz="1500" dirty="0"/>
          </a:p>
        </p:txBody>
      </p:sp>
      <p:sp>
        <p:nvSpPr>
          <p:cNvPr id="18" name="Text 16"/>
          <p:cNvSpPr/>
          <p:nvPr/>
        </p:nvSpPr>
        <p:spPr>
          <a:xfrm>
            <a:off x="8284464" y="2871216"/>
            <a:ext cx="2999232" cy="239572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A public treasury, a written public policy, and books that stay open.</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We publish the misses too. The founder account, the founders who left, the chart. All of it is on the record.</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A roadmap that records only wins is a sales page.</a:t>
            </a:r>
            <a:endParaRPr lang="en-US" sz="1150" dirty="0"/>
          </a:p>
        </p:txBody>
      </p:sp>
      <p:sp>
        <p:nvSpPr>
          <p:cNvPr id="19" name="Text 17"/>
          <p:cNvSpPr/>
          <p:nvPr/>
        </p:nvSpPr>
        <p:spPr>
          <a:xfrm>
            <a:off x="640080" y="6382512"/>
            <a:ext cx="10881360" cy="274320"/>
          </a:xfrm>
          <a:prstGeom prst="rect">
            <a:avLst/>
          </a:prstGeom>
          <a:noFill/>
          <a:ln/>
        </p:spPr>
        <p:txBody>
          <a:bodyPr wrap="square" lIns="0" tIns="0" rIns="0" bIns="0" rtlCol="0" anchor="ctr"/>
          <a:lstStyle/>
          <a:p>
            <a:pPr algn="ctr" indent="0" marL="0">
              <a:buNone/>
            </a:pPr>
            <a:r>
              <a:rPr lang="en-US" sz="1000" dirty="0">
                <a:solidFill>
                  <a:srgbClr val="5E4C2E"/>
                </a:solidFill>
                <a:latin typeface="Calibri" pitchFamily="34" charset="0"/>
                <a:ea typeface="Calibri" pitchFamily="34" charset="-122"/>
                <a:cs typeface="Calibri" pitchFamily="34" charset="-120"/>
              </a:rPr>
              <a:t>3 · 6 · 9 · ∞</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SIX CHANNELS, ONE FREQUENCY</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The community</a:t>
            </a:r>
            <a:endParaRPr lang="en-US" sz="3400" dirty="0"/>
          </a:p>
        </p:txBody>
      </p:sp>
      <p:sp>
        <p:nvSpPr>
          <p:cNvPr id="4" name="Shape 2"/>
          <p:cNvSpPr/>
          <p:nvPr/>
        </p:nvSpPr>
        <p:spPr>
          <a:xfrm>
            <a:off x="640080" y="1737360"/>
            <a:ext cx="1673352" cy="2697480"/>
          </a:xfrm>
          <a:prstGeom prst="roundRect">
            <a:avLst>
              <a:gd name="adj" fmla="val 5464"/>
            </a:avLst>
          </a:prstGeom>
          <a:solidFill>
            <a:srgbClr val="241A0E"/>
          </a:solidFill>
          <a:ln w="12700">
            <a:solidFill>
              <a:srgbClr val="3A2C18"/>
            </a:solidFill>
            <a:prstDash val="solid"/>
          </a:ln>
        </p:spPr>
      </p:sp>
      <p:sp>
        <p:nvSpPr>
          <p:cNvPr id="5" name="Text 3"/>
          <p:cNvSpPr/>
          <p:nvPr/>
        </p:nvSpPr>
        <p:spPr>
          <a:xfrm>
            <a:off x="877824" y="1956816"/>
            <a:ext cx="1197864"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Telegram</a:t>
            </a:r>
            <a:endParaRPr lang="en-US" sz="1500" dirty="0"/>
          </a:p>
        </p:txBody>
      </p:sp>
      <p:sp>
        <p:nvSpPr>
          <p:cNvPr id="6" name="Text 4"/>
          <p:cNvSpPr/>
          <p:nvPr/>
        </p:nvSpPr>
        <p:spPr>
          <a:xfrm>
            <a:off x="877824" y="2359152"/>
            <a:ext cx="1197864" cy="185623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t.me/ZAPP369</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home room, run by our own bot</a:t>
            </a:r>
            <a:endParaRPr lang="en-US" sz="1150" dirty="0"/>
          </a:p>
        </p:txBody>
      </p:sp>
      <p:sp>
        <p:nvSpPr>
          <p:cNvPr id="7" name="Shape 5"/>
          <p:cNvSpPr/>
          <p:nvPr/>
        </p:nvSpPr>
        <p:spPr>
          <a:xfrm>
            <a:off x="2468880" y="1737360"/>
            <a:ext cx="1673352" cy="2697480"/>
          </a:xfrm>
          <a:prstGeom prst="roundRect">
            <a:avLst>
              <a:gd name="adj" fmla="val 5464"/>
            </a:avLst>
          </a:prstGeom>
          <a:solidFill>
            <a:srgbClr val="241A0E"/>
          </a:solidFill>
          <a:ln w="12700">
            <a:solidFill>
              <a:srgbClr val="3A2C18"/>
            </a:solidFill>
            <a:prstDash val="solid"/>
          </a:ln>
        </p:spPr>
      </p:sp>
      <p:sp>
        <p:nvSpPr>
          <p:cNvPr id="8" name="Text 6"/>
          <p:cNvSpPr/>
          <p:nvPr/>
        </p:nvSpPr>
        <p:spPr>
          <a:xfrm>
            <a:off x="2706624" y="1956816"/>
            <a:ext cx="1197864"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X</a:t>
            </a:r>
            <a:endParaRPr lang="en-US" sz="1500" dirty="0"/>
          </a:p>
        </p:txBody>
      </p:sp>
      <p:sp>
        <p:nvSpPr>
          <p:cNvPr id="9" name="Text 7"/>
          <p:cNvSpPr/>
          <p:nvPr/>
        </p:nvSpPr>
        <p:spPr>
          <a:xfrm>
            <a:off x="2706624" y="2359152"/>
            <a:ext cx="1197864" cy="185623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@ZAPPonSOL</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signal, daily</a:t>
            </a:r>
            <a:endParaRPr lang="en-US" sz="1150" dirty="0"/>
          </a:p>
        </p:txBody>
      </p:sp>
      <p:sp>
        <p:nvSpPr>
          <p:cNvPr id="10" name="Shape 8"/>
          <p:cNvSpPr/>
          <p:nvPr/>
        </p:nvSpPr>
        <p:spPr>
          <a:xfrm>
            <a:off x="4297680" y="1737360"/>
            <a:ext cx="1673352" cy="2697480"/>
          </a:xfrm>
          <a:prstGeom prst="roundRect">
            <a:avLst>
              <a:gd name="adj" fmla="val 5464"/>
            </a:avLst>
          </a:prstGeom>
          <a:solidFill>
            <a:srgbClr val="241A0E"/>
          </a:solidFill>
          <a:ln w="12700">
            <a:solidFill>
              <a:srgbClr val="3A2C18"/>
            </a:solidFill>
            <a:prstDash val="solid"/>
          </a:ln>
        </p:spPr>
      </p:sp>
      <p:sp>
        <p:nvSpPr>
          <p:cNvPr id="11" name="Text 9"/>
          <p:cNvSpPr/>
          <p:nvPr/>
        </p:nvSpPr>
        <p:spPr>
          <a:xfrm>
            <a:off x="4535424" y="1956816"/>
            <a:ext cx="1197864"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Instagram</a:t>
            </a:r>
            <a:endParaRPr lang="en-US" sz="1500" dirty="0"/>
          </a:p>
        </p:txBody>
      </p:sp>
      <p:sp>
        <p:nvSpPr>
          <p:cNvPr id="12" name="Text 10"/>
          <p:cNvSpPr/>
          <p:nvPr/>
        </p:nvSpPr>
        <p:spPr>
          <a:xfrm>
            <a:off x="4535424" y="2359152"/>
            <a:ext cx="1197864" cy="185623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zapp369.energy</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mascot and the story</a:t>
            </a:r>
            <a:endParaRPr lang="en-US" sz="1150" dirty="0"/>
          </a:p>
        </p:txBody>
      </p:sp>
      <p:sp>
        <p:nvSpPr>
          <p:cNvPr id="13" name="Shape 11"/>
          <p:cNvSpPr/>
          <p:nvPr/>
        </p:nvSpPr>
        <p:spPr>
          <a:xfrm>
            <a:off x="6126480" y="1737360"/>
            <a:ext cx="1673352" cy="2697480"/>
          </a:xfrm>
          <a:prstGeom prst="roundRect">
            <a:avLst>
              <a:gd name="adj" fmla="val 5464"/>
            </a:avLst>
          </a:prstGeom>
          <a:solidFill>
            <a:srgbClr val="241A0E"/>
          </a:solidFill>
          <a:ln w="12700">
            <a:solidFill>
              <a:srgbClr val="3A2C18"/>
            </a:solidFill>
            <a:prstDash val="solid"/>
          </a:ln>
        </p:spPr>
      </p:sp>
      <p:sp>
        <p:nvSpPr>
          <p:cNvPr id="14" name="Text 12"/>
          <p:cNvSpPr/>
          <p:nvPr/>
        </p:nvSpPr>
        <p:spPr>
          <a:xfrm>
            <a:off x="6364224" y="1956816"/>
            <a:ext cx="1197864"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TikTok</a:t>
            </a:r>
            <a:endParaRPr lang="en-US" sz="1500" dirty="0"/>
          </a:p>
        </p:txBody>
      </p:sp>
      <p:sp>
        <p:nvSpPr>
          <p:cNvPr id="15" name="Text 13"/>
          <p:cNvSpPr/>
          <p:nvPr/>
        </p:nvSpPr>
        <p:spPr>
          <a:xfrm>
            <a:off x="6364224" y="2359152"/>
            <a:ext cx="1197864" cy="185623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@zapp369.energy</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over a million views</a:t>
            </a:r>
            <a:endParaRPr lang="en-US" sz="1150" dirty="0"/>
          </a:p>
        </p:txBody>
      </p:sp>
      <p:sp>
        <p:nvSpPr>
          <p:cNvPr id="16" name="Shape 14"/>
          <p:cNvSpPr/>
          <p:nvPr/>
        </p:nvSpPr>
        <p:spPr>
          <a:xfrm>
            <a:off x="7955280" y="1737360"/>
            <a:ext cx="1673352" cy="2697480"/>
          </a:xfrm>
          <a:prstGeom prst="roundRect">
            <a:avLst>
              <a:gd name="adj" fmla="val 5464"/>
            </a:avLst>
          </a:prstGeom>
          <a:solidFill>
            <a:srgbClr val="241A0E"/>
          </a:solidFill>
          <a:ln w="12700">
            <a:solidFill>
              <a:srgbClr val="3A2C18"/>
            </a:solidFill>
            <a:prstDash val="solid"/>
          </a:ln>
        </p:spPr>
      </p:sp>
      <p:sp>
        <p:nvSpPr>
          <p:cNvPr id="17" name="Text 15"/>
          <p:cNvSpPr/>
          <p:nvPr/>
        </p:nvSpPr>
        <p:spPr>
          <a:xfrm>
            <a:off x="8193024" y="1956816"/>
            <a:ext cx="1197864"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Discord</a:t>
            </a:r>
            <a:endParaRPr lang="en-US" sz="1500" dirty="0"/>
          </a:p>
        </p:txBody>
      </p:sp>
      <p:sp>
        <p:nvSpPr>
          <p:cNvPr id="18" name="Text 16"/>
          <p:cNvSpPr/>
          <p:nvPr/>
        </p:nvSpPr>
        <p:spPr>
          <a:xfrm>
            <a:off x="8193024" y="2359152"/>
            <a:ext cx="1197864" cy="185623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discord.gg/ZJexVs3HaJ</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builders room</a:t>
            </a:r>
            <a:endParaRPr lang="en-US" sz="1150" dirty="0"/>
          </a:p>
        </p:txBody>
      </p:sp>
      <p:sp>
        <p:nvSpPr>
          <p:cNvPr id="19" name="Shape 17"/>
          <p:cNvSpPr/>
          <p:nvPr/>
        </p:nvSpPr>
        <p:spPr>
          <a:xfrm>
            <a:off x="9784080" y="1737360"/>
            <a:ext cx="1673352" cy="2697480"/>
          </a:xfrm>
          <a:prstGeom prst="roundRect">
            <a:avLst>
              <a:gd name="adj" fmla="val 5464"/>
            </a:avLst>
          </a:prstGeom>
          <a:solidFill>
            <a:srgbClr val="241A0E"/>
          </a:solidFill>
          <a:ln w="12700">
            <a:solidFill>
              <a:srgbClr val="3A2C18"/>
            </a:solidFill>
            <a:prstDash val="solid"/>
          </a:ln>
        </p:spPr>
      </p:sp>
      <p:sp>
        <p:nvSpPr>
          <p:cNvPr id="20" name="Text 18"/>
          <p:cNvSpPr/>
          <p:nvPr/>
        </p:nvSpPr>
        <p:spPr>
          <a:xfrm>
            <a:off x="10021824" y="1956816"/>
            <a:ext cx="1197864"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Newsroom</a:t>
            </a:r>
            <a:endParaRPr lang="en-US" sz="1500" dirty="0"/>
          </a:p>
        </p:txBody>
      </p:sp>
      <p:sp>
        <p:nvSpPr>
          <p:cNvPr id="21" name="Text 19"/>
          <p:cNvSpPr/>
          <p:nvPr/>
        </p:nvSpPr>
        <p:spPr>
          <a:xfrm>
            <a:off x="10021824" y="2359152"/>
            <a:ext cx="1197864" cy="185623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zapp369.energy/news</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every update, dated</a:t>
            </a:r>
            <a:endParaRPr lang="en-US" sz="1150" dirty="0"/>
          </a:p>
        </p:txBody>
      </p:sp>
      <p:sp>
        <p:nvSpPr>
          <p:cNvPr id="22" name="Shape 20"/>
          <p:cNvSpPr/>
          <p:nvPr/>
        </p:nvSpPr>
        <p:spPr>
          <a:xfrm>
            <a:off x="640080" y="4709160"/>
            <a:ext cx="5349240" cy="1600200"/>
          </a:xfrm>
          <a:prstGeom prst="roundRect">
            <a:avLst>
              <a:gd name="adj" fmla="val 5714"/>
            </a:avLst>
          </a:prstGeom>
          <a:solidFill>
            <a:srgbClr val="241A0E"/>
          </a:solidFill>
          <a:ln w="12700">
            <a:solidFill>
              <a:srgbClr val="3A2C18"/>
            </a:solidFill>
            <a:prstDash val="solid"/>
          </a:ln>
        </p:spPr>
      </p:sp>
      <p:sp>
        <p:nvSpPr>
          <p:cNvPr id="23" name="Text 21"/>
          <p:cNvSpPr/>
          <p:nvPr/>
        </p:nvSpPr>
        <p:spPr>
          <a:xfrm>
            <a:off x="877824" y="4928616"/>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We built the bot ourselves</a:t>
            </a:r>
            <a:endParaRPr lang="en-US" sz="1500" dirty="0"/>
          </a:p>
        </p:txBody>
      </p:sp>
      <p:sp>
        <p:nvSpPr>
          <p:cNvPr id="24" name="Text 22"/>
          <p:cNvSpPr/>
          <p:nvPr/>
        </p:nvSpPr>
        <p:spPr>
          <a:xfrm>
            <a:off x="877824" y="5330952"/>
            <a:ext cx="4873752" cy="75895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198 commands. Games, a points system and leaderboard, trivia, full moderation, federation and anti raid. Not an off the shelf plugin.</a:t>
            </a:r>
            <a:endParaRPr lang="en-US" sz="1150" dirty="0"/>
          </a:p>
        </p:txBody>
      </p:sp>
      <p:sp>
        <p:nvSpPr>
          <p:cNvPr id="25" name="Shape 23"/>
          <p:cNvSpPr/>
          <p:nvPr/>
        </p:nvSpPr>
        <p:spPr>
          <a:xfrm>
            <a:off x="6172200" y="4709160"/>
            <a:ext cx="5349240" cy="1600200"/>
          </a:xfrm>
          <a:prstGeom prst="roundRect">
            <a:avLst>
              <a:gd name="adj" fmla="val 5714"/>
            </a:avLst>
          </a:prstGeom>
          <a:solidFill>
            <a:srgbClr val="241A0E"/>
          </a:solidFill>
          <a:ln w="12700">
            <a:solidFill>
              <a:srgbClr val="3A2C18"/>
            </a:solidFill>
            <a:prstDash val="solid"/>
          </a:ln>
        </p:spPr>
      </p:sp>
      <p:sp>
        <p:nvSpPr>
          <p:cNvPr id="26" name="Text 24"/>
          <p:cNvSpPr/>
          <p:nvPr/>
        </p:nvSpPr>
        <p:spPr>
          <a:xfrm>
            <a:off x="6409944" y="4928616"/>
            <a:ext cx="48737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And the plan is public</a:t>
            </a:r>
            <a:endParaRPr lang="en-US" sz="1500" dirty="0"/>
          </a:p>
        </p:txBody>
      </p:sp>
      <p:sp>
        <p:nvSpPr>
          <p:cNvPr id="27" name="Text 25"/>
          <p:cNvSpPr/>
          <p:nvPr/>
        </p:nvSpPr>
        <p:spPr>
          <a:xfrm>
            <a:off x="6409944" y="5330952"/>
            <a:ext cx="4873752" cy="75895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whitepaper and the full master plan live at zapp369.energy/roadmap, kept current rather than written once and forgotten.</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WHITE PAPERS</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The foundations we stand on</a:t>
            </a:r>
            <a:endParaRPr lang="en-US" sz="3400" dirty="0"/>
          </a:p>
        </p:txBody>
      </p:sp>
      <p:sp>
        <p:nvSpPr>
          <p:cNvPr id="4" name="Shape 2"/>
          <p:cNvSpPr/>
          <p:nvPr/>
        </p:nvSpPr>
        <p:spPr>
          <a:xfrm>
            <a:off x="640080" y="1737360"/>
            <a:ext cx="2583180" cy="3200400"/>
          </a:xfrm>
          <a:prstGeom prst="roundRect">
            <a:avLst>
              <a:gd name="adj" fmla="val 3540"/>
            </a:avLst>
          </a:prstGeom>
          <a:solidFill>
            <a:srgbClr val="241A0E"/>
          </a:solidFill>
          <a:ln w="12700">
            <a:solidFill>
              <a:srgbClr val="3A2C18"/>
            </a:solidFill>
            <a:prstDash val="solid"/>
          </a:ln>
        </p:spPr>
      </p:sp>
      <p:sp>
        <p:nvSpPr>
          <p:cNvPr id="5" name="Shape 3"/>
          <p:cNvSpPr/>
          <p:nvPr/>
        </p:nvSpPr>
        <p:spPr>
          <a:xfrm>
            <a:off x="877824" y="1975104"/>
            <a:ext cx="420624" cy="420624"/>
          </a:xfrm>
          <a:prstGeom prst="ellipse">
            <a:avLst/>
          </a:prstGeom>
          <a:solidFill>
            <a:srgbClr val="C8960A"/>
          </a:solidFill>
          <a:ln/>
        </p:spPr>
      </p:sp>
      <p:sp>
        <p:nvSpPr>
          <p:cNvPr id="6" name="Text 4"/>
          <p:cNvSpPr/>
          <p:nvPr/>
        </p:nvSpPr>
        <p:spPr>
          <a:xfrm>
            <a:off x="87782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7" name="Text 5"/>
          <p:cNvSpPr/>
          <p:nvPr/>
        </p:nvSpPr>
        <p:spPr>
          <a:xfrm>
            <a:off x="877824" y="2468880"/>
            <a:ext cx="210769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Bitcoin</a:t>
            </a:r>
            <a:endParaRPr lang="en-US" sz="1500" dirty="0"/>
          </a:p>
        </p:txBody>
      </p:sp>
      <p:sp>
        <p:nvSpPr>
          <p:cNvPr id="8" name="Text 6"/>
          <p:cNvSpPr/>
          <p:nvPr/>
        </p:nvSpPr>
        <p:spPr>
          <a:xfrm>
            <a:off x="877824" y="2871216"/>
            <a:ext cx="2107692" cy="184708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Nakamoto, 2008</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Trust you can verify. Cash that moves without a bank, on a record that cannot be changed.</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Our public treasury and on chain burns are this idea in action.</a:t>
            </a:r>
            <a:endParaRPr lang="en-US" sz="1150" dirty="0"/>
          </a:p>
        </p:txBody>
      </p:sp>
      <p:sp>
        <p:nvSpPr>
          <p:cNvPr id="9" name="Shape 7"/>
          <p:cNvSpPr/>
          <p:nvPr/>
        </p:nvSpPr>
        <p:spPr>
          <a:xfrm>
            <a:off x="3406140" y="1737360"/>
            <a:ext cx="2583180" cy="3200400"/>
          </a:xfrm>
          <a:prstGeom prst="roundRect">
            <a:avLst>
              <a:gd name="adj" fmla="val 3540"/>
            </a:avLst>
          </a:prstGeom>
          <a:solidFill>
            <a:srgbClr val="241A0E"/>
          </a:solidFill>
          <a:ln w="12700">
            <a:solidFill>
              <a:srgbClr val="3A2C18"/>
            </a:solidFill>
            <a:prstDash val="solid"/>
          </a:ln>
        </p:spPr>
      </p:sp>
      <p:sp>
        <p:nvSpPr>
          <p:cNvPr id="10" name="Shape 8"/>
          <p:cNvSpPr/>
          <p:nvPr/>
        </p:nvSpPr>
        <p:spPr>
          <a:xfrm>
            <a:off x="3643884" y="1975104"/>
            <a:ext cx="420624" cy="420624"/>
          </a:xfrm>
          <a:prstGeom prst="ellipse">
            <a:avLst/>
          </a:prstGeom>
          <a:solidFill>
            <a:srgbClr val="C8960A"/>
          </a:solidFill>
          <a:ln/>
        </p:spPr>
      </p:sp>
      <p:sp>
        <p:nvSpPr>
          <p:cNvPr id="11" name="Text 9"/>
          <p:cNvSpPr/>
          <p:nvPr/>
        </p:nvSpPr>
        <p:spPr>
          <a:xfrm>
            <a:off x="364388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2" name="Text 10"/>
          <p:cNvSpPr/>
          <p:nvPr/>
        </p:nvSpPr>
        <p:spPr>
          <a:xfrm>
            <a:off x="3643884" y="2468880"/>
            <a:ext cx="210769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Solana</a:t>
            </a:r>
            <a:endParaRPr lang="en-US" sz="1500" dirty="0"/>
          </a:p>
        </p:txBody>
      </p:sp>
      <p:sp>
        <p:nvSpPr>
          <p:cNvPr id="13" name="Text 11"/>
          <p:cNvSpPr/>
          <p:nvPr/>
        </p:nvSpPr>
        <p:spPr>
          <a:xfrm>
            <a:off x="3643884" y="2871216"/>
            <a:ext cx="2107692" cy="184708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Yakovenko</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Speed that frees us. Proof of History and verifiable time at almost no fee.</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This is what makes transparent buybacks possible.</a:t>
            </a:r>
            <a:endParaRPr lang="en-US" sz="1150" dirty="0"/>
          </a:p>
        </p:txBody>
      </p:sp>
      <p:sp>
        <p:nvSpPr>
          <p:cNvPr id="14" name="Shape 12"/>
          <p:cNvSpPr/>
          <p:nvPr/>
        </p:nvSpPr>
        <p:spPr>
          <a:xfrm>
            <a:off x="6172200" y="1737360"/>
            <a:ext cx="2583180" cy="3200400"/>
          </a:xfrm>
          <a:prstGeom prst="roundRect">
            <a:avLst>
              <a:gd name="adj" fmla="val 3540"/>
            </a:avLst>
          </a:prstGeom>
          <a:solidFill>
            <a:srgbClr val="241A0E"/>
          </a:solidFill>
          <a:ln w="12700">
            <a:solidFill>
              <a:srgbClr val="3A2C18"/>
            </a:solidFill>
            <a:prstDash val="solid"/>
          </a:ln>
        </p:spPr>
      </p:sp>
      <p:sp>
        <p:nvSpPr>
          <p:cNvPr id="15" name="Shape 13"/>
          <p:cNvSpPr/>
          <p:nvPr/>
        </p:nvSpPr>
        <p:spPr>
          <a:xfrm>
            <a:off x="6409944" y="1975104"/>
            <a:ext cx="420624" cy="420624"/>
          </a:xfrm>
          <a:prstGeom prst="ellipse">
            <a:avLst/>
          </a:prstGeom>
          <a:solidFill>
            <a:srgbClr val="C8960A"/>
          </a:solidFill>
          <a:ln/>
        </p:spPr>
      </p:sp>
      <p:sp>
        <p:nvSpPr>
          <p:cNvPr id="16" name="Text 14"/>
          <p:cNvSpPr/>
          <p:nvPr/>
        </p:nvSpPr>
        <p:spPr>
          <a:xfrm>
            <a:off x="640994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7" name="Text 15"/>
          <p:cNvSpPr/>
          <p:nvPr/>
        </p:nvSpPr>
        <p:spPr>
          <a:xfrm>
            <a:off x="6409944" y="2468880"/>
            <a:ext cx="210769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Cardano</a:t>
            </a:r>
            <a:endParaRPr lang="en-US" sz="1500" dirty="0"/>
          </a:p>
        </p:txBody>
      </p:sp>
      <p:sp>
        <p:nvSpPr>
          <p:cNvPr id="18" name="Text 16"/>
          <p:cNvSpPr/>
          <p:nvPr/>
        </p:nvSpPr>
        <p:spPr>
          <a:xfrm>
            <a:off x="6409944" y="2871216"/>
            <a:ext cx="2107692" cy="184708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Ouroboros</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Identity and real help. Peer reviewed proof of stake, and identity used to bring aid to refugees.</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Identity on chain unlocks help for the forgotten.</a:t>
            </a:r>
            <a:endParaRPr lang="en-US" sz="1150" dirty="0"/>
          </a:p>
        </p:txBody>
      </p:sp>
      <p:sp>
        <p:nvSpPr>
          <p:cNvPr id="19" name="Shape 17"/>
          <p:cNvSpPr/>
          <p:nvPr/>
        </p:nvSpPr>
        <p:spPr>
          <a:xfrm>
            <a:off x="8938260" y="1737360"/>
            <a:ext cx="2583180" cy="3200400"/>
          </a:xfrm>
          <a:prstGeom prst="roundRect">
            <a:avLst>
              <a:gd name="adj" fmla="val 3540"/>
            </a:avLst>
          </a:prstGeom>
          <a:solidFill>
            <a:srgbClr val="241A0E"/>
          </a:solidFill>
          <a:ln w="12700">
            <a:solidFill>
              <a:srgbClr val="3A2C18"/>
            </a:solidFill>
            <a:prstDash val="solid"/>
          </a:ln>
        </p:spPr>
      </p:sp>
      <p:sp>
        <p:nvSpPr>
          <p:cNvPr id="20" name="Shape 18"/>
          <p:cNvSpPr/>
          <p:nvPr/>
        </p:nvSpPr>
        <p:spPr>
          <a:xfrm>
            <a:off x="9176004" y="1975104"/>
            <a:ext cx="420624" cy="420624"/>
          </a:xfrm>
          <a:prstGeom prst="ellipse">
            <a:avLst/>
          </a:prstGeom>
          <a:solidFill>
            <a:srgbClr val="C8960A"/>
          </a:solidFill>
          <a:ln/>
        </p:spPr>
      </p:sp>
      <p:sp>
        <p:nvSpPr>
          <p:cNvPr id="21" name="Text 19"/>
          <p:cNvSpPr/>
          <p:nvPr/>
        </p:nvSpPr>
        <p:spPr>
          <a:xfrm>
            <a:off x="917600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22" name="Text 20"/>
          <p:cNvSpPr/>
          <p:nvPr/>
        </p:nvSpPr>
        <p:spPr>
          <a:xfrm>
            <a:off x="9176004" y="2468880"/>
            <a:ext cx="210769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RWA</a:t>
            </a:r>
            <a:endParaRPr lang="en-US" sz="1500" dirty="0"/>
          </a:p>
        </p:txBody>
      </p:sp>
      <p:sp>
        <p:nvSpPr>
          <p:cNvPr id="23" name="Text 21"/>
          <p:cNvSpPr/>
          <p:nvPr/>
        </p:nvSpPr>
        <p:spPr>
          <a:xfrm>
            <a:off x="9176004" y="2871216"/>
            <a:ext cx="2107692" cy="184708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legal blueprint</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Real assets on chain with real compliance and identity checks, keeping the utility token separate from securities.</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We follow that discipline.</a:t>
            </a:r>
            <a:endParaRPr lang="en-US" sz="1150" dirty="0"/>
          </a:p>
        </p:txBody>
      </p:sp>
      <p:sp>
        <p:nvSpPr>
          <p:cNvPr id="24" name="Text 22"/>
          <p:cNvSpPr/>
          <p:nvPr/>
        </p:nvSpPr>
        <p:spPr>
          <a:xfrm>
            <a:off x="640080" y="5166360"/>
            <a:ext cx="10881360" cy="457200"/>
          </a:xfrm>
          <a:prstGeom prst="rect">
            <a:avLst/>
          </a:prstGeom>
          <a:noFill/>
          <a:ln/>
        </p:spPr>
        <p:txBody>
          <a:bodyPr wrap="square" lIns="0" tIns="0" rIns="0" bIns="0" rtlCol="0" anchor="ctr"/>
          <a:lstStyle/>
          <a:p>
            <a:pPr algn="ctr" indent="0" marL="0">
              <a:buNone/>
            </a:pPr>
            <a:r>
              <a:rPr lang="en-US" sz="1400" i="1" dirty="0">
                <a:solidFill>
                  <a:srgbClr val="C8960A"/>
                </a:solidFill>
                <a:latin typeface="Cambria" pitchFamily="34" charset="0"/>
                <a:ea typeface="Cambria" pitchFamily="34" charset="-122"/>
                <a:cs typeface="Cambria" pitchFamily="34" charset="-120"/>
              </a:rPr>
              <a:t>Bitcoin gives proof. Solana gives speed. Cardano gives identity and a way to help. Tokenisation gives the legal path. Tesla gives the soul.</a:t>
            </a:r>
            <a:endParaRPr lang="en-US" sz="1400" dirty="0"/>
          </a:p>
        </p:txBody>
      </p:sp>
      <p:sp>
        <p:nvSpPr>
          <p:cNvPr id="25" name="Text 23"/>
          <p:cNvSpPr/>
          <p:nvPr/>
        </p:nvSpPr>
        <p:spPr>
          <a:xfrm>
            <a:off x="640080" y="6382512"/>
            <a:ext cx="10881360" cy="274320"/>
          </a:xfrm>
          <a:prstGeom prst="rect">
            <a:avLst/>
          </a:prstGeom>
          <a:noFill/>
          <a:ln/>
        </p:spPr>
        <p:txBody>
          <a:bodyPr wrap="square" lIns="0" tIns="0" rIns="0" bIns="0" rtlCol="0" anchor="ctr"/>
          <a:lstStyle/>
          <a:p>
            <a:pPr algn="ctr" indent="0" marL="0">
              <a:buNone/>
            </a:pPr>
            <a:r>
              <a:rPr lang="en-US" sz="1000" dirty="0">
                <a:solidFill>
                  <a:srgbClr val="5E4C2E"/>
                </a:solidFill>
                <a:latin typeface="Calibri" pitchFamily="34" charset="0"/>
                <a:ea typeface="Calibri" pitchFamily="34" charset="-122"/>
                <a:cs typeface="Calibri" pitchFamily="34" charset="-120"/>
              </a:rPr>
              <a:t>3 · 6 · 9 · ∞</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ROAD</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From here to the first village</a:t>
            </a:r>
            <a:endParaRPr lang="en-US" sz="3400" dirty="0"/>
          </a:p>
        </p:txBody>
      </p:sp>
      <p:sp>
        <p:nvSpPr>
          <p:cNvPr id="4" name="Shape 2"/>
          <p:cNvSpPr/>
          <p:nvPr/>
        </p:nvSpPr>
        <p:spPr>
          <a:xfrm>
            <a:off x="640080" y="1737360"/>
            <a:ext cx="2606040" cy="2194560"/>
          </a:xfrm>
          <a:prstGeom prst="roundRect">
            <a:avLst>
              <a:gd name="adj" fmla="val 4167"/>
            </a:avLst>
          </a:prstGeom>
          <a:solidFill>
            <a:srgbClr val="241A0E"/>
          </a:solidFill>
          <a:ln w="12700">
            <a:solidFill>
              <a:srgbClr val="3A2C18"/>
            </a:solidFill>
            <a:prstDash val="solid"/>
          </a:ln>
        </p:spPr>
      </p:sp>
      <p:sp>
        <p:nvSpPr>
          <p:cNvPr id="5" name="Shape 3"/>
          <p:cNvSpPr/>
          <p:nvPr/>
        </p:nvSpPr>
        <p:spPr>
          <a:xfrm>
            <a:off x="877824" y="1975104"/>
            <a:ext cx="420624" cy="420624"/>
          </a:xfrm>
          <a:prstGeom prst="ellipse">
            <a:avLst/>
          </a:prstGeom>
          <a:solidFill>
            <a:srgbClr val="C8960A"/>
          </a:solidFill>
          <a:ln/>
        </p:spPr>
      </p:sp>
      <p:sp>
        <p:nvSpPr>
          <p:cNvPr id="6" name="Text 4"/>
          <p:cNvSpPr/>
          <p:nvPr/>
        </p:nvSpPr>
        <p:spPr>
          <a:xfrm>
            <a:off x="87782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877824" y="2468880"/>
            <a:ext cx="21305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Now</a:t>
            </a:r>
            <a:endParaRPr lang="en-US" sz="1500" dirty="0"/>
          </a:p>
        </p:txBody>
      </p:sp>
      <p:sp>
        <p:nvSpPr>
          <p:cNvPr id="8" name="Text 6"/>
          <p:cNvSpPr/>
          <p:nvPr/>
        </p:nvSpPr>
        <p:spPr>
          <a:xfrm>
            <a:off x="877824" y="2871216"/>
            <a:ext cx="2130552" cy="84124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Store trading, supplier signed, first real revenue into the pot. Entity and foundation completed. CoinMarketCap and Jupiter verification.</a:t>
            </a:r>
            <a:endParaRPr lang="en-US" sz="1150" dirty="0"/>
          </a:p>
        </p:txBody>
      </p:sp>
      <p:sp>
        <p:nvSpPr>
          <p:cNvPr id="9" name="Shape 7"/>
          <p:cNvSpPr/>
          <p:nvPr/>
        </p:nvSpPr>
        <p:spPr>
          <a:xfrm>
            <a:off x="3429000" y="1737360"/>
            <a:ext cx="2606040" cy="2194560"/>
          </a:xfrm>
          <a:prstGeom prst="roundRect">
            <a:avLst>
              <a:gd name="adj" fmla="val 4167"/>
            </a:avLst>
          </a:prstGeom>
          <a:solidFill>
            <a:srgbClr val="241A0E"/>
          </a:solidFill>
          <a:ln w="12700">
            <a:solidFill>
              <a:srgbClr val="3A2C18"/>
            </a:solidFill>
            <a:prstDash val="solid"/>
          </a:ln>
        </p:spPr>
      </p:sp>
      <p:sp>
        <p:nvSpPr>
          <p:cNvPr id="10" name="Shape 8"/>
          <p:cNvSpPr/>
          <p:nvPr/>
        </p:nvSpPr>
        <p:spPr>
          <a:xfrm>
            <a:off x="3666744" y="1975104"/>
            <a:ext cx="420624" cy="420624"/>
          </a:xfrm>
          <a:prstGeom prst="ellipse">
            <a:avLst/>
          </a:prstGeom>
          <a:solidFill>
            <a:srgbClr val="C8960A"/>
          </a:solidFill>
          <a:ln/>
        </p:spPr>
      </p:sp>
      <p:sp>
        <p:nvSpPr>
          <p:cNvPr id="11" name="Text 9"/>
          <p:cNvSpPr/>
          <p:nvPr/>
        </p:nvSpPr>
        <p:spPr>
          <a:xfrm>
            <a:off x="366674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3666744" y="2468880"/>
            <a:ext cx="21305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Next</a:t>
            </a:r>
            <a:endParaRPr lang="en-US" sz="1500" dirty="0"/>
          </a:p>
        </p:txBody>
      </p:sp>
      <p:sp>
        <p:nvSpPr>
          <p:cNvPr id="13" name="Text 11"/>
          <p:cNvSpPr/>
          <p:nvPr/>
        </p:nvSpPr>
        <p:spPr>
          <a:xfrm>
            <a:off x="3666744" y="2871216"/>
            <a:ext cx="2130552" cy="84124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Multisig treasury and a public dashboard. Team coins locked on public vesting. The MiCA paper, which opens the EU properly.</a:t>
            </a:r>
            <a:endParaRPr lang="en-US" sz="1150" dirty="0"/>
          </a:p>
        </p:txBody>
      </p:sp>
      <p:sp>
        <p:nvSpPr>
          <p:cNvPr id="14" name="Shape 12"/>
          <p:cNvSpPr/>
          <p:nvPr/>
        </p:nvSpPr>
        <p:spPr>
          <a:xfrm>
            <a:off x="6217920" y="1737360"/>
            <a:ext cx="2606040" cy="2194560"/>
          </a:xfrm>
          <a:prstGeom prst="roundRect">
            <a:avLst>
              <a:gd name="adj" fmla="val 4167"/>
            </a:avLst>
          </a:prstGeom>
          <a:solidFill>
            <a:srgbClr val="241A0E"/>
          </a:solidFill>
          <a:ln w="12700">
            <a:solidFill>
              <a:srgbClr val="3A2C18"/>
            </a:solidFill>
            <a:prstDash val="solid"/>
          </a:ln>
        </p:spPr>
      </p:sp>
      <p:sp>
        <p:nvSpPr>
          <p:cNvPr id="15" name="Shape 13"/>
          <p:cNvSpPr/>
          <p:nvPr/>
        </p:nvSpPr>
        <p:spPr>
          <a:xfrm>
            <a:off x="6455664" y="1975104"/>
            <a:ext cx="420624" cy="420624"/>
          </a:xfrm>
          <a:prstGeom prst="ellipse">
            <a:avLst/>
          </a:prstGeom>
          <a:solidFill>
            <a:srgbClr val="C8960A"/>
          </a:solidFill>
          <a:ln/>
        </p:spPr>
      </p:sp>
      <p:sp>
        <p:nvSpPr>
          <p:cNvPr id="16" name="Text 14"/>
          <p:cNvSpPr/>
          <p:nvPr/>
        </p:nvSpPr>
        <p:spPr>
          <a:xfrm>
            <a:off x="645566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6455664" y="2468880"/>
            <a:ext cx="21305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Then</a:t>
            </a:r>
            <a:endParaRPr lang="en-US" sz="1500" dirty="0"/>
          </a:p>
        </p:txBody>
      </p:sp>
      <p:sp>
        <p:nvSpPr>
          <p:cNvPr id="18" name="Text 16"/>
          <p:cNvSpPr/>
          <p:nvPr/>
        </p:nvSpPr>
        <p:spPr>
          <a:xfrm>
            <a:off x="6455664" y="2871216"/>
            <a:ext cx="2130552" cy="84124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First cause funded in the open, from the harvest. Partnerships for cross border settlement so help arrives fast, cheap and visible.</a:t>
            </a:r>
            <a:endParaRPr lang="en-US" sz="1150" dirty="0"/>
          </a:p>
        </p:txBody>
      </p:sp>
      <p:sp>
        <p:nvSpPr>
          <p:cNvPr id="19" name="Shape 17"/>
          <p:cNvSpPr/>
          <p:nvPr/>
        </p:nvSpPr>
        <p:spPr>
          <a:xfrm>
            <a:off x="9006840" y="1737360"/>
            <a:ext cx="2514600" cy="2194560"/>
          </a:xfrm>
          <a:prstGeom prst="roundRect">
            <a:avLst>
              <a:gd name="adj" fmla="val 4167"/>
            </a:avLst>
          </a:prstGeom>
          <a:solidFill>
            <a:srgbClr val="241A0E"/>
          </a:solidFill>
          <a:ln w="12700">
            <a:solidFill>
              <a:srgbClr val="3A2C18"/>
            </a:solidFill>
            <a:prstDash val="solid"/>
          </a:ln>
        </p:spPr>
      </p:sp>
      <p:sp>
        <p:nvSpPr>
          <p:cNvPr id="20" name="Shape 18"/>
          <p:cNvSpPr/>
          <p:nvPr/>
        </p:nvSpPr>
        <p:spPr>
          <a:xfrm>
            <a:off x="9244584" y="1975104"/>
            <a:ext cx="420624" cy="420624"/>
          </a:xfrm>
          <a:prstGeom prst="ellipse">
            <a:avLst/>
          </a:prstGeom>
          <a:solidFill>
            <a:srgbClr val="C8960A"/>
          </a:solidFill>
          <a:ln/>
        </p:spPr>
      </p:sp>
      <p:sp>
        <p:nvSpPr>
          <p:cNvPr id="21" name="Text 19"/>
          <p:cNvSpPr/>
          <p:nvPr/>
        </p:nvSpPr>
        <p:spPr>
          <a:xfrm>
            <a:off x="9244584" y="197510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9244584" y="2468880"/>
            <a:ext cx="203911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The village</a:t>
            </a:r>
            <a:endParaRPr lang="en-US" sz="1500" dirty="0"/>
          </a:p>
        </p:txBody>
      </p:sp>
      <p:sp>
        <p:nvSpPr>
          <p:cNvPr id="23" name="Text 21"/>
          <p:cNvSpPr/>
          <p:nvPr/>
        </p:nvSpPr>
        <p:spPr>
          <a:xfrm>
            <a:off x="9244584" y="2871216"/>
            <a:ext cx="2039112" cy="84124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Site, panels, turbines, storage. One community generating more than it uses, documented end to end and audited in public.</a:t>
            </a:r>
            <a:endParaRPr lang="en-US" sz="1150" dirty="0"/>
          </a:p>
        </p:txBody>
      </p:sp>
      <p:sp>
        <p:nvSpPr>
          <p:cNvPr id="24" name="Shape 22"/>
          <p:cNvSpPr/>
          <p:nvPr/>
        </p:nvSpPr>
        <p:spPr>
          <a:xfrm>
            <a:off x="640080" y="4114800"/>
            <a:ext cx="10881360" cy="1874520"/>
          </a:xfrm>
          <a:prstGeom prst="roundRect">
            <a:avLst>
              <a:gd name="adj" fmla="val 4878"/>
            </a:avLst>
          </a:prstGeom>
          <a:solidFill>
            <a:srgbClr val="241A0E"/>
          </a:solidFill>
          <a:ln w="12700">
            <a:solidFill>
              <a:srgbClr val="3A2C18"/>
            </a:solidFill>
            <a:prstDash val="solid"/>
          </a:ln>
        </p:spPr>
      </p:sp>
      <p:sp>
        <p:nvSpPr>
          <p:cNvPr id="25" name="Text 23"/>
          <p:cNvSpPr/>
          <p:nvPr/>
        </p:nvSpPr>
        <p:spPr>
          <a:xfrm>
            <a:off x="877824" y="4334256"/>
            <a:ext cx="1040587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Two ways to run it, one spine</a:t>
            </a:r>
            <a:endParaRPr lang="en-US" sz="1500" dirty="0"/>
          </a:p>
        </p:txBody>
      </p:sp>
      <p:sp>
        <p:nvSpPr>
          <p:cNvPr id="26" name="Text 24"/>
          <p:cNvSpPr/>
          <p:nvPr/>
        </p:nvSpPr>
        <p:spPr>
          <a:xfrm>
            <a:off x="877824" y="4736592"/>
            <a:ext cx="10405872" cy="103327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A · The Steady Current. The patient build. Foundation and hub, community and merch as the fuel, steady buyback and double burn. Win by still being here in three years with a real cause.</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B · The Surge. The ambitious build. The EU arm, the MiCA paper, partnerships and a real product, toward the global venues.</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Same pot, same floor, same mission. We start on A and step up to B when the revenue is ready.</a:t>
            </a:r>
            <a:endParaRPr lang="en-US" sz="1150" dirty="0"/>
          </a:p>
        </p:txBody>
      </p:sp>
      <p:sp>
        <p:nvSpPr>
          <p:cNvPr id="27" name="Text 25"/>
          <p:cNvSpPr/>
          <p:nvPr/>
        </p:nvSpPr>
        <p:spPr>
          <a:xfrm>
            <a:off x="640080" y="6382512"/>
            <a:ext cx="10881360" cy="274320"/>
          </a:xfrm>
          <a:prstGeom prst="rect">
            <a:avLst/>
          </a:prstGeom>
          <a:noFill/>
          <a:ln/>
        </p:spPr>
        <p:txBody>
          <a:bodyPr wrap="square" lIns="0" tIns="0" rIns="0" bIns="0" rtlCol="0" anchor="ctr"/>
          <a:lstStyle/>
          <a:p>
            <a:pPr algn="ctr" indent="0" marL="0">
              <a:buNone/>
            </a:pPr>
            <a:r>
              <a:rPr lang="en-US" sz="1000" dirty="0">
                <a:solidFill>
                  <a:srgbClr val="5E4C2E"/>
                </a:solidFill>
                <a:latin typeface="Calibri" pitchFamily="34" charset="0"/>
                <a:ea typeface="Calibri" pitchFamily="34" charset="-122"/>
                <a:cs typeface="Calibri" pitchFamily="34" charset="-120"/>
              </a:rPr>
              <a:t>3 · 6 · 9 · ∞</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7110A"/>
        </a:solidFill>
      </p:bgPr>
    </p:bg>
    <p:spTree>
      <p:nvGrpSpPr>
        <p:cNvPr id="1" name=""/>
        <p:cNvGrpSpPr/>
        <p:nvPr/>
      </p:nvGrpSpPr>
      <p:grpSpPr>
        <a:xfrm>
          <a:off x="0" y="0"/>
          <a:ext cx="0" cy="0"/>
          <a:chOff x="0" y="0"/>
          <a:chExt cx="0" cy="0"/>
        </a:xfrm>
      </p:grpSpPr>
      <p:sp>
        <p:nvSpPr>
          <p:cNvPr id="2" name="Text 0"/>
          <p:cNvSpPr/>
          <p:nvPr/>
        </p:nvSpPr>
        <p:spPr>
          <a:xfrm>
            <a:off x="640080" y="384048"/>
            <a:ext cx="10881360" cy="274320"/>
          </a:xfrm>
          <a:prstGeom prst="rect">
            <a:avLst/>
          </a:prstGeom>
          <a:noFill/>
          <a:ln/>
        </p:spPr>
        <p:txBody>
          <a:bodyPr wrap="square" lIns="0" tIns="0" rIns="0" bIns="0" rtlCol="0" anchor="ctr"/>
          <a:lstStyle/>
          <a:p>
            <a:pPr indent="0" marL="0">
              <a:buNone/>
            </a:pPr>
            <a:r>
              <a:rPr lang="en-US" sz="1100" b="1" spc="250" kern="0" dirty="0">
                <a:solidFill>
                  <a:srgbClr val="C8960A"/>
                </a:solidFill>
                <a:latin typeface="Calibri" pitchFamily="34" charset="0"/>
                <a:ea typeface="Calibri" pitchFamily="34" charset="-122"/>
                <a:cs typeface="Calibri" pitchFamily="34" charset="-120"/>
              </a:rPr>
              <a:t>THE RAISE</a:t>
            </a:r>
            <a:endParaRPr lang="en-US" sz="1100" dirty="0"/>
          </a:p>
        </p:txBody>
      </p:sp>
      <p:sp>
        <p:nvSpPr>
          <p:cNvPr id="3" name="Text 1"/>
          <p:cNvSpPr/>
          <p:nvPr/>
        </p:nvSpPr>
        <p:spPr>
          <a:xfrm>
            <a:off x="640080" y="685800"/>
            <a:ext cx="10881360" cy="777240"/>
          </a:xfrm>
          <a:prstGeom prst="rect">
            <a:avLst/>
          </a:prstGeom>
          <a:noFill/>
          <a:ln/>
        </p:spPr>
        <p:txBody>
          <a:bodyPr wrap="square" lIns="0" tIns="0" rIns="0" bIns="0" rtlCol="0" anchor="ctr"/>
          <a:lstStyle/>
          <a:p>
            <a:pPr indent="0" marL="0">
              <a:buNone/>
            </a:pPr>
            <a:r>
              <a:rPr lang="en-US" sz="3400" b="1" dirty="0">
                <a:solidFill>
                  <a:srgbClr val="FBF4E2"/>
                </a:solidFill>
                <a:latin typeface="Cambria" pitchFamily="34" charset="0"/>
                <a:ea typeface="Cambria" pitchFamily="34" charset="-122"/>
                <a:cs typeface="Cambria" pitchFamily="34" charset="-120"/>
              </a:rPr>
              <a:t>What we are asking for</a:t>
            </a:r>
            <a:endParaRPr lang="en-US" sz="3400" dirty="0"/>
          </a:p>
        </p:txBody>
      </p:sp>
      <p:sp>
        <p:nvSpPr>
          <p:cNvPr id="4" name="Text 2"/>
          <p:cNvSpPr/>
          <p:nvPr/>
        </p:nvSpPr>
        <p:spPr>
          <a:xfrm>
            <a:off x="640080" y="1554480"/>
            <a:ext cx="5029200" cy="822960"/>
          </a:xfrm>
          <a:prstGeom prst="rect">
            <a:avLst/>
          </a:prstGeom>
          <a:noFill/>
          <a:ln/>
        </p:spPr>
        <p:txBody>
          <a:bodyPr wrap="square" lIns="0" tIns="0" rIns="0" bIns="0" rtlCol="0" anchor="ctr"/>
          <a:lstStyle/>
          <a:p>
            <a:pPr indent="0" marL="0">
              <a:buNone/>
            </a:pPr>
            <a:r>
              <a:rPr lang="en-US" sz="5200" b="1" dirty="0">
                <a:solidFill>
                  <a:srgbClr val="C8960A"/>
                </a:solidFill>
                <a:latin typeface="Cambria" pitchFamily="34" charset="0"/>
                <a:ea typeface="Cambria" pitchFamily="34" charset="-122"/>
                <a:cs typeface="Cambria" pitchFamily="34" charset="-120"/>
              </a:rPr>
              <a:t>€36,900</a:t>
            </a:r>
            <a:endParaRPr lang="en-US" sz="5200" dirty="0"/>
          </a:p>
        </p:txBody>
      </p:sp>
      <p:sp>
        <p:nvSpPr>
          <p:cNvPr id="5" name="Text 3"/>
          <p:cNvSpPr/>
          <p:nvPr/>
        </p:nvSpPr>
        <p:spPr>
          <a:xfrm>
            <a:off x="640080" y="2377440"/>
            <a:ext cx="5029200" cy="548640"/>
          </a:xfrm>
          <a:prstGeom prst="rect">
            <a:avLst/>
          </a:prstGeom>
          <a:noFill/>
          <a:ln/>
        </p:spPr>
        <p:txBody>
          <a:bodyPr wrap="square" lIns="0" tIns="0" rIns="0" bIns="0" rtlCol="0" anchor="ctr"/>
          <a:lstStyle/>
          <a:p>
            <a:pPr indent="0" marL="0">
              <a:buNone/>
            </a:pPr>
            <a:r>
              <a:rPr lang="en-US" sz="1300" dirty="0">
                <a:solidFill>
                  <a:srgbClr val="9B8A6B"/>
                </a:solidFill>
                <a:latin typeface="Calibri" pitchFamily="34" charset="0"/>
                <a:ea typeface="Calibri" pitchFamily="34" charset="-122"/>
                <a:cs typeface="Calibri" pitchFamily="34" charset="-120"/>
              </a:rPr>
              <a:t>Three, six, nine. Enough to get the engine turning, and small enough to be honest about.</a:t>
            </a:r>
            <a:endParaRPr lang="en-US" sz="1300" dirty="0"/>
          </a:p>
        </p:txBody>
      </p:sp>
      <p:sp>
        <p:nvSpPr>
          <p:cNvPr id="6" name="Shape 4"/>
          <p:cNvSpPr/>
          <p:nvPr/>
        </p:nvSpPr>
        <p:spPr>
          <a:xfrm>
            <a:off x="640080" y="3017520"/>
            <a:ext cx="5029200" cy="3063240"/>
          </a:xfrm>
          <a:prstGeom prst="roundRect">
            <a:avLst>
              <a:gd name="adj" fmla="val 2985"/>
            </a:avLst>
          </a:prstGeom>
          <a:solidFill>
            <a:srgbClr val="241A0E"/>
          </a:solidFill>
          <a:ln w="12700">
            <a:solidFill>
              <a:srgbClr val="3A2C18"/>
            </a:solidFill>
            <a:prstDash val="solid"/>
          </a:ln>
        </p:spPr>
      </p:sp>
      <p:sp>
        <p:nvSpPr>
          <p:cNvPr id="7" name="Text 5"/>
          <p:cNvSpPr/>
          <p:nvPr/>
        </p:nvSpPr>
        <p:spPr>
          <a:xfrm>
            <a:off x="877824" y="3236976"/>
            <a:ext cx="455371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Where it goes</a:t>
            </a:r>
            <a:endParaRPr lang="en-US" sz="1500" dirty="0"/>
          </a:p>
        </p:txBody>
      </p:sp>
      <p:sp>
        <p:nvSpPr>
          <p:cNvPr id="8" name="Text 6"/>
          <p:cNvSpPr/>
          <p:nvPr/>
        </p:nvSpPr>
        <p:spPr>
          <a:xfrm>
            <a:off x="877824" y="3639312"/>
            <a:ext cx="4553712" cy="2221992"/>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Supplier onboarding and the first production run.</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Entity and foundation completed, with proper legal and tax advice.</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Listings, verification and the MiCA paper.</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Six months of runway for the people building, so the work does not depend on goodwill.</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Seed capital toward the first ecovillage feasibility study.</a:t>
            </a:r>
            <a:endParaRPr lang="en-US" sz="1150" dirty="0"/>
          </a:p>
        </p:txBody>
      </p:sp>
      <p:sp>
        <p:nvSpPr>
          <p:cNvPr id="9" name="Shape 7"/>
          <p:cNvSpPr/>
          <p:nvPr/>
        </p:nvSpPr>
        <p:spPr>
          <a:xfrm>
            <a:off x="5943600" y="1554480"/>
            <a:ext cx="5577840" cy="2240280"/>
          </a:xfrm>
          <a:prstGeom prst="roundRect">
            <a:avLst>
              <a:gd name="adj" fmla="val 4082"/>
            </a:avLst>
          </a:prstGeom>
          <a:solidFill>
            <a:srgbClr val="241A0E"/>
          </a:solidFill>
          <a:ln w="12700">
            <a:solidFill>
              <a:srgbClr val="3A2C18"/>
            </a:solidFill>
            <a:prstDash val="solid"/>
          </a:ln>
        </p:spPr>
      </p:sp>
      <p:sp>
        <p:nvSpPr>
          <p:cNvPr id="10" name="Shape 8"/>
          <p:cNvSpPr/>
          <p:nvPr/>
        </p:nvSpPr>
        <p:spPr>
          <a:xfrm>
            <a:off x="6181344" y="1792224"/>
            <a:ext cx="420624" cy="420624"/>
          </a:xfrm>
          <a:prstGeom prst="ellipse">
            <a:avLst/>
          </a:prstGeom>
          <a:solidFill>
            <a:srgbClr val="C8960A"/>
          </a:solidFill>
          <a:ln/>
        </p:spPr>
      </p:sp>
      <p:sp>
        <p:nvSpPr>
          <p:cNvPr id="11" name="Text 9"/>
          <p:cNvSpPr/>
          <p:nvPr/>
        </p:nvSpPr>
        <p:spPr>
          <a:xfrm>
            <a:off x="6181344" y="179222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2" name="Text 10"/>
          <p:cNvSpPr/>
          <p:nvPr/>
        </p:nvSpPr>
        <p:spPr>
          <a:xfrm>
            <a:off x="6181344" y="2286000"/>
            <a:ext cx="51023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What we will not do</a:t>
            </a:r>
            <a:endParaRPr lang="en-US" sz="1500" dirty="0"/>
          </a:p>
        </p:txBody>
      </p:sp>
      <p:sp>
        <p:nvSpPr>
          <p:cNvPr id="13" name="Text 11"/>
          <p:cNvSpPr/>
          <p:nvPr/>
        </p:nvSpPr>
        <p:spPr>
          <a:xfrm>
            <a:off x="6181344" y="2688336"/>
            <a:ext cx="5102352" cy="88696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We will not promise a return, a price, or a date on which anyone gets rich. The floor is built from revenue and it is published either way.</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founder stake is under ten percent and can be locked on public vesting for anyone to see.</a:t>
            </a:r>
            <a:endParaRPr lang="en-US" sz="1150" dirty="0"/>
          </a:p>
        </p:txBody>
      </p:sp>
      <p:sp>
        <p:nvSpPr>
          <p:cNvPr id="14" name="Shape 12"/>
          <p:cNvSpPr/>
          <p:nvPr/>
        </p:nvSpPr>
        <p:spPr>
          <a:xfrm>
            <a:off x="5943600" y="3977640"/>
            <a:ext cx="5577840" cy="2103120"/>
          </a:xfrm>
          <a:prstGeom prst="roundRect">
            <a:avLst>
              <a:gd name="adj" fmla="val 4348"/>
            </a:avLst>
          </a:prstGeom>
          <a:solidFill>
            <a:srgbClr val="241A0E"/>
          </a:solidFill>
          <a:ln w="12700">
            <a:solidFill>
              <a:srgbClr val="3A2C18"/>
            </a:solidFill>
            <a:prstDash val="solid"/>
          </a:ln>
        </p:spPr>
      </p:sp>
      <p:sp>
        <p:nvSpPr>
          <p:cNvPr id="15" name="Shape 13"/>
          <p:cNvSpPr/>
          <p:nvPr/>
        </p:nvSpPr>
        <p:spPr>
          <a:xfrm>
            <a:off x="6181344" y="4215384"/>
            <a:ext cx="420624" cy="420624"/>
          </a:xfrm>
          <a:prstGeom prst="ellipse">
            <a:avLst/>
          </a:prstGeom>
          <a:solidFill>
            <a:srgbClr val="C8960A"/>
          </a:solidFill>
          <a:ln/>
        </p:spPr>
      </p:sp>
      <p:sp>
        <p:nvSpPr>
          <p:cNvPr id="16" name="Text 14"/>
          <p:cNvSpPr/>
          <p:nvPr/>
        </p:nvSpPr>
        <p:spPr>
          <a:xfrm>
            <a:off x="6181344" y="4215384"/>
            <a:ext cx="420624" cy="420624"/>
          </a:xfrm>
          <a:prstGeom prst="rect">
            <a:avLst/>
          </a:prstGeom>
          <a:noFill/>
          <a:ln/>
        </p:spPr>
        <p:txBody>
          <a:bodyPr wrap="square" lIns="0" tIns="0" rIns="0" bIns="0" rtlCol="0" anchor="ctr"/>
          <a:lstStyle/>
          <a:p>
            <a:pPr algn="ctr" indent="0" marL="0">
              <a:buNone/>
            </a:pPr>
            <a:r>
              <a:rPr lang="en-US" sz="1400" b="1" dirty="0">
                <a:solidFill>
                  <a:srgbClr val="17110A"/>
                </a:solidFill>
                <a:latin typeface="Calibri" pitchFamily="34" charset="0"/>
                <a:ea typeface="Calibri" pitchFamily="34" charset="-122"/>
                <a:cs typeface="Calibri" pitchFamily="34" charset="-120"/>
              </a:rPr>
              <a:t>!</a:t>
            </a:r>
            <a:endParaRPr lang="en-US" sz="1400" dirty="0"/>
          </a:p>
        </p:txBody>
      </p:sp>
      <p:sp>
        <p:nvSpPr>
          <p:cNvPr id="17" name="Text 15"/>
          <p:cNvSpPr/>
          <p:nvPr/>
        </p:nvSpPr>
        <p:spPr>
          <a:xfrm>
            <a:off x="6181344" y="4709160"/>
            <a:ext cx="5102352" cy="310896"/>
          </a:xfrm>
          <a:prstGeom prst="rect">
            <a:avLst/>
          </a:prstGeom>
          <a:noFill/>
          <a:ln/>
        </p:spPr>
        <p:txBody>
          <a:bodyPr wrap="square" lIns="0" tIns="0" rIns="0" bIns="0" rtlCol="0" anchor="t"/>
          <a:lstStyle/>
          <a:p>
            <a:pPr indent="0" marL="0">
              <a:buNone/>
            </a:pPr>
            <a:r>
              <a:rPr lang="en-US" sz="1500" b="1" dirty="0">
                <a:solidFill>
                  <a:srgbClr val="FBF4E2"/>
                </a:solidFill>
                <a:latin typeface="Cambria" pitchFamily="34" charset="0"/>
                <a:ea typeface="Cambria" pitchFamily="34" charset="-122"/>
                <a:cs typeface="Cambria" pitchFamily="34" charset="-120"/>
              </a:rPr>
              <a:t>Structure, honestly</a:t>
            </a:r>
            <a:endParaRPr lang="en-US" sz="1500" dirty="0"/>
          </a:p>
        </p:txBody>
      </p:sp>
      <p:sp>
        <p:nvSpPr>
          <p:cNvPr id="18" name="Text 16"/>
          <p:cNvSpPr/>
          <p:nvPr/>
        </p:nvSpPr>
        <p:spPr>
          <a:xfrm>
            <a:off x="6181344" y="5111496"/>
            <a:ext cx="5102352" cy="749808"/>
          </a:xfrm>
          <a:prstGeom prst="rect">
            <a:avLst/>
          </a:prstGeom>
          <a:noFill/>
          <a:ln/>
        </p:spPr>
        <p:txBody>
          <a:bodyPr wrap="square" lIns="0" tIns="0" rIns="0" bIns="0" rtlCol="0" anchor="t"/>
          <a:lstStyle/>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The entity is in progress, not finished. Before any money moves we will have a lawyer confirm the structure and the instrument, in writing.</a:t>
            </a:r>
            <a:endParaRPr lang="en-US" sz="1150" dirty="0"/>
          </a:p>
          <a:p>
            <a:pPr indent="0" marL="0">
              <a:lnSpc>
                <a:spcPct val="112000"/>
              </a:lnSpc>
              <a:buNone/>
            </a:pPr>
            <a:endParaRPr lang="en-US" sz="1150" dirty="0"/>
          </a:p>
          <a:p>
            <a:pPr indent="0" marL="0">
              <a:lnSpc>
                <a:spcPct val="112000"/>
              </a:lnSpc>
              <a:buNone/>
            </a:pPr>
            <a:r>
              <a:rPr lang="en-US" sz="1150" dirty="0">
                <a:solidFill>
                  <a:srgbClr val="9B8A6B"/>
                </a:solidFill>
                <a:latin typeface="Calibri" pitchFamily="34" charset="0"/>
                <a:ea typeface="Calibri" pitchFamily="34" charset="-122"/>
                <a:cs typeface="Calibri" pitchFamily="34" charset="-120"/>
              </a:rPr>
              <a:t>We would rather lose a week than build this on a foundation that does not hold.</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7110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23560" y="685800"/>
            <a:ext cx="914400" cy="914400"/>
          </a:xfrm>
          <a:prstGeom prst="rect">
            <a:avLst/>
          </a:prstGeom>
        </p:spPr>
      </p:pic>
      <p:sp>
        <p:nvSpPr>
          <p:cNvPr id="3" name="Text 0"/>
          <p:cNvSpPr/>
          <p:nvPr/>
        </p:nvSpPr>
        <p:spPr>
          <a:xfrm>
            <a:off x="640080" y="1828800"/>
            <a:ext cx="10881360" cy="640080"/>
          </a:xfrm>
          <a:prstGeom prst="rect">
            <a:avLst/>
          </a:prstGeom>
          <a:noFill/>
          <a:ln/>
        </p:spPr>
        <p:txBody>
          <a:bodyPr wrap="square" lIns="0" tIns="0" rIns="0" bIns="0" rtlCol="0" anchor="ctr"/>
          <a:lstStyle/>
          <a:p>
            <a:pPr algn="ctr" indent="0" marL="0">
              <a:buNone/>
            </a:pPr>
            <a:r>
              <a:rPr lang="en-US" sz="3600" b="1" dirty="0">
                <a:solidFill>
                  <a:srgbClr val="FBF4E2"/>
                </a:solidFill>
                <a:latin typeface="Cambria" pitchFamily="34" charset="0"/>
                <a:ea typeface="Cambria" pitchFamily="34" charset="-122"/>
                <a:cs typeface="Cambria" pitchFamily="34" charset="-120"/>
              </a:rPr>
              <a:t>The only coin walking toward the sun</a:t>
            </a:r>
            <a:endParaRPr lang="en-US" sz="3600" dirty="0"/>
          </a:p>
        </p:txBody>
      </p:sp>
      <p:sp>
        <p:nvSpPr>
          <p:cNvPr id="4" name="Text 1"/>
          <p:cNvSpPr/>
          <p:nvPr/>
        </p:nvSpPr>
        <p:spPr>
          <a:xfrm>
            <a:off x="640080" y="2514600"/>
            <a:ext cx="10881360" cy="365760"/>
          </a:xfrm>
          <a:prstGeom prst="rect">
            <a:avLst/>
          </a:prstGeom>
          <a:noFill/>
          <a:ln/>
        </p:spPr>
        <p:txBody>
          <a:bodyPr wrap="square" lIns="0" tIns="0" rIns="0" bIns="0" rtlCol="0" anchor="ctr"/>
          <a:lstStyle/>
          <a:p>
            <a:pPr algn="ctr" indent="0" marL="0">
              <a:buNone/>
            </a:pPr>
            <a:r>
              <a:rPr lang="en-US" sz="1600" dirty="0">
                <a:solidFill>
                  <a:srgbClr val="C8960A"/>
                </a:solidFill>
                <a:latin typeface="Calibri" pitchFamily="34" charset="0"/>
                <a:ea typeface="Calibri" pitchFamily="34" charset="-122"/>
                <a:cs typeface="Calibri" pitchFamily="34" charset="-120"/>
              </a:rPr>
              <a:t>∞ · 3 · 6 · 9 · ∞</a:t>
            </a:r>
            <a:endParaRPr lang="en-US" sz="1600" dirty="0"/>
          </a:p>
        </p:txBody>
      </p:sp>
      <p:sp>
        <p:nvSpPr>
          <p:cNvPr id="5" name="Text 2"/>
          <p:cNvSpPr/>
          <p:nvPr/>
        </p:nvSpPr>
        <p:spPr>
          <a:xfrm>
            <a:off x="1737360" y="3063240"/>
            <a:ext cx="8686800" cy="914400"/>
          </a:xfrm>
          <a:prstGeom prst="rect">
            <a:avLst/>
          </a:prstGeom>
          <a:noFill/>
          <a:ln/>
        </p:spPr>
        <p:txBody>
          <a:bodyPr wrap="square" lIns="0" tIns="0" rIns="0" bIns="0" rtlCol="0" anchor="ctr"/>
          <a:lstStyle/>
          <a:p>
            <a:pPr algn="ctr" indent="0" marL="0">
              <a:lnSpc>
                <a:spcPct val="130000"/>
              </a:lnSpc>
              <a:buNone/>
            </a:pPr>
            <a:r>
              <a:rPr lang="en-US" sz="1400" i="1" dirty="0">
                <a:solidFill>
                  <a:srgbClr val="9B8A6B"/>
                </a:solidFill>
                <a:latin typeface="Cambria" pitchFamily="34" charset="0"/>
                <a:ea typeface="Cambria" pitchFamily="34" charset="-122"/>
                <a:cs typeface="Cambria" pitchFamily="34" charset="-120"/>
              </a:rPr>
              <a:t>Stay honest when no one is watching. Protect the people who trust you.</a:t>
            </a:r>
            <a:endParaRPr lang="en-US" sz="1400" dirty="0"/>
          </a:p>
          <a:p>
            <a:pPr algn="ctr" indent="0" marL="0">
              <a:lnSpc>
                <a:spcPct val="130000"/>
              </a:lnSpc>
              <a:buNone/>
            </a:pPr>
            <a:r>
              <a:rPr lang="en-US" sz="1400" i="1" dirty="0">
                <a:solidFill>
                  <a:srgbClr val="9B8A6B"/>
                </a:solidFill>
                <a:latin typeface="Cambria" pitchFamily="34" charset="0"/>
                <a:ea typeface="Cambria" pitchFamily="34" charset="-122"/>
                <a:cs typeface="Cambria" pitchFamily="34" charset="-120"/>
              </a:rPr>
              <a:t>Add value before you take any. Reward the builders, not the hoarders. Keep the books open, always.</a:t>
            </a:r>
            <a:endParaRPr lang="en-US" sz="1400" dirty="0"/>
          </a:p>
        </p:txBody>
      </p:sp>
      <p:sp>
        <p:nvSpPr>
          <p:cNvPr id="6" name="Text 3"/>
          <p:cNvSpPr/>
          <p:nvPr/>
        </p:nvSpPr>
        <p:spPr>
          <a:xfrm>
            <a:off x="640080" y="4206240"/>
            <a:ext cx="10881360" cy="365760"/>
          </a:xfrm>
          <a:prstGeom prst="rect">
            <a:avLst/>
          </a:prstGeom>
          <a:noFill/>
          <a:ln/>
        </p:spPr>
        <p:txBody>
          <a:bodyPr wrap="square" lIns="0" tIns="0" rIns="0" bIns="0" rtlCol="0" anchor="ctr"/>
          <a:lstStyle/>
          <a:p>
            <a:pPr algn="ctr" indent="0" marL="0">
              <a:buNone/>
            </a:pPr>
            <a:r>
              <a:rPr lang="en-US" sz="1500" dirty="0">
                <a:solidFill>
                  <a:srgbClr val="FBF4E2"/>
                </a:solidFill>
                <a:latin typeface="Calibri" pitchFamily="34" charset="0"/>
                <a:ea typeface="Calibri" pitchFamily="34" charset="-122"/>
                <a:cs typeface="Calibri" pitchFamily="34" charset="-120"/>
              </a:rPr>
              <a:t>zapp369.energy</a:t>
            </a:r>
            <a:endParaRPr lang="en-US" sz="1500" dirty="0"/>
          </a:p>
        </p:txBody>
      </p:sp>
      <p:sp>
        <p:nvSpPr>
          <p:cNvPr id="7" name="Text 4"/>
          <p:cNvSpPr/>
          <p:nvPr/>
        </p:nvSpPr>
        <p:spPr>
          <a:xfrm>
            <a:off x="640080" y="4572000"/>
            <a:ext cx="10881360" cy="320040"/>
          </a:xfrm>
          <a:prstGeom prst="rect">
            <a:avLst/>
          </a:prstGeom>
          <a:noFill/>
          <a:ln/>
        </p:spPr>
        <p:txBody>
          <a:bodyPr wrap="square" lIns="0" tIns="0" rIns="0" bIns="0" rtlCol="0" anchor="ctr"/>
          <a:lstStyle/>
          <a:p>
            <a:pPr algn="ctr" indent="0" marL="0">
              <a:buNone/>
            </a:pPr>
            <a:r>
              <a:rPr lang="en-US" sz="1200" dirty="0">
                <a:solidFill>
                  <a:srgbClr val="9B8A6B"/>
                </a:solidFill>
                <a:latin typeface="Calibri" pitchFamily="34" charset="0"/>
                <a:ea typeface="Calibri" pitchFamily="34" charset="-122"/>
                <a:cs typeface="Calibri" pitchFamily="34" charset="-120"/>
              </a:rPr>
              <a:t>Radam DiBabel  ·  Founder  ·  t.me/ZAPP369  ·  @ZAPPonSOL</a:t>
            </a:r>
            <a:endParaRPr lang="en-US" sz="1200" dirty="0"/>
          </a:p>
        </p:txBody>
      </p:sp>
      <p:sp>
        <p:nvSpPr>
          <p:cNvPr id="8" name="Text 5"/>
          <p:cNvSpPr/>
          <p:nvPr/>
        </p:nvSpPr>
        <p:spPr>
          <a:xfrm>
            <a:off x="1188720" y="5212080"/>
            <a:ext cx="9784080" cy="1051560"/>
          </a:xfrm>
          <a:prstGeom prst="rect">
            <a:avLst/>
          </a:prstGeom>
          <a:noFill/>
          <a:ln/>
        </p:spPr>
        <p:txBody>
          <a:bodyPr wrap="square" lIns="0" tIns="0" rIns="0" bIns="0" rtlCol="0" anchor="ctr"/>
          <a:lstStyle/>
          <a:p>
            <a:pPr algn="ctr" indent="0" marL="0">
              <a:lnSpc>
                <a:spcPct val="125000"/>
              </a:lnSpc>
              <a:buNone/>
            </a:pPr>
            <a:r>
              <a:rPr lang="en-US" sz="1000" dirty="0">
                <a:solidFill>
                  <a:srgbClr val="9B8A6B"/>
                </a:solidFill>
                <a:latin typeface="Calibri" pitchFamily="34" charset="0"/>
                <a:ea typeface="Calibri" pitchFamily="34" charset="-122"/>
                <a:cs typeface="Calibri" pitchFamily="34" charset="-120"/>
              </a:rPr>
              <a:t>⚡ZAPP is a community brand and a meme coin, for entertainment purposes only. Nothing in this deck is financial, investment, legal or tax advice, an offer of any security, or a solicitation to buy anything. Nothing here is a promise that any token will rise in value. Figures marked illustrative are examples of how the maths behaves under the inputs shown, not forecasts. Any figure about past performance is history, not a prediction.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ZAPP - Free Energy = Free Money</dc:title>
  <dc:subject>PptxGenJS Presentation</dc:subject>
  <dc:creator>Radam DiBabel</dc:creator>
  <cp:lastModifiedBy>Radam DiBabel</cp:lastModifiedBy>
  <cp:revision>1</cp:revision>
  <dcterms:created xsi:type="dcterms:W3CDTF">2026-08-21T14:34:13Z</dcterms:created>
  <dcterms:modified xsi:type="dcterms:W3CDTF">2026-08-21T14:34:13Z</dcterms:modified>
</cp:coreProperties>
</file>